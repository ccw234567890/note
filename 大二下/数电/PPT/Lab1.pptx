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0"/>
  </p:notesMasterIdLst>
  <p:sldIdLst>
    <p:sldId id="256" r:id="rId2"/>
    <p:sldId id="257" r:id="rId3"/>
    <p:sldId id="258" r:id="rId4"/>
    <p:sldId id="521" r:id="rId5"/>
    <p:sldId id="522" r:id="rId6"/>
    <p:sldId id="259" r:id="rId7"/>
    <p:sldId id="507" r:id="rId8"/>
    <p:sldId id="260" r:id="rId9"/>
    <p:sldId id="442" r:id="rId10"/>
    <p:sldId id="261" r:id="rId11"/>
    <p:sldId id="516" r:id="rId12"/>
    <p:sldId id="517" r:id="rId13"/>
    <p:sldId id="519" r:id="rId14"/>
    <p:sldId id="498" r:id="rId15"/>
    <p:sldId id="444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81" r:id="rId24"/>
    <p:sldId id="499" r:id="rId25"/>
    <p:sldId id="455" r:id="rId26"/>
    <p:sldId id="485" r:id="rId27"/>
    <p:sldId id="456" r:id="rId28"/>
    <p:sldId id="486" r:id="rId29"/>
    <p:sldId id="458" r:id="rId30"/>
    <p:sldId id="459" r:id="rId31"/>
    <p:sldId id="487" r:id="rId32"/>
    <p:sldId id="462" r:id="rId33"/>
    <p:sldId id="262" r:id="rId34"/>
    <p:sldId id="500" r:id="rId35"/>
    <p:sldId id="497" r:id="rId36"/>
    <p:sldId id="506" r:id="rId37"/>
    <p:sldId id="503" r:id="rId38"/>
    <p:sldId id="504" r:id="rId39"/>
    <p:sldId id="505" r:id="rId40"/>
    <p:sldId id="501" r:id="rId41"/>
    <p:sldId id="463" r:id="rId42"/>
    <p:sldId id="488" r:id="rId43"/>
    <p:sldId id="489" r:id="rId44"/>
    <p:sldId id="465" r:id="rId45"/>
    <p:sldId id="467" r:id="rId46"/>
    <p:sldId id="468" r:id="rId47"/>
    <p:sldId id="490" r:id="rId48"/>
    <p:sldId id="471" r:id="rId49"/>
    <p:sldId id="511" r:id="rId50"/>
    <p:sldId id="472" r:id="rId51"/>
    <p:sldId id="473" r:id="rId52"/>
    <p:sldId id="502" r:id="rId53"/>
    <p:sldId id="452" r:id="rId54"/>
    <p:sldId id="491" r:id="rId55"/>
    <p:sldId id="453" r:id="rId56"/>
    <p:sldId id="492" r:id="rId57"/>
    <p:sldId id="482" r:id="rId58"/>
    <p:sldId id="454" r:id="rId59"/>
    <p:sldId id="476" r:id="rId60"/>
    <p:sldId id="493" r:id="rId61"/>
    <p:sldId id="484" r:id="rId62"/>
    <p:sldId id="479" r:id="rId63"/>
    <p:sldId id="477" r:id="rId64"/>
    <p:sldId id="494" r:id="rId65"/>
    <p:sldId id="495" r:id="rId66"/>
    <p:sldId id="480" r:id="rId67"/>
    <p:sldId id="508" r:id="rId68"/>
    <p:sldId id="496" r:id="rId6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66" autoAdjust="0"/>
    <p:restoredTop sz="94660" autoAdjust="0"/>
  </p:normalViewPr>
  <p:slideViewPr>
    <p:cSldViewPr snapToGrid="0">
      <p:cViewPr varScale="1">
        <p:scale>
          <a:sx n="86" d="100"/>
          <a:sy n="86" d="100"/>
        </p:scale>
        <p:origin x="466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BB126-EABC-45EF-A6FA-5D47897D3C2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1667-871D-4C41-B3B7-48866E1A36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84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>
            <a:extLst>
              <a:ext uri="{FF2B5EF4-FFF2-40B4-BE49-F238E27FC236}">
                <a16:creationId xmlns:a16="http://schemas.microsoft.com/office/drawing/2014/main" id="{5B8DD86B-BA54-3AAC-375F-5F45F38C26C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>
            <a:extLst>
              <a:ext uri="{FF2B5EF4-FFF2-40B4-BE49-F238E27FC236}">
                <a16:creationId xmlns:a16="http://schemas.microsoft.com/office/drawing/2014/main" id="{CC506E40-F642-9E20-6D2D-0F13781D81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>
            <a:extLst>
              <a:ext uri="{FF2B5EF4-FFF2-40B4-BE49-F238E27FC236}">
                <a16:creationId xmlns:a16="http://schemas.microsoft.com/office/drawing/2014/main" id="{872810FC-5A8F-B09B-A8A1-73280060B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556220-69A1-46FC-BB53-29FB3D162075}" type="slidenum">
              <a:rPr lang="zh-CN" altLang="en-US" sz="1300" b="0" smtClean="0"/>
              <a:pPr/>
              <a:t>11</a:t>
            </a:fld>
            <a:endParaRPr lang="zh-CN" altLang="en-US" sz="1300" b="0"/>
          </a:p>
        </p:txBody>
      </p:sp>
      <p:sp>
        <p:nvSpPr>
          <p:cNvPr id="17413" name="日期占位符 4">
            <a:extLst>
              <a:ext uri="{FF2B5EF4-FFF2-40B4-BE49-F238E27FC236}">
                <a16:creationId xmlns:a16="http://schemas.microsoft.com/office/drawing/2014/main" id="{28C13F22-471C-E4F4-445A-D422E5A5CB7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</a:pPr>
            <a:fld id="{5E10B741-30DE-4E01-8100-01F5F1BD2EED}" type="datetime1">
              <a:rPr lang="zh-CN" altLang="en-US" sz="1300" b="0" smtClean="0"/>
              <a:pPr>
                <a:buFont typeface="Arial" panose="020B0604020202020204" pitchFamily="34" charset="0"/>
                <a:buNone/>
              </a:pPr>
              <a:t>2026/3/25</a:t>
            </a:fld>
            <a:endParaRPr lang="zh-CN" altLang="en-US" sz="13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DB40E-D768-47E9-9B2D-0FBB3587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457A8-18B8-4F3C-A843-A86C2E13CDC2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7A14-EBBB-41E5-8211-6487E38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75D63-5D46-4811-81A7-7BCCDC70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9CC971-BA1C-4294-A327-A49FEC5C85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17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C433B-9BB1-4798-A81B-FF411F260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4B5F5-0E3E-451E-8253-584614E2D4F6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ED093-FDD4-4DE0-B097-A99AE0F8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27804-DFA6-48C0-9EFE-DC2AC85B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B5D04-28D5-44A7-BF10-085CA85695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7859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3388D-D073-4284-9A91-F371FFD5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2AEC7-5920-4788-8A83-EBAADEE36867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8B638-6420-4A0B-88CA-44C72201B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FC5C3-B3FC-4EDD-8371-A5D88D7F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22321-EAD9-4D86-909A-AA39C9BC5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704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5F94803-1990-49ED-BE08-6BB9EB792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D737AD-5F16-457E-9AD0-443E9F005590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F098E6-ACDE-4F6A-8FBC-497D5639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7F07C9-1918-46F3-BEB5-D20F52AD2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560F3-3EB8-492A-829C-79C42295F7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1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7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7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C9EAF5E-3C11-4DEB-BDEA-E00356ED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E31E4A-ABC1-49F3-B5C5-518502982545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FA98C6C-44C4-4FBE-AAA1-FE2ADA1A7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B1DB9F-A53A-4896-83DF-6AA761583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860C30-7EC9-44CA-9B13-BC6AD18EF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328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46223" y="200376"/>
            <a:ext cx="6641756" cy="55751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155928E-CA7C-4675-A77B-FBBD9123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F2247-4DD0-48D9-8574-01F56E8E9658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1314C3-8F59-4588-BF17-50A9CE80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ADD9AD-832E-454C-999F-36BB53541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1DDA6A-BFFF-49A2-AAE9-E959A99FFA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73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A89F033-0CE8-4266-8EEA-FD673564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2C10-BBF9-45B0-B329-D9AEBB642ED6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FF37990-BFBF-43DE-969B-F66F2D30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2379438-32D3-4408-BB24-C3AAB725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B88FD-8739-4933-B0D2-ABFAFE61A8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5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F7ACC4-BA67-4A74-9671-0295D731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785AE-A659-4EE6-9D17-3DE054A057C8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3114508-FDC5-4D9A-A0F0-F7BA5E640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8ADAF3F-C194-419A-A877-722149C4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FE3EB-864B-4DCD-BA0C-21484F0F9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50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B574EC-F41A-4009-B482-E50A73FAB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D32A0-F880-4EBA-BB11-567901438151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EABF5A-28BC-4A4D-8B0A-D96C4A14A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0B16B6-A577-4542-9DEC-35927ABFB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D71D8C-E8D2-412C-A0AA-79CC339E82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65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CCAD4-7CC8-49A0-8CED-1315A67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E14C-3F8F-4273-BE9E-E9CE963D9646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C1AE2-298E-4196-A0E3-225440FD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C402-DE7B-4386-9C93-1BC330A95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73DEF9-271C-411E-987E-DB61555471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81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5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31127-31B4-4F34-9FBE-26B5FD11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09755B-9B07-40E2-8153-A5BFFB462179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F5E90-5E1D-46BA-AB36-20C58931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2A8C7-B9B6-4479-9F0C-5AC97F62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BF107-F0D5-47C1-AAAA-771B1A3138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170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2502-82C2-43BB-BBBB-B0D82D448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C4E0-A6B9-4627-8E1F-4C49E82540E1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C77E3-532D-429A-8A24-870F250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B4FE7-3911-45E3-8A35-84D89B89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AEB4B-E68B-4485-9FDE-5AC44B8A00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080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5E55FBC-1525-ABFF-A702-68FF5EBB24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C9088-2336-4C8B-914F-E1CEF05A2B4E}" type="datetime1">
              <a:rPr lang="zh-CN" altLang="en-US"/>
              <a:pPr>
                <a:defRPr/>
              </a:pPr>
              <a:t>2026/3/25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4902E64-EE88-FBF5-97BB-B6582E4A3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87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F85AEF1-CD90-45C6-A630-31497CA5EE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5BBC19C-DDDC-4A56-A2C0-EE85A4AD33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E8EEA-68B8-4B23-AB61-3A0306A244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C8B1A8-715E-4B66-A1E5-FB65CAAF23E4}" type="datetimeFigureOut">
              <a:rPr lang="zh-CN" altLang="en-US"/>
              <a:pPr>
                <a:defRPr/>
              </a:pPr>
              <a:t>2026/3/25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2A0D8-3371-487B-A0DC-8B05C83803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60AA1-6793-48E4-B039-6D6C84BD79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F7BE0D2-536A-4585-B7C9-0BFF26026E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031" name="Picture 4" descr="UESTC logo.jpg">
            <a:extLst>
              <a:ext uri="{FF2B5EF4-FFF2-40B4-BE49-F238E27FC236}">
                <a16:creationId xmlns:a16="http://schemas.microsoft.com/office/drawing/2014/main" id="{22C0A9A8-6123-4C88-BA91-A0330D47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4863" y="0"/>
            <a:ext cx="1219200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>
            <a:extLst>
              <a:ext uri="{FF2B5EF4-FFF2-40B4-BE49-F238E27FC236}">
                <a16:creationId xmlns:a16="http://schemas.microsoft.com/office/drawing/2014/main" id="{0F24FDFA-3F0F-4847-9D69-8D33D97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2051" name="文本框 3">
            <a:extLst>
              <a:ext uri="{FF2B5EF4-FFF2-40B4-BE49-F238E27FC236}">
                <a16:creationId xmlns:a16="http://schemas.microsoft.com/office/drawing/2014/main" id="{6F51EB86-E098-423D-95BE-62451DB64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2559050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2052" name="文本框 5">
            <a:extLst>
              <a:ext uri="{FF2B5EF4-FFF2-40B4-BE49-F238E27FC236}">
                <a16:creationId xmlns:a16="http://schemas.microsoft.com/office/drawing/2014/main" id="{E6434C39-744C-4035-AF8A-E132C3E34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3641725"/>
            <a:ext cx="5170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Lecturer:</a:t>
            </a:r>
            <a:endParaRPr lang="zh-CN" altLang="en-US" sz="3600" dirty="0"/>
          </a:p>
        </p:txBody>
      </p:sp>
      <p:sp>
        <p:nvSpPr>
          <p:cNvPr id="2053" name="文本框 6">
            <a:extLst>
              <a:ext uri="{FF2B5EF4-FFF2-40B4-BE49-F238E27FC236}">
                <a16:creationId xmlns:a16="http://schemas.microsoft.com/office/drawing/2014/main" id="{F29EB65A-8D57-4A03-88A9-7E688ACAC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3075" y="4287838"/>
            <a:ext cx="64595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TA:</a:t>
            </a:r>
            <a:endParaRPr lang="zh-CN" altLang="en-US" sz="3200" dirty="0"/>
          </a:p>
        </p:txBody>
      </p:sp>
      <p:sp>
        <p:nvSpPr>
          <p:cNvPr id="2054" name="文本框 3">
            <a:extLst>
              <a:ext uri="{FF2B5EF4-FFF2-40B4-BE49-F238E27FC236}">
                <a16:creationId xmlns:a16="http://schemas.microsoft.com/office/drawing/2014/main" id="{26D66BF2-F896-4ED8-9B16-F459C69C8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275" y="4930775"/>
            <a:ext cx="698817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dirty="0"/>
              <a:t>Lab Room:</a:t>
            </a:r>
            <a:br>
              <a:rPr lang="en-US" altLang="zh-CN" sz="3200" dirty="0"/>
            </a:br>
            <a:r>
              <a:rPr lang="en-US" altLang="zh-CN" sz="3200" dirty="0"/>
              <a:t>                         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>
            <a:extLst>
              <a:ext uri="{FF2B5EF4-FFF2-40B4-BE49-F238E27FC236}">
                <a16:creationId xmlns:a16="http://schemas.microsoft.com/office/drawing/2014/main" id="{D0EC8022-4117-4A13-B1C5-31C6DA2E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225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Fundamental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3075" name="内容占位符 2">
            <a:extLst>
              <a:ext uri="{FF2B5EF4-FFF2-40B4-BE49-F238E27FC236}">
                <a16:creationId xmlns:a16="http://schemas.microsoft.com/office/drawing/2014/main" id="{47C26024-D769-48B7-8D3C-7502324D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309" y="1168400"/>
            <a:ext cx="11996691" cy="5472113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Digital Logic + Computer Architecture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Verilog Language</a:t>
            </a:r>
          </a:p>
          <a:p>
            <a:pPr marL="742950" indent="-742950" eaLnBrk="1" hangingPunct="1">
              <a:lnSpc>
                <a:spcPct val="100000"/>
              </a:lnSpc>
              <a:buFont typeface="Calibri Light" panose="020F0302020204030204" pitchFamily="34" charset="0"/>
              <a:buAutoNum type="arabicPeriod"/>
              <a:defRPr/>
            </a:pPr>
            <a:r>
              <a:rPr lang="en-US" altLang="zh-CN" sz="3600" dirty="0"/>
              <a:t>Tools 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EDA software: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2017.1</a:t>
            </a:r>
          </a:p>
          <a:p>
            <a:pPr marL="808038" lvl="1" indent="450850" eaLnBrk="1" hangingPunct="1">
              <a:lnSpc>
                <a:spcPct val="100000"/>
              </a:lnSpc>
              <a:spcBef>
                <a:spcPct val="25000"/>
              </a:spcBef>
              <a:buFont typeface="Arial" panose="020B0604020202020204" pitchFamily="34" charset="0"/>
              <a:buChar char="–"/>
              <a:defRPr/>
            </a:pP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Evaluation board:  EES331</a:t>
            </a:r>
          </a:p>
          <a:p>
            <a:pPr marL="742950" indent="-742950" eaLnBrk="1" hangingPunct="1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CN" sz="3600" dirty="0"/>
              <a:t>Lab report submitted</a:t>
            </a:r>
          </a:p>
          <a:p>
            <a:pPr marL="714375" lvl="1" eaLnBrk="1" hangingPunct="1"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请大家注意，实验</a:t>
            </a:r>
            <a:r>
              <a:rPr lang="zh-CN" altLang="en-US" sz="24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报告电子版（</a:t>
            </a:r>
            <a:r>
              <a:rPr lang="en-US" altLang="zh-CN" sz="24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pdf</a:t>
            </a:r>
            <a:r>
              <a:rPr lang="zh-CN" altLang="en-US" sz="24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）</a:t>
            </a:r>
            <a:r>
              <a:rPr lang="zh-CN" altLang="zh-CN" sz="24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提交</a:t>
            </a:r>
            <a:r>
              <a:rPr lang="zh-CN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给理论</a:t>
            </a:r>
            <a:r>
              <a:rPr lang="zh-CN" altLang="zh-CN" sz="24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课程助教</a:t>
            </a:r>
            <a:r>
              <a:rPr lang="zh-CN" altLang="en-US" sz="24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，文件命名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为：</a:t>
            </a:r>
            <a:endParaRPr lang="en-US" altLang="zh-CN" sz="28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542925" lvl="1" indent="0" eaLnBrk="1" hangingPunct="1">
              <a:spcBef>
                <a:spcPct val="25000"/>
              </a:spcBef>
              <a:buNone/>
              <a:defRPr/>
            </a:pP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“数字逻辑设计</a:t>
            </a:r>
            <a:r>
              <a:rPr lang="zh-CN" altLang="en-US" sz="3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及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应用</a:t>
            </a:r>
            <a:r>
              <a:rPr lang="en-US" altLang="zh-CN" sz="3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专业</a:t>
            </a:r>
            <a:r>
              <a:rPr lang="en-US" altLang="zh-CN" sz="3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学号姓名</a:t>
            </a:r>
            <a:r>
              <a:rPr lang="en-US" altLang="zh-CN" sz="36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第</a:t>
            </a:r>
            <a:r>
              <a:rPr lang="en-US" altLang="zh-CN" sz="4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次实验报告”</a:t>
            </a:r>
            <a:endParaRPr lang="en-US" altLang="zh-CN" sz="280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542925" lvl="1" indent="0" eaLnBrk="1" hangingPunct="1">
              <a:spcBef>
                <a:spcPct val="25000"/>
              </a:spcBef>
              <a:buNone/>
              <a:defRPr/>
            </a:pP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例如“数字逻辑设计及应用</a:t>
            </a:r>
            <a:r>
              <a:rPr lang="en-US" altLang="zh-CN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电工</a:t>
            </a:r>
            <a:r>
              <a:rPr lang="en-US" altLang="zh-CN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+2024190505000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张三</a:t>
            </a:r>
            <a:r>
              <a:rPr lang="en-US" altLang="zh-CN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第</a:t>
            </a:r>
            <a:r>
              <a:rPr lang="en-US" altLang="zh-CN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r>
              <a:rPr lang="zh-CN" altLang="en-US" sz="28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次实验报告”</a:t>
            </a:r>
            <a:endParaRPr lang="en-US" altLang="zh-CN" sz="240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+ 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Report1 5% 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FF0000"/>
                </a:solidFill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Lab1 10%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Lab2 20% + Lab3 20% + Lab4 20% + Lab5 10%</a:t>
            </a:r>
            <a:r>
              <a:rPr lang="zh-CN" altLang="en-US" sz="2400" b="1" kern="100" dirty="0"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Report1 5%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1816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6828EDD8-A970-459F-B6A4-DA6B515B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252413"/>
            <a:ext cx="7886700" cy="1325562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Grading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9925F6-3B68-4D05-80ED-CFFA66174DCC}"/>
              </a:ext>
            </a:extLst>
          </p:cNvPr>
          <p:cNvSpPr txBox="1"/>
          <p:nvPr/>
        </p:nvSpPr>
        <p:spPr>
          <a:xfrm>
            <a:off x="795338" y="1404938"/>
            <a:ext cx="11396662" cy="52673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Assessment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+mn-lt"/>
                <a:ea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Lab1 10% +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Lab2 20% + Lab3 20% + Lab4 20% + Lab5 10%</a:t>
            </a:r>
            <a:r>
              <a:rPr lang="zh-CN" altLang="en-US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400" b="1" kern="100" dirty="0">
                <a:cs typeface="Times New Roman" panose="02020603050405020304" pitchFamily="18" charset="0"/>
                <a:sym typeface="+mn-ea"/>
              </a:rPr>
              <a:t>+ Report1 5% </a:t>
            </a: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  <a:sym typeface="+mn-ea"/>
              </a:rPr>
              <a:t>+ Repor2 15%</a:t>
            </a:r>
          </a:p>
          <a:p>
            <a:pPr defTabSz="685800" eaLnBrk="1" hangingPunct="1">
              <a:lnSpc>
                <a:spcPct val="150000"/>
              </a:lnSpc>
              <a:spcBef>
                <a:spcPts val="750"/>
              </a:spcBef>
              <a:defRPr/>
            </a:pPr>
            <a:r>
              <a:rPr lang="en-US" altLang="zh-CN" sz="4400" dirty="0">
                <a:latin typeface="+mn-lt"/>
                <a:ea typeface="+mn-ea"/>
              </a:rPr>
              <a:t>And for each lab: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Pre-Lab preparation and Performance in laboratory (65%)</a:t>
            </a:r>
          </a:p>
          <a:p>
            <a:pPr marL="1435100" lvl="1" indent="-55245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Laboratory experimental reports (35%)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398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EAC0EDB8-6AAC-4890-A165-D0070F5E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Reference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0D99967C-C188-451A-8D5E-EC7CC7CC0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6500" y="2063750"/>
            <a:ext cx="10428288" cy="3209925"/>
          </a:xfrm>
        </p:spPr>
        <p:txBody>
          <a:bodyPr/>
          <a:lstStyle/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IEEE Standard Verilog Language Reference Manual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Vivado Introduction Using Verilog Design</a:t>
            </a: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EES331 User manual  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（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Zynq Book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）</a:t>
            </a:r>
            <a:endParaRPr lang="en-US" altLang="zh-CN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 marL="714375" lvl="1" indent="-531813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Char char="–"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Codes for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25C85F6F-0567-46CE-86A3-B5E5137F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Note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780C1799-C532-42E5-BA20-355E16DEA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022475"/>
            <a:ext cx="9734550" cy="2657475"/>
          </a:xfrm>
        </p:spPr>
        <p:txBody>
          <a:bodyPr/>
          <a:lstStyle/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Please save the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screenshots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of the code, simulation result, etc.</a:t>
            </a:r>
          </a:p>
          <a:p>
            <a:pPr marL="180975" lvl="1" indent="0" eaLnBrk="1" hangingPunct="1">
              <a:lnSpc>
                <a:spcPct val="150000"/>
              </a:lnSpc>
              <a:spcBef>
                <a:spcPct val="25000"/>
              </a:spcBef>
              <a:buFont typeface="Arial" panose="020B0604020202020204" pitchFamily="34" charset="0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You will need them to write the Lab_report.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E2D3CB4E-E369-4D4C-85CE-C70CB3938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 b="1">
                <a:solidFill>
                  <a:srgbClr val="00B0F0"/>
                </a:solidFill>
              </a:rPr>
              <a:t>Content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5516314F-8529-4DAD-A69B-A189EF01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5888" y="1490663"/>
            <a:ext cx="8229600" cy="4711700"/>
          </a:xfrm>
        </p:spPr>
        <p:txBody>
          <a:bodyPr/>
          <a:lstStyle/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>
                <a:solidFill>
                  <a:srgbClr val="FF0000"/>
                </a:solidFill>
              </a:rPr>
              <a:t>EDA tools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Familiar the development environment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Coding, Synthesis and simulation</a:t>
            </a:r>
          </a:p>
          <a:p>
            <a:pPr marL="1166813" lvl="1" indent="-623888" eaLnBrk="1" hangingPunct="1">
              <a:lnSpc>
                <a:spcPct val="100000"/>
              </a:lnSpc>
              <a:spcBef>
                <a:spcPct val="25000"/>
              </a:spcBef>
              <a:buFont typeface="Arial" charset="0"/>
              <a:buChar char="–"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Compose 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testbench</a:t>
            </a:r>
            <a:r>
              <a:rPr lang="en-US" altLang="zh-CN" sz="24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and do verification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 err="1"/>
              <a:t>Datapath</a:t>
            </a:r>
            <a:r>
              <a:rPr lang="en-US" altLang="zh-CN" sz="4000" dirty="0"/>
              <a:t> Design 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Controller Design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</a:t>
            </a:r>
            <a:r>
              <a:rPr lang="zh-CN" altLang="en-US" sz="4000" dirty="0"/>
              <a:t> </a:t>
            </a:r>
            <a:r>
              <a:rPr lang="en-US" altLang="zh-CN" sz="4000" dirty="0"/>
              <a:t>Integration</a:t>
            </a:r>
          </a:p>
          <a:p>
            <a:pPr marL="742950" indent="-742950" eaLnBrk="1" hangingPunct="1">
              <a:lnSpc>
                <a:spcPct val="100000"/>
              </a:lnSpc>
              <a:buFont typeface="+mj-lt"/>
              <a:buAutoNum type="arabicPeriod"/>
              <a:defRPr/>
            </a:pPr>
            <a:r>
              <a:rPr lang="en-US" altLang="zh-CN" sz="4000" dirty="0"/>
              <a:t>CPU </a:t>
            </a:r>
            <a:r>
              <a:rPr lang="en-US" altLang="zh-CN" sz="4000" dirty="0">
                <a:sym typeface="+mn-ea"/>
              </a:rPr>
              <a:t>Verification and</a:t>
            </a:r>
            <a:r>
              <a:rPr lang="en-US" altLang="zh-CN" sz="4000" dirty="0"/>
              <a:t> Improvement</a:t>
            </a: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zh-CN" altLang="en-US" sz="24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3628C8-9F22-48C8-A7A7-AB00C83E5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2650" y="2200275"/>
            <a:ext cx="7886700" cy="2720975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800" dirty="0"/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  <p:sp>
        <p:nvSpPr>
          <p:cNvPr id="6147" name="标题 8">
            <a:extLst>
              <a:ext uri="{FF2B5EF4-FFF2-40B4-BE49-F238E27FC236}">
                <a16:creationId xmlns:a16="http://schemas.microsoft.com/office/drawing/2014/main" id="{866AC6BE-F92A-47A1-838B-46EB9BEE427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96875" y="895350"/>
            <a:ext cx="11669713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Traditional method</a:t>
            </a:r>
            <a:r>
              <a:rPr lang="zh-CN" altLang="en-US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4000" b="1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VS  Programmable logic device</a:t>
            </a:r>
            <a:endParaRPr lang="zh-CN" altLang="en-US" sz="4000" b="1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1">
            <a:extLst>
              <a:ext uri="{FF2B5EF4-FFF2-40B4-BE49-F238E27FC236}">
                <a16:creationId xmlns:a16="http://schemas.microsoft.com/office/drawing/2014/main" id="{A3D57907-72DB-4851-8966-7CA9EB12C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2595563"/>
            <a:ext cx="5449887" cy="363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标题 1">
            <a:extLst>
              <a:ext uri="{FF2B5EF4-FFF2-40B4-BE49-F238E27FC236}">
                <a16:creationId xmlns:a16="http://schemas.microsoft.com/office/drawing/2014/main" id="{57CECF0E-E305-4E28-A8D3-D0D6107C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75" y="0"/>
            <a:ext cx="11151658" cy="1325563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Implement for a 3-8 Decoder 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6211428C-866B-49B0-A6F8-33E041F2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 dirty="0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9219" name="Rectangle 8">
            <a:extLst>
              <a:ext uri="{FF2B5EF4-FFF2-40B4-BE49-F238E27FC236}">
                <a16:creationId xmlns:a16="http://schemas.microsoft.com/office/drawing/2014/main" id="{B6BA62C2-ADD8-498C-8AB1-63DDEF6C56A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220" name="图片 1">
            <a:extLst>
              <a:ext uri="{FF2B5EF4-FFF2-40B4-BE49-F238E27FC236}">
                <a16:creationId xmlns:a16="http://schemas.microsoft.com/office/drawing/2014/main" id="{AC46707C-9BA6-4DFD-A6C6-CCAEA88EE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日期占位符 7">
            <a:extLst>
              <a:ext uri="{FF2B5EF4-FFF2-40B4-BE49-F238E27FC236}">
                <a16:creationId xmlns:a16="http://schemas.microsoft.com/office/drawing/2014/main" id="{3F090C3C-6335-22FC-E0F6-18DD5266868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1981200" y="6534150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B42B7A-AF4E-47FB-94E9-C5D4FA45E9D5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2026/3/25</a:t>
            </a:fld>
            <a:endParaRPr lang="zh-CN" altLang="en-US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6811171-367F-CF47-6FE3-AE0047172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矩形 1">
            <a:extLst>
              <a:ext uri="{FF2B5EF4-FFF2-40B4-BE49-F238E27FC236}">
                <a16:creationId xmlns:a16="http://schemas.microsoft.com/office/drawing/2014/main" id="{19CF8BBE-5E96-7FBB-3120-6AE0E4357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88" y="797447"/>
            <a:ext cx="4616450" cy="584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[7:0]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case({A,B,C})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3'b000:Y=8'b0000_0001;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3'b001:Y=8'b0000_0010;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3'b010:Y=8'b0000_0100;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3'b011:Y=8'b0000_1000;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3'b100:Y=8'b0001_0000;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3'b101:Y=8'b0010_0000;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3'b110:Y=8'b0100_0000;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3'b111:Y=8'b1000_0000;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default: Y=8'd0000_0000;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矩形 1">
            <a:extLst>
              <a:ext uri="{FF2B5EF4-FFF2-40B4-BE49-F238E27FC236}">
                <a16:creationId xmlns:a16="http://schemas.microsoft.com/office/drawing/2014/main" id="{34A51114-0B61-0ED4-5788-3A27096FD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538" y="1124694"/>
            <a:ext cx="4741862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module decoder(A,B,C,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,Y);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input 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output reg [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15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:0] 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always@(*)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case({A,B,C,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})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'b0000000000000001;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'b0001:Y=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'b0000000000000010;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	......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4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'b1111:Y=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'b1000000000000000;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default: Y=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16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'b0000000000000000;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endcase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  <a:ea typeface="宋体" panose="02010600030101010101" pitchFamily="2" charset="-122"/>
              </a:rPr>
              <a:t>endmodule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AE66101D-492B-7421-A24D-D3953C822493}"/>
              </a:ext>
            </a:extLst>
          </p:cNvPr>
          <p:cNvCxnSpPr/>
          <p:nvPr/>
        </p:nvCxnSpPr>
        <p:spPr>
          <a:xfrm flipH="1">
            <a:off x="6248400" y="250825"/>
            <a:ext cx="15875" cy="668337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B6962298-F7D4-DD77-D0C9-79BFCDD6A98C}"/>
              </a:ext>
            </a:extLst>
          </p:cNvPr>
          <p:cNvSpPr txBox="1"/>
          <p:nvPr/>
        </p:nvSpPr>
        <p:spPr>
          <a:xfrm>
            <a:off x="52789" y="39441"/>
            <a:ext cx="21764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Coding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日期占位符 7">
            <a:extLst>
              <a:ext uri="{FF2B5EF4-FFF2-40B4-BE49-F238E27FC236}">
                <a16:creationId xmlns:a16="http://schemas.microsoft.com/office/drawing/2014/main" id="{25EEE75C-4AFE-0EA7-4E38-8D869020CB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24D5209-F07D-4540-AC71-074ABD588190}" type="datetime1">
              <a:rPr lang="zh-CN" altLang="en-US" sz="1400" smtClean="0">
                <a:latin typeface="Arial" panose="020B0604020202020204" pitchFamily="34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2026/3/25</a:t>
            </a:fld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8440" name="图片 1">
            <a:extLst>
              <a:ext uri="{FF2B5EF4-FFF2-40B4-BE49-F238E27FC236}">
                <a16:creationId xmlns:a16="http://schemas.microsoft.com/office/drawing/2014/main" id="{464B619F-A359-A3DD-DE3B-5D8CEAC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083" y="1354166"/>
            <a:ext cx="3222625" cy="2147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DCEE832D-B3BD-3D49-C33F-827747544EFD}"/>
              </a:ext>
            </a:extLst>
          </p:cNvPr>
          <p:cNvSpPr/>
          <p:nvPr/>
        </p:nvSpPr>
        <p:spPr>
          <a:xfrm>
            <a:off x="3489946" y="1020791"/>
            <a:ext cx="2513012" cy="241141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42" name="文本框 2">
            <a:extLst>
              <a:ext uri="{FF2B5EF4-FFF2-40B4-BE49-F238E27FC236}">
                <a16:creationId xmlns:a16="http://schemas.microsoft.com/office/drawing/2014/main" id="{D09871D0-5566-1312-C01E-6ADEED3CF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6953" y="1735064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Test Bench</a:t>
            </a:r>
          </a:p>
        </p:txBody>
      </p:sp>
      <p:sp>
        <p:nvSpPr>
          <p:cNvPr id="18444" name="文本框 6">
            <a:extLst>
              <a:ext uri="{FF2B5EF4-FFF2-40B4-BE49-F238E27FC236}">
                <a16:creationId xmlns:a16="http://schemas.microsoft.com/office/drawing/2014/main" id="{1B9D736C-E0EE-D476-BD03-B6F3B145E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458941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8445" name="文本框 8">
            <a:extLst>
              <a:ext uri="{FF2B5EF4-FFF2-40B4-BE49-F238E27FC236}">
                <a16:creationId xmlns:a16="http://schemas.microsoft.com/office/drawing/2014/main" id="{7A37E375-1428-BD9A-9324-C5605A599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183041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8446" name="文本框 9">
            <a:extLst>
              <a:ext uri="{FF2B5EF4-FFF2-40B4-BE49-F238E27FC236}">
                <a16:creationId xmlns:a16="http://schemas.microsoft.com/office/drawing/2014/main" id="{17B7D7C5-A65A-5C8E-C31A-65BF8C9F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808" y="2243166"/>
            <a:ext cx="311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1AF6796-477F-92B0-5E99-2ACDCB250F89}"/>
              </a:ext>
            </a:extLst>
          </p:cNvPr>
          <p:cNvCxnSpPr/>
          <p:nvPr/>
        </p:nvCxnSpPr>
        <p:spPr>
          <a:xfrm>
            <a:off x="5569571" y="2413028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3DDD57F-7752-B802-B41C-AE0810A526D6}"/>
              </a:ext>
            </a:extLst>
          </p:cNvPr>
          <p:cNvCxnSpPr/>
          <p:nvPr/>
        </p:nvCxnSpPr>
        <p:spPr>
          <a:xfrm>
            <a:off x="5569571" y="2014566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502A22D-DB0D-A04B-5414-19E3D3DE467A}"/>
              </a:ext>
            </a:extLst>
          </p:cNvPr>
          <p:cNvCxnSpPr/>
          <p:nvPr/>
        </p:nvCxnSpPr>
        <p:spPr>
          <a:xfrm>
            <a:off x="5545758" y="1643091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1AE2A051-A595-813F-E17E-EBF60BF928E8}"/>
              </a:ext>
            </a:extLst>
          </p:cNvPr>
          <p:cNvSpPr/>
          <p:nvPr/>
        </p:nvSpPr>
        <p:spPr>
          <a:xfrm>
            <a:off x="9133508" y="996978"/>
            <a:ext cx="2513013" cy="2409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 noProof="1"/>
          </a:p>
        </p:txBody>
      </p:sp>
      <p:sp>
        <p:nvSpPr>
          <p:cNvPr id="18451" name="文本框 14">
            <a:extLst>
              <a:ext uri="{FF2B5EF4-FFF2-40B4-BE49-F238E27FC236}">
                <a16:creationId xmlns:a16="http://schemas.microsoft.com/office/drawing/2014/main" id="{D56E5C34-8BAD-76CA-EE76-AD9404087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0401" y="1784276"/>
            <a:ext cx="1419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Waveform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4F0C55B-0B31-D1D8-4311-936090CD12DE}"/>
              </a:ext>
            </a:extLst>
          </p:cNvPr>
          <p:cNvCxnSpPr/>
          <p:nvPr/>
        </p:nvCxnSpPr>
        <p:spPr>
          <a:xfrm>
            <a:off x="8996983" y="1997103"/>
            <a:ext cx="457200" cy="0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BAB5210-260D-1F0D-4383-BD3C09438214}"/>
              </a:ext>
            </a:extLst>
          </p:cNvPr>
          <p:cNvSpPr txBox="1"/>
          <p:nvPr/>
        </p:nvSpPr>
        <p:spPr>
          <a:xfrm>
            <a:off x="52789" y="39441"/>
            <a:ext cx="33355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Simulation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4C90405C-03AD-011F-F7D4-33F2901C1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678" y="1027077"/>
            <a:ext cx="3442636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AutoNum type="ea1JpnChsDbPeriod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华文楷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begin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A=0;B=0;C=0;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A=0;B=1;C=1;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A=1;B=0;C=1;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A=1;B=1;C=0;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#10 A=1;B=1;C=1;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#30 $stop;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end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12">
            <a:extLst>
              <a:ext uri="{FF2B5EF4-FFF2-40B4-BE49-F238E27FC236}">
                <a16:creationId xmlns:a16="http://schemas.microsoft.com/office/drawing/2014/main" id="{98D3A7BE-6B2B-DAFA-F638-3201DA6D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48" t="14307" b="78023"/>
          <a:stretch>
            <a:fillRect/>
          </a:stretch>
        </p:blipFill>
        <p:spPr bwMode="auto">
          <a:xfrm>
            <a:off x="3185690" y="4038511"/>
            <a:ext cx="8919685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4ED0E1B1-650C-7E23-3A9A-2F8644A4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54"/>
          <a:stretch>
            <a:fillRect/>
          </a:stretch>
        </p:blipFill>
        <p:spPr bwMode="auto">
          <a:xfrm>
            <a:off x="3190582" y="5396777"/>
            <a:ext cx="8914475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59397" name="图片 2">
            <a:extLst>
              <a:ext uri="{FF2B5EF4-FFF2-40B4-BE49-F238E27FC236}">
                <a16:creationId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9954" y="3093920"/>
            <a:ext cx="1270534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95" y="5322771"/>
            <a:ext cx="3003082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C9231EA-E27A-9E22-6FD0-4940D73D8D82}"/>
              </a:ext>
            </a:extLst>
          </p:cNvPr>
          <p:cNvSpPr txBox="1"/>
          <p:nvPr/>
        </p:nvSpPr>
        <p:spPr>
          <a:xfrm>
            <a:off x="52789" y="39441"/>
            <a:ext cx="28732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400" b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Hardware verify</a:t>
            </a:r>
            <a:endParaRPr lang="zh-CN" altLang="en-US" sz="5400" b="1" dirty="0">
              <a:solidFill>
                <a:srgbClr val="00B0F0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533870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D065FF21-2CC2-4F87-A910-3AE5D97CE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10243" name="Rectangle 8">
            <a:extLst>
              <a:ext uri="{FF2B5EF4-FFF2-40B4-BE49-F238E27FC236}">
                <a16:creationId xmlns:a16="http://schemas.microsoft.com/office/drawing/2014/main" id="{642FAF95-9FD4-45AB-AA4B-D5DF9D656A0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0244" name="图片 1">
            <a:extLst>
              <a:ext uri="{FF2B5EF4-FFF2-40B4-BE49-F238E27FC236}">
                <a16:creationId xmlns:a16="http://schemas.microsoft.com/office/drawing/2014/main" id="{1DD239A7-F0B5-4280-BBE6-9B50505FC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6">
            <a:extLst>
              <a:ext uri="{FF2B5EF4-FFF2-40B4-BE49-F238E27FC236}">
                <a16:creationId xmlns:a16="http://schemas.microsoft.com/office/drawing/2014/main" id="{FD1E9C08-0B16-43AA-81B1-1769985C7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0A16F256-674B-4685-8184-2C4E1BEA1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9063"/>
            <a:ext cx="2487612" cy="2544762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-step1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grpSp>
        <p:nvGrpSpPr>
          <p:cNvPr id="11267" name="组合 4">
            <a:extLst>
              <a:ext uri="{FF2B5EF4-FFF2-40B4-BE49-F238E27FC236}">
                <a16:creationId xmlns:a16="http://schemas.microsoft.com/office/drawing/2014/main" id="{DB37E5AA-9027-4206-B076-61295D4A1797}"/>
              </a:ext>
            </a:extLst>
          </p:cNvPr>
          <p:cNvGrpSpPr>
            <a:grpSpLocks/>
          </p:cNvGrpSpPr>
          <p:nvPr/>
        </p:nvGrpSpPr>
        <p:grpSpPr bwMode="auto">
          <a:xfrm>
            <a:off x="8293100" y="993775"/>
            <a:ext cx="3678238" cy="5089525"/>
            <a:chOff x="6510910" y="1674813"/>
            <a:chExt cx="3495675" cy="4552950"/>
          </a:xfrm>
        </p:grpSpPr>
        <p:pic>
          <p:nvPicPr>
            <p:cNvPr id="11274" name="图片 9">
              <a:extLst>
                <a:ext uri="{FF2B5EF4-FFF2-40B4-BE49-F238E27FC236}">
                  <a16:creationId xmlns:a16="http://schemas.microsoft.com/office/drawing/2014/main" id="{602A592E-4706-4D47-ACCB-8C0C4A00A0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910" y="1674813"/>
              <a:ext cx="3495675" cy="4552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5" name="矩形 4">
              <a:extLst>
                <a:ext uri="{FF2B5EF4-FFF2-40B4-BE49-F238E27FC236}">
                  <a16:creationId xmlns:a16="http://schemas.microsoft.com/office/drawing/2014/main" id="{94E2826E-1687-4FE4-B87A-82A26FDA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8044" y="2314576"/>
              <a:ext cx="1512888" cy="28733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D2A25FCB-49C7-4D1A-A575-5230ACFAE135}"/>
                </a:ext>
              </a:extLst>
            </p:cNvPr>
            <p:cNvSpPr/>
            <p:nvPr/>
          </p:nvSpPr>
          <p:spPr>
            <a:xfrm>
              <a:off x="8257993" y="2102274"/>
              <a:ext cx="1101356" cy="74273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1268" name="组合 3">
            <a:extLst>
              <a:ext uri="{FF2B5EF4-FFF2-40B4-BE49-F238E27FC236}">
                <a16:creationId xmlns:a16="http://schemas.microsoft.com/office/drawing/2014/main" id="{BC621AAB-CAFA-41AC-9B38-DA241E79EE14}"/>
              </a:ext>
            </a:extLst>
          </p:cNvPr>
          <p:cNvGrpSpPr>
            <a:grpSpLocks/>
          </p:cNvGrpSpPr>
          <p:nvPr/>
        </p:nvGrpSpPr>
        <p:grpSpPr bwMode="auto">
          <a:xfrm>
            <a:off x="3152775" y="158750"/>
            <a:ext cx="4702175" cy="6469063"/>
            <a:chOff x="2153256" y="1438274"/>
            <a:chExt cx="3338512" cy="5120930"/>
          </a:xfrm>
        </p:grpSpPr>
        <p:grpSp>
          <p:nvGrpSpPr>
            <p:cNvPr id="11270" name="组合 2">
              <a:extLst>
                <a:ext uri="{FF2B5EF4-FFF2-40B4-BE49-F238E27FC236}">
                  <a16:creationId xmlns:a16="http://schemas.microsoft.com/office/drawing/2014/main" id="{40588EFA-9C46-4A99-9896-EEAC7A57E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3256" y="1458566"/>
              <a:ext cx="3338512" cy="5100638"/>
              <a:chOff x="2087652" y="1499841"/>
              <a:chExt cx="3338512" cy="5100638"/>
            </a:xfrm>
          </p:grpSpPr>
          <p:pic>
            <p:nvPicPr>
              <p:cNvPr id="11272" name="图片 5" descr="屏幕剪辑">
                <a:extLst>
                  <a:ext uri="{FF2B5EF4-FFF2-40B4-BE49-F238E27FC236}">
                    <a16:creationId xmlns:a16="http://schemas.microsoft.com/office/drawing/2014/main" id="{171BC863-CE0D-4C1B-BE9C-77929C700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87652" y="1499841"/>
                <a:ext cx="3338512" cy="51006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01B7048-7C36-4F30-97F0-FC1D9D8CDDA1}"/>
                  </a:ext>
                </a:extLst>
              </p:cNvPr>
              <p:cNvSpPr/>
              <p:nvPr/>
            </p:nvSpPr>
            <p:spPr>
              <a:xfrm>
                <a:off x="3242944" y="1541126"/>
                <a:ext cx="1235317" cy="95004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sz="24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1. Open VIVADO 2017.1</a:t>
                </a:r>
              </a:p>
            </p:txBody>
          </p:sp>
        </p:grpSp>
        <p:sp>
          <p:nvSpPr>
            <p:cNvPr id="11271" name="矩形 6">
              <a:extLst>
                <a:ext uri="{FF2B5EF4-FFF2-40B4-BE49-F238E27FC236}">
                  <a16:creationId xmlns:a16="http://schemas.microsoft.com/office/drawing/2014/main" id="{9FE9342A-72E5-49D2-95A6-C423EF4E5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0095" y="1438274"/>
              <a:ext cx="465337" cy="42505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1269" name="文本框 13">
            <a:extLst>
              <a:ext uri="{FF2B5EF4-FFF2-40B4-BE49-F238E27FC236}">
                <a16:creationId xmlns:a16="http://schemas.microsoft.com/office/drawing/2014/main" id="{8D711D93-3FD9-42BA-B1AC-5EE8C7574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2979738"/>
            <a:ext cx="4937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zh-CN" altLang="en-US" sz="4000" b="1">
                <a:solidFill>
                  <a:srgbClr val="FF0000"/>
                </a:solidFill>
              </a:rPr>
              <a:t>→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图片 8">
            <a:extLst>
              <a:ext uri="{FF2B5EF4-FFF2-40B4-BE49-F238E27FC236}">
                <a16:creationId xmlns:a16="http://schemas.microsoft.com/office/drawing/2014/main" id="{F5BEAB87-8A5A-4A25-9992-704E0526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0100" y="0"/>
            <a:ext cx="8745538" cy="671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4">
            <a:extLst>
              <a:ext uri="{FF2B5EF4-FFF2-40B4-BE49-F238E27FC236}">
                <a16:creationId xmlns:a16="http://schemas.microsoft.com/office/drawing/2014/main" id="{9C6CC020-87CC-429D-958F-FF2E3EB67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6069013"/>
            <a:ext cx="1320800" cy="5334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52315C-4D25-4744-8822-BF869196306D}"/>
              </a:ext>
            </a:extLst>
          </p:cNvPr>
          <p:cNvSpPr/>
          <p:nvPr/>
        </p:nvSpPr>
        <p:spPr bwMode="auto">
          <a:xfrm>
            <a:off x="9174163" y="5607050"/>
            <a:ext cx="14668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293" name="标题 1">
            <a:extLst>
              <a:ext uri="{FF2B5EF4-FFF2-40B4-BE49-F238E27FC236}">
                <a16:creationId xmlns:a16="http://schemas.microsoft.com/office/drawing/2014/main" id="{99C9AB90-C39B-4DD7-AB67-2CE0451F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77950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FF000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-step2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组合 3">
            <a:extLst>
              <a:ext uri="{FF2B5EF4-FFF2-40B4-BE49-F238E27FC236}">
                <a16:creationId xmlns:a16="http://schemas.microsoft.com/office/drawing/2014/main" id="{28EA7826-EA59-4430-9D21-52E018B42D46}"/>
              </a:ext>
            </a:extLst>
          </p:cNvPr>
          <p:cNvGrpSpPr>
            <a:grpSpLocks/>
          </p:cNvGrpSpPr>
          <p:nvPr/>
        </p:nvGrpSpPr>
        <p:grpSpPr bwMode="auto">
          <a:xfrm>
            <a:off x="3340100" y="0"/>
            <a:ext cx="8766175" cy="6858000"/>
            <a:chOff x="4172988" y="1799247"/>
            <a:chExt cx="5733011" cy="4858727"/>
          </a:xfrm>
        </p:grpSpPr>
        <p:pic>
          <p:nvPicPr>
            <p:cNvPr id="13318" name="图片 1">
              <a:extLst>
                <a:ext uri="{FF2B5EF4-FFF2-40B4-BE49-F238E27FC236}">
                  <a16:creationId xmlns:a16="http://schemas.microsoft.com/office/drawing/2014/main" id="{4D20C56B-728E-4D0F-AF8D-B6A64D5ED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2988" y="1799247"/>
              <a:ext cx="5733011" cy="4858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9" name="矩形 4">
              <a:extLst>
                <a:ext uri="{FF2B5EF4-FFF2-40B4-BE49-F238E27FC236}">
                  <a16:creationId xmlns:a16="http://schemas.microsoft.com/office/drawing/2014/main" id="{2A467956-7FB7-401D-8501-4606DFC26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703" y="2743981"/>
              <a:ext cx="5370126" cy="576064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36D8D7C7-8367-4046-A570-FA4C9C37B214}"/>
                </a:ext>
              </a:extLst>
            </p:cNvPr>
            <p:cNvSpPr/>
            <p:nvPr/>
          </p:nvSpPr>
          <p:spPr>
            <a:xfrm>
              <a:off x="6798628" y="3428945"/>
              <a:ext cx="2952677" cy="5882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Rename new project</a:t>
              </a:r>
              <a:r>
                <a:rPr lang="zh-CN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select the save path for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3315" name="矩形 4">
            <a:extLst>
              <a:ext uri="{FF2B5EF4-FFF2-40B4-BE49-F238E27FC236}">
                <a16:creationId xmlns:a16="http://schemas.microsoft.com/office/drawing/2014/main" id="{B113B329-F91F-48FB-9F11-18F8E209E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863" y="6083300"/>
            <a:ext cx="13652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991097-832B-4790-B5B1-84759C69EB26}"/>
              </a:ext>
            </a:extLst>
          </p:cNvPr>
          <p:cNvSpPr/>
          <p:nvPr/>
        </p:nvSpPr>
        <p:spPr bwMode="auto">
          <a:xfrm>
            <a:off x="8726488" y="5588000"/>
            <a:ext cx="200818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3317" name="标题 1">
            <a:extLst>
              <a:ext uri="{FF2B5EF4-FFF2-40B4-BE49-F238E27FC236}">
                <a16:creationId xmlns:a16="http://schemas.microsoft.com/office/drawing/2014/main" id="{87647C47-1987-490B-AF78-E1233AFE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90650"/>
            <a:ext cx="2487612" cy="2543175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-step3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组合 2">
            <a:extLst>
              <a:ext uri="{FF2B5EF4-FFF2-40B4-BE49-F238E27FC236}">
                <a16:creationId xmlns:a16="http://schemas.microsoft.com/office/drawing/2014/main" id="{25D4D358-3E27-44B1-B186-870C5A7962C8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3375025" y="1519238"/>
            <a:chExt cx="5441950" cy="4445000"/>
          </a:xfrm>
        </p:grpSpPr>
        <p:pic>
          <p:nvPicPr>
            <p:cNvPr id="14342" name="图片 11">
              <a:extLst>
                <a:ext uri="{FF2B5EF4-FFF2-40B4-BE49-F238E27FC236}">
                  <a16:creationId xmlns:a16="http://schemas.microsoft.com/office/drawing/2014/main" id="{DC15A61F-9C78-4651-8EB3-4D8FA3196E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5025" y="1519238"/>
              <a:ext cx="5441950" cy="444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43" name="矩形 2">
              <a:extLst>
                <a:ext uri="{FF2B5EF4-FFF2-40B4-BE49-F238E27FC236}">
                  <a16:creationId xmlns:a16="http://schemas.microsoft.com/office/drawing/2014/main" id="{6445508B-49D5-4C2E-A1BF-B7FD43DB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613" y="2439988"/>
              <a:ext cx="4910137" cy="64928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DE64CCE-DD1A-433B-89B7-B8B483CA0945}"/>
                </a:ext>
              </a:extLst>
            </p:cNvPr>
            <p:cNvSpPr/>
            <p:nvPr/>
          </p:nvSpPr>
          <p:spPr>
            <a:xfrm>
              <a:off x="5753503" y="2080008"/>
              <a:ext cx="1867900" cy="2994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Select RTL Project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4339" name="标题 1">
            <a:extLst>
              <a:ext uri="{FF2B5EF4-FFF2-40B4-BE49-F238E27FC236}">
                <a16:creationId xmlns:a16="http://schemas.microsoft.com/office/drawing/2014/main" id="{CA466095-E7C0-495D-BE28-23C74BAA2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8" y="1381125"/>
            <a:ext cx="2487612" cy="2544763"/>
          </a:xfrm>
        </p:spPr>
        <p:txBody>
          <a:bodyPr/>
          <a:lstStyle/>
          <a:p>
            <a:pPr algn="ctr"/>
            <a:r>
              <a:rPr lang="en-US" altLang="zh-CN" sz="4000" b="1">
                <a:solidFill>
                  <a:srgbClr val="00B0F0"/>
                </a:solidFill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</a:rPr>
            </a:br>
            <a:r>
              <a:rPr lang="en-US" altLang="zh-CN" sz="4000" b="1">
                <a:solidFill>
                  <a:srgbClr val="00B0F0"/>
                </a:solidFill>
              </a:rPr>
              <a:t>-step4</a:t>
            </a:r>
            <a:endParaRPr lang="zh-CN" altLang="en-US" sz="4000" b="1">
              <a:solidFill>
                <a:srgbClr val="00B0F0"/>
              </a:solidFill>
            </a:endParaRPr>
          </a:p>
        </p:txBody>
      </p:sp>
      <p:sp>
        <p:nvSpPr>
          <p:cNvPr id="14340" name="矩形 4">
            <a:extLst>
              <a:ext uri="{FF2B5EF4-FFF2-40B4-BE49-F238E27FC236}">
                <a16:creationId xmlns:a16="http://schemas.microsoft.com/office/drawing/2014/main" id="{CA46B1EF-1F5F-42C2-A684-F2CA7C30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91596D-E46F-4D7A-AB55-BD9BF854A72D}"/>
              </a:ext>
            </a:extLst>
          </p:cNvPr>
          <p:cNvSpPr/>
          <p:nvPr/>
        </p:nvSpPr>
        <p:spPr bwMode="auto">
          <a:xfrm>
            <a:off x="9101138" y="5675313"/>
            <a:ext cx="205740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8">
            <a:extLst>
              <a:ext uri="{FF2B5EF4-FFF2-40B4-BE49-F238E27FC236}">
                <a16:creationId xmlns:a16="http://schemas.microsoft.com/office/drawing/2014/main" id="{11078306-3705-405F-B48E-515BA143A524}"/>
              </a:ext>
            </a:extLst>
          </p:cNvPr>
          <p:cNvGrpSpPr>
            <a:grpSpLocks/>
          </p:cNvGrpSpPr>
          <p:nvPr/>
        </p:nvGrpSpPr>
        <p:grpSpPr bwMode="auto">
          <a:xfrm>
            <a:off x="3375025" y="0"/>
            <a:ext cx="8816975" cy="6858000"/>
            <a:chOff x="1737796" y="1263836"/>
            <a:chExt cx="5543550" cy="4452937"/>
          </a:xfrm>
        </p:grpSpPr>
        <p:pic>
          <p:nvPicPr>
            <p:cNvPr id="15365" name="图片 10">
              <a:extLst>
                <a:ext uri="{FF2B5EF4-FFF2-40B4-BE49-F238E27FC236}">
                  <a16:creationId xmlns:a16="http://schemas.microsoft.com/office/drawing/2014/main" id="{D801A2C4-446C-4F4E-AC4C-F309FCAF5A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37796" y="1263836"/>
              <a:ext cx="5543550" cy="4452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470BE7D-85D0-44D2-AF74-9EDA3E2A90BF}"/>
                </a:ext>
              </a:extLst>
            </p:cNvPr>
            <p:cNvSpPr/>
            <p:nvPr/>
          </p:nvSpPr>
          <p:spPr>
            <a:xfrm>
              <a:off x="5033583" y="4687032"/>
              <a:ext cx="2166916" cy="53909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 Directly Click here. </a:t>
              </a:r>
            </a:p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Don’t add any other files.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5363" name="标题 1">
            <a:extLst>
              <a:ext uri="{FF2B5EF4-FFF2-40B4-BE49-F238E27FC236}">
                <a16:creationId xmlns:a16="http://schemas.microsoft.com/office/drawing/2014/main" id="{45A2AA6A-BD32-4BF5-933A-639FDD22E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5364" name="矩形 4">
            <a:extLst>
              <a:ext uri="{FF2B5EF4-FFF2-40B4-BE49-F238E27FC236}">
                <a16:creationId xmlns:a16="http://schemas.microsoft.com/office/drawing/2014/main" id="{0528835F-AE2D-4547-A4DB-B3B6C0D23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图片 12">
            <a:extLst>
              <a:ext uri="{FF2B5EF4-FFF2-40B4-BE49-F238E27FC236}">
                <a16:creationId xmlns:a16="http://schemas.microsoft.com/office/drawing/2014/main" id="{9AEC0897-64CE-474B-9109-BF0C65191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3113" y="0"/>
            <a:ext cx="8878887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FD68C88-C645-4781-A8DB-69BE8AFF65FB}"/>
              </a:ext>
            </a:extLst>
          </p:cNvPr>
          <p:cNvSpPr/>
          <p:nvPr/>
        </p:nvSpPr>
        <p:spPr bwMode="auto">
          <a:xfrm>
            <a:off x="8591550" y="5286375"/>
            <a:ext cx="344487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Directly Click here.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Don’t add any other files.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8" name="标题 1">
            <a:extLst>
              <a:ext uri="{FF2B5EF4-FFF2-40B4-BE49-F238E27FC236}">
                <a16:creationId xmlns:a16="http://schemas.microsoft.com/office/drawing/2014/main" id="{31DD25E6-D24C-47B7-8CD1-68AD0ED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6389" name="矩形 4">
            <a:extLst>
              <a:ext uri="{FF2B5EF4-FFF2-40B4-BE49-F238E27FC236}">
                <a16:creationId xmlns:a16="http://schemas.microsoft.com/office/drawing/2014/main" id="{D5ECD2AF-6AC0-430D-B5AE-80E9A3F15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49975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组合 13">
            <a:extLst>
              <a:ext uri="{FF2B5EF4-FFF2-40B4-BE49-F238E27FC236}">
                <a16:creationId xmlns:a16="http://schemas.microsoft.com/office/drawing/2014/main" id="{D8B165B3-24AC-4665-84BC-719951C32726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1714981" y="1384078"/>
            <a:chExt cx="5732462" cy="4826000"/>
          </a:xfrm>
        </p:grpSpPr>
        <p:pic>
          <p:nvPicPr>
            <p:cNvPr id="17414" name="图片 9">
              <a:extLst>
                <a:ext uri="{FF2B5EF4-FFF2-40B4-BE49-F238E27FC236}">
                  <a16:creationId xmlns:a16="http://schemas.microsoft.com/office/drawing/2014/main" id="{DAABA4E5-E0C2-476D-9258-F651A04FC7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4981" y="1384078"/>
              <a:ext cx="5732462" cy="482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5" name="矩形 1">
              <a:extLst>
                <a:ext uri="{FF2B5EF4-FFF2-40B4-BE49-F238E27FC236}">
                  <a16:creationId xmlns:a16="http://schemas.microsoft.com/office/drawing/2014/main" id="{6F2514ED-4A6B-432A-8471-F023C5A77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8175" y="4581784"/>
              <a:ext cx="5327650" cy="2889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6" name="矩形 4">
              <a:extLst>
                <a:ext uri="{FF2B5EF4-FFF2-40B4-BE49-F238E27FC236}">
                  <a16:creationId xmlns:a16="http://schemas.microsoft.com/office/drawing/2014/main" id="{B21D6BC1-4DF8-4B70-B87A-0EB2EEFA9D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6193" y="2854584"/>
              <a:ext cx="647701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7" name="矩形 4">
              <a:extLst>
                <a:ext uri="{FF2B5EF4-FFF2-40B4-BE49-F238E27FC236}">
                  <a16:creationId xmlns:a16="http://schemas.microsoft.com/office/drawing/2014/main" id="{9D25C8A8-000F-4A78-887B-886E45973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3103" y="3166472"/>
              <a:ext cx="902670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17418" name="矩形 4">
              <a:extLst>
                <a:ext uri="{FF2B5EF4-FFF2-40B4-BE49-F238E27FC236}">
                  <a16:creationId xmlns:a16="http://schemas.microsoft.com/office/drawing/2014/main" id="{3AB27E6B-5064-40EE-97F9-C3E5154AB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6648" y="3446463"/>
              <a:ext cx="899125" cy="287337"/>
            </a:xfrm>
            <a:prstGeom prst="rect">
              <a:avLst/>
            </a:prstGeom>
            <a:noFill/>
            <a:ln w="635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1BC3DF3-15B9-4074-A084-4F346B3CBCD3}"/>
                </a:ext>
              </a:extLst>
            </p:cNvPr>
            <p:cNvSpPr/>
            <p:nvPr/>
          </p:nvSpPr>
          <p:spPr>
            <a:xfrm>
              <a:off x="2460150" y="2412955"/>
              <a:ext cx="2339173" cy="585376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 Select xc7z020clg484-1 as the following part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17411" name="矩形 4">
            <a:extLst>
              <a:ext uri="{FF2B5EF4-FFF2-40B4-BE49-F238E27FC236}">
                <a16:creationId xmlns:a16="http://schemas.microsoft.com/office/drawing/2014/main" id="{D0E07771-163F-445E-B471-3EC65BF8D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0138" y="6135688"/>
            <a:ext cx="1112837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58C09A-61FC-4F4B-92C6-A8E1F60132D7}"/>
              </a:ext>
            </a:extLst>
          </p:cNvPr>
          <p:cNvSpPr/>
          <p:nvPr/>
        </p:nvSpPr>
        <p:spPr bwMode="auto">
          <a:xfrm>
            <a:off x="9101138" y="5675313"/>
            <a:ext cx="197802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413" name="标题 1">
            <a:extLst>
              <a:ext uri="{FF2B5EF4-FFF2-40B4-BE49-F238E27FC236}">
                <a16:creationId xmlns:a16="http://schemas.microsoft.com/office/drawing/2014/main" id="{778FB338-897F-47A8-8310-80092FE37B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组合 8">
            <a:extLst>
              <a:ext uri="{FF2B5EF4-FFF2-40B4-BE49-F238E27FC236}">
                <a16:creationId xmlns:a16="http://schemas.microsoft.com/office/drawing/2014/main" id="{D2000CC6-BE70-42BC-89DC-EAD19817470E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0"/>
            <a:ext cx="8728075" cy="6858000"/>
            <a:chOff x="1968169" y="1050224"/>
            <a:chExt cx="5273675" cy="4479925"/>
          </a:xfrm>
        </p:grpSpPr>
        <p:pic>
          <p:nvPicPr>
            <p:cNvPr id="18437" name="图片 9">
              <a:extLst>
                <a:ext uri="{FF2B5EF4-FFF2-40B4-BE49-F238E27FC236}">
                  <a16:creationId xmlns:a16="http://schemas.microsoft.com/office/drawing/2014/main" id="{5EC89451-56E6-4BE2-A1CD-7F67D893ED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169" y="1050224"/>
              <a:ext cx="5273675" cy="4479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E7E1981-A495-4C83-BA70-5D9824080402}"/>
                </a:ext>
              </a:extLst>
            </p:cNvPr>
            <p:cNvSpPr/>
            <p:nvPr/>
          </p:nvSpPr>
          <p:spPr>
            <a:xfrm>
              <a:off x="5310018" y="4260837"/>
              <a:ext cx="1708333" cy="7850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Check  the project  information</a:t>
              </a:r>
              <a:r>
                <a:rPr lang="zh-CN" altLang="en-US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，</a:t>
              </a: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then 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8435" name="标题 1">
            <a:extLst>
              <a:ext uri="{FF2B5EF4-FFF2-40B4-BE49-F238E27FC236}">
                <a16:creationId xmlns:a16="http://schemas.microsoft.com/office/drawing/2014/main" id="{F2E16C44-10EF-4A53-BBDE-6FE5FC397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436" name="矩形 4">
            <a:extLst>
              <a:ext uri="{FF2B5EF4-FFF2-40B4-BE49-F238E27FC236}">
                <a16:creationId xmlns:a16="http://schemas.microsoft.com/office/drawing/2014/main" id="{7C5BA1EB-1B06-409F-8152-B09D46504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52025" y="6110288"/>
            <a:ext cx="11128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图片 1">
            <a:extLst>
              <a:ext uri="{FF2B5EF4-FFF2-40B4-BE49-F238E27FC236}">
                <a16:creationId xmlns:a16="http://schemas.microsoft.com/office/drawing/2014/main" id="{472409CA-D821-4710-90B8-EB9A3675A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413" y="39688"/>
            <a:ext cx="88392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00FFC17-4C73-485B-BF6B-15D7AF5E499E}"/>
              </a:ext>
            </a:extLst>
          </p:cNvPr>
          <p:cNvSpPr/>
          <p:nvPr/>
        </p:nvSpPr>
        <p:spPr>
          <a:xfrm>
            <a:off x="7858125" y="1390650"/>
            <a:ext cx="3965575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finished,  you can see this window </a:t>
            </a:r>
            <a:endParaRPr lang="zh-CN" altLang="zh-CN" sz="32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460" name="标题 1">
            <a:extLst>
              <a:ext uri="{FF2B5EF4-FFF2-40B4-BE49-F238E27FC236}">
                <a16:creationId xmlns:a16="http://schemas.microsoft.com/office/drawing/2014/main" id="{F9988D8C-D5FB-4520-9495-CE8B6AEDA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1381125"/>
            <a:ext cx="2487612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1. Create New Hardware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Project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03676B2-A048-4347-881E-17D962234900}"/>
              </a:ext>
            </a:extLst>
          </p:cNvPr>
          <p:cNvSpPr/>
          <p:nvPr/>
        </p:nvSpPr>
        <p:spPr bwMode="auto">
          <a:xfrm>
            <a:off x="4475163" y="1577975"/>
            <a:ext cx="19431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Source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C11C09-9850-48FE-AF23-7A0357247B3C}"/>
              </a:ext>
            </a:extLst>
          </p:cNvPr>
          <p:cNvSpPr/>
          <p:nvPr/>
        </p:nvSpPr>
        <p:spPr bwMode="auto">
          <a:xfrm>
            <a:off x="4495800" y="328613"/>
            <a:ext cx="1874838" cy="1249362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B10B02-D4FF-4ACD-B3A3-1C38E6DACCEE}"/>
              </a:ext>
            </a:extLst>
          </p:cNvPr>
          <p:cNvSpPr/>
          <p:nvPr/>
        </p:nvSpPr>
        <p:spPr bwMode="auto">
          <a:xfrm>
            <a:off x="3300413" y="2554288"/>
            <a:ext cx="10509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5F9F66-2935-464C-BF1C-C4A7430E19DF}"/>
              </a:ext>
            </a:extLst>
          </p:cNvPr>
          <p:cNvSpPr/>
          <p:nvPr/>
        </p:nvSpPr>
        <p:spPr bwMode="auto">
          <a:xfrm>
            <a:off x="3300413" y="5305425"/>
            <a:ext cx="1050925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7CAB10-D2E6-4672-AC2C-B1934A4D12D9}"/>
              </a:ext>
            </a:extLst>
          </p:cNvPr>
          <p:cNvSpPr/>
          <p:nvPr/>
        </p:nvSpPr>
        <p:spPr bwMode="auto">
          <a:xfrm>
            <a:off x="3306763" y="3667125"/>
            <a:ext cx="1052512" cy="7905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23264F-3F2B-4C12-B93C-9336F5BFEFD7}"/>
              </a:ext>
            </a:extLst>
          </p:cNvPr>
          <p:cNvSpPr/>
          <p:nvPr/>
        </p:nvSpPr>
        <p:spPr bwMode="auto">
          <a:xfrm>
            <a:off x="4351338" y="2601913"/>
            <a:ext cx="2598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Simulation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3472CB-0F5C-4391-B918-F770F8CEAC46}"/>
              </a:ext>
            </a:extLst>
          </p:cNvPr>
          <p:cNvSpPr/>
          <p:nvPr/>
        </p:nvSpPr>
        <p:spPr bwMode="auto">
          <a:xfrm>
            <a:off x="4359275" y="3832225"/>
            <a:ext cx="2597150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Synthesis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C6B041-AB89-4E20-AEAE-737CB6A80286}"/>
              </a:ext>
            </a:extLst>
          </p:cNvPr>
          <p:cNvSpPr/>
          <p:nvPr/>
        </p:nvSpPr>
        <p:spPr bwMode="auto">
          <a:xfrm>
            <a:off x="4351338" y="5470525"/>
            <a:ext cx="350678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Hardware Program Menu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25FCA329-940F-49AD-8D62-72ED5948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20483" name="Rectangle 8">
            <a:extLst>
              <a:ext uri="{FF2B5EF4-FFF2-40B4-BE49-F238E27FC236}">
                <a16:creationId xmlns:a16="http://schemas.microsoft.com/office/drawing/2014/main" id="{D2BBE5FD-9EAD-43A5-AFB8-204D27383C5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484" name="图片 1">
            <a:extLst>
              <a:ext uri="{FF2B5EF4-FFF2-40B4-BE49-F238E27FC236}">
                <a16:creationId xmlns:a16="http://schemas.microsoft.com/office/drawing/2014/main" id="{D9E27345-AE05-46E7-9391-7EC918476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矩形 6">
            <a:extLst>
              <a:ext uri="{FF2B5EF4-FFF2-40B4-BE49-F238E27FC236}">
                <a16:creationId xmlns:a16="http://schemas.microsoft.com/office/drawing/2014/main" id="{E4F708FD-2F98-42E5-904F-12E923BA5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1465263"/>
            <a:ext cx="1962150" cy="1085850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组合 5">
            <a:extLst>
              <a:ext uri="{FF2B5EF4-FFF2-40B4-BE49-F238E27FC236}">
                <a16:creationId xmlns:a16="http://schemas.microsoft.com/office/drawing/2014/main" id="{BB143170-6A25-4007-836C-1B5D60CF2B5F}"/>
              </a:ext>
            </a:extLst>
          </p:cNvPr>
          <p:cNvGrpSpPr>
            <a:grpSpLocks/>
          </p:cNvGrpSpPr>
          <p:nvPr/>
        </p:nvGrpSpPr>
        <p:grpSpPr bwMode="auto">
          <a:xfrm>
            <a:off x="3325813" y="0"/>
            <a:ext cx="8866187" cy="6858000"/>
            <a:chOff x="912794" y="1739687"/>
            <a:chExt cx="3762375" cy="3114675"/>
          </a:xfrm>
        </p:grpSpPr>
        <p:pic>
          <p:nvPicPr>
            <p:cNvPr id="21508" name="图片 2">
              <a:extLst>
                <a:ext uri="{FF2B5EF4-FFF2-40B4-BE49-F238E27FC236}">
                  <a16:creationId xmlns:a16="http://schemas.microsoft.com/office/drawing/2014/main" id="{055B21D1-9A19-4ECB-B6B2-D3BFC7EC2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794" y="1739687"/>
              <a:ext cx="3762375" cy="3114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36CEE9E-6302-4233-94C0-AA28FEDC1C52}"/>
                </a:ext>
              </a:extLst>
            </p:cNvPr>
            <p:cNvSpPr/>
            <p:nvPr/>
          </p:nvSpPr>
          <p:spPr>
            <a:xfrm>
              <a:off x="1422079" y="2158582"/>
              <a:ext cx="787505" cy="209808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Right-click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18702A2-B96D-494A-910E-A1EF092D29B6}"/>
                </a:ext>
              </a:extLst>
            </p:cNvPr>
            <p:cNvSpPr/>
            <p:nvPr/>
          </p:nvSpPr>
          <p:spPr bwMode="auto">
            <a:xfrm>
              <a:off x="1290715" y="2368390"/>
              <a:ext cx="918868" cy="31867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1099AAE-FB08-429B-AA2F-A79AAC51EB1D}"/>
                </a:ext>
              </a:extLst>
            </p:cNvPr>
            <p:cNvSpPr/>
            <p:nvPr/>
          </p:nvSpPr>
          <p:spPr bwMode="auto">
            <a:xfrm>
              <a:off x="2133461" y="4214844"/>
              <a:ext cx="2457501" cy="282628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42DFB49A-7ECA-444B-B957-E21A5E163705}"/>
                </a:ext>
              </a:extLst>
            </p:cNvPr>
            <p:cNvSpPr/>
            <p:nvPr/>
          </p:nvSpPr>
          <p:spPr bwMode="auto">
            <a:xfrm>
              <a:off x="3690282" y="3986291"/>
              <a:ext cx="800305" cy="20908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just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Click here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739D3D1-3DDE-497D-B2B0-B78BA9149E06}"/>
                </a:ext>
              </a:extLst>
            </p:cNvPr>
            <p:cNvSpPr/>
            <p:nvPr/>
          </p:nvSpPr>
          <p:spPr bwMode="auto">
            <a:xfrm>
              <a:off x="966013" y="1780062"/>
              <a:ext cx="630543" cy="253788"/>
            </a:xfrm>
            <a:prstGeom prst="rect">
              <a:avLst/>
            </a:prstGeom>
            <a:noFill/>
            <a:ln w="635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1507" name="标题 1">
            <a:extLst>
              <a:ext uri="{FF2B5EF4-FFF2-40B4-BE49-F238E27FC236}">
                <a16:creationId xmlns:a16="http://schemas.microsoft.com/office/drawing/2014/main" id="{80095DB7-0653-4478-8D06-39BA7C4CC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4">
            <a:extLst>
              <a:ext uri="{FF2B5EF4-FFF2-40B4-BE49-F238E27FC236}">
                <a16:creationId xmlns:a16="http://schemas.microsoft.com/office/drawing/2014/main" id="{3476B4DD-C844-49F5-ADE7-8A894D722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2488" y="-61913"/>
            <a:ext cx="8799512" cy="691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标题 1">
            <a:extLst>
              <a:ext uri="{FF2B5EF4-FFF2-40B4-BE49-F238E27FC236}">
                <a16:creationId xmlns:a16="http://schemas.microsoft.com/office/drawing/2014/main" id="{7B7B545F-E25D-44BA-9745-CE70F8580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532" name="矩形 4">
            <a:extLst>
              <a:ext uri="{FF2B5EF4-FFF2-40B4-BE49-F238E27FC236}">
                <a16:creationId xmlns:a16="http://schemas.microsoft.com/office/drawing/2014/main" id="{0A047988-140F-47E6-861F-AEB452577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5650" y="6056313"/>
            <a:ext cx="125888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BDB154-1D82-403A-BDF8-3C272CE71268}"/>
              </a:ext>
            </a:extLst>
          </p:cNvPr>
          <p:cNvSpPr/>
          <p:nvPr/>
        </p:nvSpPr>
        <p:spPr bwMode="auto">
          <a:xfrm>
            <a:off x="8645525" y="56086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2534" name="矩形 4">
            <a:extLst>
              <a:ext uri="{FF2B5EF4-FFF2-40B4-BE49-F238E27FC236}">
                <a16:creationId xmlns:a16="http://schemas.microsoft.com/office/drawing/2014/main" id="{77854E75-7AF0-429D-8D15-99C386507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350" y="1714500"/>
            <a:ext cx="2190750" cy="385763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2535" name="矩形 10">
            <a:extLst>
              <a:ext uri="{FF2B5EF4-FFF2-40B4-BE49-F238E27FC236}">
                <a16:creationId xmlns:a16="http://schemas.microsoft.com/office/drawing/2014/main" id="{5ABCD46E-CDBE-4F24-818F-71DF87919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0788" y="1676400"/>
            <a:ext cx="28686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图片 1">
            <a:extLst>
              <a:ext uri="{FF2B5EF4-FFF2-40B4-BE49-F238E27FC236}">
                <a16:creationId xmlns:a16="http://schemas.microsoft.com/office/drawing/2014/main" id="{E6AC4BBF-8FA4-4047-B31A-F4F121C3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矩形 4">
            <a:extLst>
              <a:ext uri="{FF2B5EF4-FFF2-40B4-BE49-F238E27FC236}">
                <a16:creationId xmlns:a16="http://schemas.microsoft.com/office/drawing/2014/main" id="{DDFC0F61-B95D-47B6-BCD7-5002CC2A5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148138"/>
            <a:ext cx="13716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F3D761-DE67-4588-A781-383368C6BF37}"/>
              </a:ext>
            </a:extLst>
          </p:cNvPr>
          <p:cNvSpPr/>
          <p:nvPr/>
        </p:nvSpPr>
        <p:spPr bwMode="auto">
          <a:xfrm>
            <a:off x="8926513" y="3687763"/>
            <a:ext cx="19764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7" name="标题 1">
            <a:extLst>
              <a:ext uri="{FF2B5EF4-FFF2-40B4-BE49-F238E27FC236}">
                <a16:creationId xmlns:a16="http://schemas.microsoft.com/office/drawing/2014/main" id="{31A8EA23-DF58-48DC-9909-6AAFFCCBC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组合 7">
            <a:extLst>
              <a:ext uri="{FF2B5EF4-FFF2-40B4-BE49-F238E27FC236}">
                <a16:creationId xmlns:a16="http://schemas.microsoft.com/office/drawing/2014/main" id="{62221B50-C30A-43D2-ACF1-EE2391D371CA}"/>
              </a:ext>
            </a:extLst>
          </p:cNvPr>
          <p:cNvGrpSpPr>
            <a:grpSpLocks/>
          </p:cNvGrpSpPr>
          <p:nvPr/>
        </p:nvGrpSpPr>
        <p:grpSpPr bwMode="auto">
          <a:xfrm>
            <a:off x="3935413" y="-65088"/>
            <a:ext cx="8162925" cy="6923088"/>
            <a:chOff x="4126796" y="2060575"/>
            <a:chExt cx="3352800" cy="2705100"/>
          </a:xfrm>
        </p:grpSpPr>
        <p:grpSp>
          <p:nvGrpSpPr>
            <p:cNvPr id="24582" name="组合 6">
              <a:extLst>
                <a:ext uri="{FF2B5EF4-FFF2-40B4-BE49-F238E27FC236}">
                  <a16:creationId xmlns:a16="http://schemas.microsoft.com/office/drawing/2014/main" id="{5D5B0DB2-37FE-470B-ACF1-650562EB7D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796" y="2060575"/>
              <a:ext cx="3352800" cy="2705100"/>
              <a:chOff x="3059113" y="2205039"/>
              <a:chExt cx="3352800" cy="2705100"/>
            </a:xfrm>
          </p:grpSpPr>
          <p:pic>
            <p:nvPicPr>
              <p:cNvPr id="24584" name="图片 4">
                <a:extLst>
                  <a:ext uri="{FF2B5EF4-FFF2-40B4-BE49-F238E27FC236}">
                    <a16:creationId xmlns:a16="http://schemas.microsoft.com/office/drawing/2014/main" id="{84F3F6A9-8507-4EC3-BDB2-6EFB5C704B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59113" y="2205039"/>
                <a:ext cx="3352800" cy="2705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06C19A4-5AA9-4DC3-84A5-6FADF6D70B0F}"/>
                  </a:ext>
                </a:extLst>
              </p:cNvPr>
              <p:cNvSpPr/>
              <p:nvPr/>
            </p:nvSpPr>
            <p:spPr>
              <a:xfrm>
                <a:off x="4076950" y="3554177"/>
                <a:ext cx="2100228" cy="373417"/>
              </a:xfrm>
              <a:prstGeom prst="rect">
                <a:avLst/>
              </a:prstGeom>
              <a:noFill/>
              <a:ln w="635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</p:grp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FE8828E-9DBB-4E7D-A302-5F00EF872AF1}"/>
                </a:ext>
              </a:extLst>
            </p:cNvPr>
            <p:cNvSpPr/>
            <p:nvPr/>
          </p:nvSpPr>
          <p:spPr>
            <a:xfrm>
              <a:off x="5910131" y="3217423"/>
              <a:ext cx="1058264" cy="18484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file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4579" name="标题 1">
            <a:extLst>
              <a:ext uri="{FF2B5EF4-FFF2-40B4-BE49-F238E27FC236}">
                <a16:creationId xmlns:a16="http://schemas.microsoft.com/office/drawing/2014/main" id="{BC32AFD5-D5CD-4DDE-B1F8-99C408F13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4580" name="矩形 4">
            <a:extLst>
              <a:ext uri="{FF2B5EF4-FFF2-40B4-BE49-F238E27FC236}">
                <a16:creationId xmlns:a16="http://schemas.microsoft.com/office/drawing/2014/main" id="{790128E6-CD38-4835-97E9-2334A9F96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763" y="5221288"/>
            <a:ext cx="2159000" cy="9017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387585-39BF-4340-AD8B-8BCC2F3843F0}"/>
              </a:ext>
            </a:extLst>
          </p:cNvPr>
          <p:cNvSpPr/>
          <p:nvPr/>
        </p:nvSpPr>
        <p:spPr bwMode="auto">
          <a:xfrm>
            <a:off x="8196263" y="478948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图片 1">
            <a:extLst>
              <a:ext uri="{FF2B5EF4-FFF2-40B4-BE49-F238E27FC236}">
                <a16:creationId xmlns:a16="http://schemas.microsoft.com/office/drawing/2014/main" id="{DC4EC081-4692-4D2C-BF04-35D4EB14C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338" y="0"/>
            <a:ext cx="83486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标题 1">
            <a:extLst>
              <a:ext uri="{FF2B5EF4-FFF2-40B4-BE49-F238E27FC236}">
                <a16:creationId xmlns:a16="http://schemas.microsoft.com/office/drawing/2014/main" id="{C0B68900-B019-4F7A-8C1D-906093FFE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5604" name="矩形 4">
            <a:extLst>
              <a:ext uri="{FF2B5EF4-FFF2-40B4-BE49-F238E27FC236}">
                <a16:creationId xmlns:a16="http://schemas.microsoft.com/office/drawing/2014/main" id="{9454D6A6-45FB-4ECB-B285-47B2BF65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1838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21109A-CE85-4848-B202-67394DD1A6A3}"/>
              </a:ext>
            </a:extLst>
          </p:cNvPr>
          <p:cNvSpPr/>
          <p:nvPr/>
        </p:nvSpPr>
        <p:spPr bwMode="auto">
          <a:xfrm>
            <a:off x="1005840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2">
            <a:extLst>
              <a:ext uri="{FF2B5EF4-FFF2-40B4-BE49-F238E27FC236}">
                <a16:creationId xmlns:a16="http://schemas.microsoft.com/office/drawing/2014/main" id="{36341BFD-6005-43DB-905F-F39CA99B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925" y="-66675"/>
            <a:ext cx="8347075" cy="692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标题 1">
            <a:extLst>
              <a:ext uri="{FF2B5EF4-FFF2-40B4-BE49-F238E27FC236}">
                <a16:creationId xmlns:a16="http://schemas.microsoft.com/office/drawing/2014/main" id="{6BC6D2A5-1526-4727-B28A-1AF8566FD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628" name="矩形 4">
            <a:extLst>
              <a:ext uri="{FF2B5EF4-FFF2-40B4-BE49-F238E27FC236}">
                <a16:creationId xmlns:a16="http://schemas.microsoft.com/office/drawing/2014/main" id="{A177E427-E0B2-4784-9EC6-9DA036E15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470025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FE0B8-74B5-4801-9CFA-02AEB27C1F56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26630" name="组合 7">
            <a:extLst>
              <a:ext uri="{FF2B5EF4-FFF2-40B4-BE49-F238E27FC236}">
                <a16:creationId xmlns:a16="http://schemas.microsoft.com/office/drawing/2014/main" id="{817C0FC2-C8E0-456C-AFF8-2B0090273972}"/>
              </a:ext>
            </a:extLst>
          </p:cNvPr>
          <p:cNvGrpSpPr>
            <a:grpSpLocks/>
          </p:cNvGrpSpPr>
          <p:nvPr/>
        </p:nvGrpSpPr>
        <p:grpSpPr bwMode="auto">
          <a:xfrm>
            <a:off x="4316413" y="2051050"/>
            <a:ext cx="7610475" cy="1400175"/>
            <a:chOff x="4220457" y="2848218"/>
            <a:chExt cx="3126063" cy="56173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ADD112E-961B-449F-8FD5-874D2AD578F2}"/>
                </a:ext>
              </a:extLst>
            </p:cNvPr>
            <p:cNvSpPr/>
            <p:nvPr/>
          </p:nvSpPr>
          <p:spPr bwMode="auto">
            <a:xfrm>
              <a:off x="4220457" y="3036736"/>
              <a:ext cx="3126063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493F788-B41F-487E-B480-A9E78CC1C6D6}"/>
                </a:ext>
              </a:extLst>
            </p:cNvPr>
            <p:cNvSpPr/>
            <p:nvPr/>
          </p:nvSpPr>
          <p:spPr>
            <a:xfrm>
              <a:off x="5876736" y="2848218"/>
              <a:ext cx="1293723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1">
            <a:extLst>
              <a:ext uri="{FF2B5EF4-FFF2-40B4-BE49-F238E27FC236}">
                <a16:creationId xmlns:a16="http://schemas.microsoft.com/office/drawing/2014/main" id="{600FF106-4091-4351-BB0C-B8BD4E9BD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725" y="1009650"/>
            <a:ext cx="7821613" cy="444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标题 1">
            <a:extLst>
              <a:ext uri="{FF2B5EF4-FFF2-40B4-BE49-F238E27FC236}">
                <a16:creationId xmlns:a16="http://schemas.microsoft.com/office/drawing/2014/main" id="{332B03DF-E93F-46FE-B464-D0B2B5CEF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7652" name="矩形 4">
            <a:extLst>
              <a:ext uri="{FF2B5EF4-FFF2-40B4-BE49-F238E27FC236}">
                <a16:creationId xmlns:a16="http://schemas.microsoft.com/office/drawing/2014/main" id="{A631A463-87BE-4F84-8D27-7FFE03D8B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A7A57E-9582-44E1-A5C1-B96AC17161F4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组合 1">
            <a:extLst>
              <a:ext uri="{FF2B5EF4-FFF2-40B4-BE49-F238E27FC236}">
                <a16:creationId xmlns:a16="http://schemas.microsoft.com/office/drawing/2014/main" id="{A69BA3B3-8853-40D3-B6E0-D164496CDFB5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0"/>
            <a:ext cx="9140825" cy="6858000"/>
            <a:chOff x="1406525" y="1853840"/>
            <a:chExt cx="9074150" cy="3608388"/>
          </a:xfrm>
        </p:grpSpPr>
        <p:pic>
          <p:nvPicPr>
            <p:cNvPr id="28677" name="图片 1">
              <a:extLst>
                <a:ext uri="{FF2B5EF4-FFF2-40B4-BE49-F238E27FC236}">
                  <a16:creationId xmlns:a16="http://schemas.microsoft.com/office/drawing/2014/main" id="{7995C3D6-8BB7-448D-8ACA-42F0AE8E0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6525" y="1853840"/>
              <a:ext cx="9074150" cy="3608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FC4AFD-FA7C-4E4C-9799-E0841F3FC278}"/>
                </a:ext>
              </a:extLst>
            </p:cNvPr>
            <p:cNvSpPr/>
            <p:nvPr/>
          </p:nvSpPr>
          <p:spPr>
            <a:xfrm>
              <a:off x="1701223" y="2551295"/>
              <a:ext cx="893546" cy="202137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77C1A17-4451-4906-809A-908AECE06D11}"/>
                </a:ext>
              </a:extLst>
            </p:cNvPr>
            <p:cNvSpPr/>
            <p:nvPr/>
          </p:nvSpPr>
          <p:spPr>
            <a:xfrm>
              <a:off x="2372565" y="2767631"/>
              <a:ext cx="1167757" cy="4368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Double click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3539DE2-35E4-40FC-90E2-6600BF8AD58D}"/>
                </a:ext>
              </a:extLst>
            </p:cNvPr>
            <p:cNvSpPr/>
            <p:nvPr/>
          </p:nvSpPr>
          <p:spPr>
            <a:xfrm>
              <a:off x="3540321" y="4620271"/>
              <a:ext cx="2198410" cy="552952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55B510C-96F3-48D6-9AB5-23A39A3078BA}"/>
                </a:ext>
              </a:extLst>
            </p:cNvPr>
            <p:cNvSpPr/>
            <p:nvPr/>
          </p:nvSpPr>
          <p:spPr>
            <a:xfrm>
              <a:off x="5943600" y="4620271"/>
              <a:ext cx="3530062" cy="63146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Add your Verilog here.</a:t>
              </a:r>
            </a:p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The input and output can refer to the next page.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8675" name="标题 1">
            <a:extLst>
              <a:ext uri="{FF2B5EF4-FFF2-40B4-BE49-F238E27FC236}">
                <a16:creationId xmlns:a16="http://schemas.microsoft.com/office/drawing/2014/main" id="{62D8EBE1-0489-4D6E-97E2-F8C443D52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F68BB9F-E6BB-4846-88F1-1E674832C266}"/>
              </a:ext>
            </a:extLst>
          </p:cNvPr>
          <p:cNvSpPr/>
          <p:nvPr/>
        </p:nvSpPr>
        <p:spPr bwMode="auto">
          <a:xfrm>
            <a:off x="3055938" y="406400"/>
            <a:ext cx="968375" cy="39846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>
            <a:extLst>
              <a:ext uri="{FF2B5EF4-FFF2-40B4-BE49-F238E27FC236}">
                <a16:creationId xmlns:a16="http://schemas.microsoft.com/office/drawing/2014/main" id="{3B6D431B-65F2-4F7C-8C07-9C9E89918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713" y="796925"/>
            <a:ext cx="2633662" cy="963613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FF0000"/>
                </a:solidFill>
              </a:rPr>
              <a:t>3-8 decoder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3555" name="矩形 1">
            <a:extLst>
              <a:ext uri="{FF2B5EF4-FFF2-40B4-BE49-F238E27FC236}">
                <a16:creationId xmlns:a16="http://schemas.microsoft.com/office/drawing/2014/main" id="{41AACA4D-C3FD-43D1-8A04-355DEBE31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8438" y="1951038"/>
            <a:ext cx="4373562" cy="443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module decoder(A,B,C,Y); 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input A,B,C;</a:t>
            </a:r>
          </a:p>
          <a:p>
            <a:pPr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output </a:t>
            </a:r>
            <a:r>
              <a:rPr lang="en-US" altLang="zh-CN" sz="2800" dirty="0" err="1">
                <a:latin typeface="Arial" charset="0"/>
                <a:ea typeface="宋体" pitchFamily="2" charset="-122"/>
              </a:rPr>
              <a:t>reg</a:t>
            </a:r>
            <a:r>
              <a:rPr lang="en-US" altLang="zh-CN" sz="2800" dirty="0">
                <a:latin typeface="Arial" charset="0"/>
                <a:ea typeface="宋体" pitchFamily="2" charset="-122"/>
              </a:rPr>
              <a:t> [7:0] Y;</a:t>
            </a:r>
          </a:p>
          <a:p>
            <a:pPr indent="357188">
              <a:spcBef>
                <a:spcPts val="1200"/>
              </a:spcBef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always@(*)</a:t>
            </a: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begin</a:t>
            </a: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charset="0"/>
                <a:ea typeface="宋体" pitchFamily="2" charset="-122"/>
              </a:rPr>
              <a:t>       </a:t>
            </a:r>
            <a:r>
              <a:rPr lang="en-US" altLang="zh-CN" sz="2800" dirty="0" err="1">
                <a:solidFill>
                  <a:srgbClr val="FF0000"/>
                </a:solidFill>
                <a:latin typeface="Arial" charset="0"/>
                <a:ea typeface="宋体" pitchFamily="2" charset="-122"/>
              </a:rPr>
              <a:t>xxxxxx</a:t>
            </a:r>
            <a:endParaRPr lang="en-US" altLang="zh-CN" sz="2800" dirty="0">
              <a:solidFill>
                <a:srgbClr val="FF0000"/>
              </a:solidFill>
              <a:latin typeface="Arial" charset="0"/>
              <a:ea typeface="宋体" pitchFamily="2" charset="-122"/>
            </a:endParaRPr>
          </a:p>
          <a:p>
            <a:pPr indent="357188">
              <a:defRPr/>
            </a:pPr>
            <a:r>
              <a:rPr lang="en-US" altLang="zh-CN" sz="2800" dirty="0">
                <a:latin typeface="Arial" charset="0"/>
                <a:ea typeface="宋体" pitchFamily="2" charset="-122"/>
              </a:rPr>
              <a:t>end</a:t>
            </a:r>
          </a:p>
          <a:p>
            <a:pPr>
              <a:spcBef>
                <a:spcPts val="1200"/>
              </a:spcBef>
              <a:defRPr/>
            </a:pPr>
            <a:r>
              <a:rPr lang="en-US" altLang="zh-CN" sz="2800" dirty="0" err="1">
                <a:latin typeface="Arial" charset="0"/>
                <a:ea typeface="宋体" pitchFamily="2" charset="-122"/>
              </a:rPr>
              <a:t>endmodule</a:t>
            </a:r>
            <a:endParaRPr lang="zh-CN" altLang="en-US" sz="2800" dirty="0">
              <a:latin typeface="Arial" charset="0"/>
              <a:ea typeface="宋体" pitchFamily="2" charset="-122"/>
            </a:endParaRPr>
          </a:p>
        </p:txBody>
      </p:sp>
      <p:pic>
        <p:nvPicPr>
          <p:cNvPr id="29700" name="图片 1">
            <a:extLst>
              <a:ext uri="{FF2B5EF4-FFF2-40B4-BE49-F238E27FC236}">
                <a16:creationId xmlns:a16="http://schemas.microsoft.com/office/drawing/2014/main" id="{454F62A4-DBC6-41FE-96D9-4BAF43D63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9" r="16098"/>
          <a:stretch>
            <a:fillRect/>
          </a:stretch>
        </p:blipFill>
        <p:spPr bwMode="auto">
          <a:xfrm>
            <a:off x="3163888" y="0"/>
            <a:ext cx="4562475" cy="681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标题 1">
            <a:extLst>
              <a:ext uri="{FF2B5EF4-FFF2-40B4-BE49-F238E27FC236}">
                <a16:creationId xmlns:a16="http://schemas.microsoft.com/office/drawing/2014/main" id="{0B01F5D4-D39C-4FC5-A6DA-D3CD4878C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1390650"/>
            <a:ext cx="2298700" cy="254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2. Create New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>
            <a:extLst>
              <a:ext uri="{FF2B5EF4-FFF2-40B4-BE49-F238E27FC236}">
                <a16:creationId xmlns:a16="http://schemas.microsoft.com/office/drawing/2014/main" id="{04D5AA0F-BF5E-4C84-9904-08D15D75D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0723" name="Rectangle 8">
            <a:extLst>
              <a:ext uri="{FF2B5EF4-FFF2-40B4-BE49-F238E27FC236}">
                <a16:creationId xmlns:a16="http://schemas.microsoft.com/office/drawing/2014/main" id="{87F71169-8486-4031-92E7-9F9246B0A3B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0724" name="图片 1">
            <a:extLst>
              <a:ext uri="{FF2B5EF4-FFF2-40B4-BE49-F238E27FC236}">
                <a16:creationId xmlns:a16="http://schemas.microsoft.com/office/drawing/2014/main" id="{501C4DB9-4F99-4E89-9AFA-21749B8DD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矩形 6">
            <a:extLst>
              <a:ext uri="{FF2B5EF4-FFF2-40B4-BE49-F238E27FC236}">
                <a16:creationId xmlns:a16="http://schemas.microsoft.com/office/drawing/2014/main" id="{981A9A95-553B-4DBE-A6EF-CD87B0E0E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2924175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715FB757-2D98-4CE7-9AD9-288BB34D1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1747" name="组合 2">
            <a:extLst>
              <a:ext uri="{FF2B5EF4-FFF2-40B4-BE49-F238E27FC236}">
                <a16:creationId xmlns:a16="http://schemas.microsoft.com/office/drawing/2014/main" id="{2640FBB8-5A62-4DC2-B9B9-5EF5C8327C59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927225"/>
            <a:ext cx="7361237" cy="2800350"/>
            <a:chOff x="6555711" y="1926821"/>
            <a:chExt cx="5636289" cy="2116484"/>
          </a:xfrm>
        </p:grpSpPr>
        <p:pic>
          <p:nvPicPr>
            <p:cNvPr id="31749" name="图片 1">
              <a:extLst>
                <a:ext uri="{FF2B5EF4-FFF2-40B4-BE49-F238E27FC236}">
                  <a16:creationId xmlns:a16="http://schemas.microsoft.com/office/drawing/2014/main" id="{35674128-1BDA-43BF-9155-1EF2AD8BF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5711" y="1926821"/>
              <a:ext cx="5636289" cy="2116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0" name="矩形 6">
              <a:extLst>
                <a:ext uri="{FF2B5EF4-FFF2-40B4-BE49-F238E27FC236}">
                  <a16:creationId xmlns:a16="http://schemas.microsoft.com/office/drawing/2014/main" id="{83FF02E7-6F51-4713-A022-8CD01A56A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7060" y="2643447"/>
              <a:ext cx="2483499" cy="572597"/>
            </a:xfrm>
            <a:prstGeom prst="rect">
              <a:avLst/>
            </a:prstGeom>
            <a:noFill/>
            <a:ln w="571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5EC5F47-B703-4AEB-996D-324AF314BC7F}"/>
                </a:ext>
              </a:extLst>
            </p:cNvPr>
            <p:cNvSpPr/>
            <p:nvPr/>
          </p:nvSpPr>
          <p:spPr bwMode="auto">
            <a:xfrm>
              <a:off x="9561651" y="2753498"/>
              <a:ext cx="1976409" cy="46313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389C3334-E490-4B76-97BE-E7EEC79D832A}"/>
              </a:ext>
            </a:extLst>
          </p:cNvPr>
          <p:cNvSpPr/>
          <p:nvPr/>
        </p:nvSpPr>
        <p:spPr bwMode="auto">
          <a:xfrm>
            <a:off x="4986338" y="2147888"/>
            <a:ext cx="2803525" cy="509587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>
            <a:extLst>
              <a:ext uri="{FF2B5EF4-FFF2-40B4-BE49-F238E27FC236}">
                <a16:creationId xmlns:a16="http://schemas.microsoft.com/office/drawing/2014/main" id="{0BA7127F-D3F6-409A-A56A-A06B190AE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2771" name="图片 1">
            <a:extLst>
              <a:ext uri="{FF2B5EF4-FFF2-40B4-BE49-F238E27FC236}">
                <a16:creationId xmlns:a16="http://schemas.microsoft.com/office/drawing/2014/main" id="{5848A2AC-125B-4FD7-A2F7-B3FE15B3D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0"/>
            <a:ext cx="80581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矩形 6">
            <a:extLst>
              <a:ext uri="{FF2B5EF4-FFF2-40B4-BE49-F238E27FC236}">
                <a16:creationId xmlns:a16="http://schemas.microsoft.com/office/drawing/2014/main" id="{BA9E5DE2-79F4-4CE5-8593-74F885FC9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4850" y="5713413"/>
            <a:ext cx="1677988" cy="758825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994662-3B0D-4D98-98ED-DADAA0D90CB3}"/>
              </a:ext>
            </a:extLst>
          </p:cNvPr>
          <p:cNvSpPr/>
          <p:nvPr/>
        </p:nvSpPr>
        <p:spPr bwMode="auto">
          <a:xfrm>
            <a:off x="9285288" y="5251450"/>
            <a:ext cx="1582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>
            <a:extLst>
              <a:ext uri="{FF2B5EF4-FFF2-40B4-BE49-F238E27FC236}">
                <a16:creationId xmlns:a16="http://schemas.microsoft.com/office/drawing/2014/main" id="{E27A0CFE-431B-4B75-BA5C-98BD95FC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3795" name="TextBox 2">
            <a:extLst>
              <a:ext uri="{FF2B5EF4-FFF2-40B4-BE49-F238E27FC236}">
                <a16:creationId xmlns:a16="http://schemas.microsoft.com/office/drawing/2014/main" id="{5F1E4798-0C5B-4E3E-9E39-9DF84004A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62450"/>
            <a:ext cx="4745038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826B67-4226-459B-AE0A-D3C570C5571A}"/>
              </a:ext>
            </a:extLst>
          </p:cNvPr>
          <p:cNvSpPr/>
          <p:nvPr/>
        </p:nvSpPr>
        <p:spPr>
          <a:xfrm>
            <a:off x="0" y="5211763"/>
            <a:ext cx="4295775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3797" name="组合 4">
            <a:extLst>
              <a:ext uri="{FF2B5EF4-FFF2-40B4-BE49-F238E27FC236}">
                <a16:creationId xmlns:a16="http://schemas.microsoft.com/office/drawing/2014/main" id="{4A50D72D-54A6-4C47-8F5E-75FF34F3F1E1}"/>
              </a:ext>
            </a:extLst>
          </p:cNvPr>
          <p:cNvGrpSpPr>
            <a:grpSpLocks/>
          </p:cNvGrpSpPr>
          <p:nvPr/>
        </p:nvGrpSpPr>
        <p:grpSpPr bwMode="auto">
          <a:xfrm>
            <a:off x="4822825" y="3175"/>
            <a:ext cx="7369175" cy="6854825"/>
            <a:chOff x="5582347" y="2786"/>
            <a:chExt cx="6609654" cy="6855214"/>
          </a:xfrm>
        </p:grpSpPr>
        <p:pic>
          <p:nvPicPr>
            <p:cNvPr id="33798" name="图片 3">
              <a:extLst>
                <a:ext uri="{FF2B5EF4-FFF2-40B4-BE49-F238E27FC236}">
                  <a16:creationId xmlns:a16="http://schemas.microsoft.com/office/drawing/2014/main" id="{654B8689-D809-45AF-B265-5D2A69C7F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82347" y="2786"/>
              <a:ext cx="6609654" cy="6855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799" name="矩形 4">
              <a:extLst>
                <a:ext uri="{FF2B5EF4-FFF2-40B4-BE49-F238E27FC236}">
                  <a16:creationId xmlns:a16="http://schemas.microsoft.com/office/drawing/2014/main" id="{4590854B-0660-4BEE-B0E7-911934F1D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775" y="5575099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45D741F-08D6-4060-A99B-7E5850FF6161}"/>
                </a:ext>
              </a:extLst>
            </p:cNvPr>
            <p:cNvSpPr/>
            <p:nvPr/>
          </p:nvSpPr>
          <p:spPr bwMode="auto">
            <a:xfrm>
              <a:off x="8343252" y="5113239"/>
              <a:ext cx="2571528" cy="46198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3801" name="矩形 4">
              <a:extLst>
                <a:ext uri="{FF2B5EF4-FFF2-40B4-BE49-F238E27FC236}">
                  <a16:creationId xmlns:a16="http://schemas.microsoft.com/office/drawing/2014/main" id="{9111C97F-A48A-4028-93C2-6C5FA942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97703" y="3724867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33802" name="矩形 10">
              <a:extLst>
                <a:ext uri="{FF2B5EF4-FFF2-40B4-BE49-F238E27FC236}">
                  <a16:creationId xmlns:a16="http://schemas.microsoft.com/office/drawing/2014/main" id="{9F3079A2-82F0-4A75-8801-F38D4CA8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0918" y="3879648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it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>
            <a:extLst>
              <a:ext uri="{FF2B5EF4-FFF2-40B4-BE49-F238E27FC236}">
                <a16:creationId xmlns:a16="http://schemas.microsoft.com/office/drawing/2014/main" id="{1357C640-0C1C-4CF5-9672-CF9E44ADE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34819" name="组合 3">
            <a:extLst>
              <a:ext uri="{FF2B5EF4-FFF2-40B4-BE49-F238E27FC236}">
                <a16:creationId xmlns:a16="http://schemas.microsoft.com/office/drawing/2014/main" id="{0DCCC5C4-B112-413F-AC3D-FEEC71307F04}"/>
              </a:ext>
            </a:extLst>
          </p:cNvPr>
          <p:cNvGrpSpPr>
            <a:grpSpLocks/>
          </p:cNvGrpSpPr>
          <p:nvPr/>
        </p:nvGrpSpPr>
        <p:grpSpPr bwMode="auto">
          <a:xfrm>
            <a:off x="6599238" y="0"/>
            <a:ext cx="5753100" cy="6858000"/>
            <a:chOff x="7549002" y="0"/>
            <a:chExt cx="3600770" cy="6858000"/>
          </a:xfrm>
        </p:grpSpPr>
        <p:pic>
          <p:nvPicPr>
            <p:cNvPr id="34821" name="图片 1">
              <a:extLst>
                <a:ext uri="{FF2B5EF4-FFF2-40B4-BE49-F238E27FC236}">
                  <a16:creationId xmlns:a16="http://schemas.microsoft.com/office/drawing/2014/main" id="{BB658FC6-7252-4058-AECA-E52BA562B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8"/>
            <a:stretch>
              <a:fillRect/>
            </a:stretch>
          </p:blipFill>
          <p:spPr bwMode="auto">
            <a:xfrm>
              <a:off x="7549002" y="0"/>
              <a:ext cx="3450809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2" name="矩形 4">
              <a:extLst>
                <a:ext uri="{FF2B5EF4-FFF2-40B4-BE49-F238E27FC236}">
                  <a16:creationId xmlns:a16="http://schemas.microsoft.com/office/drawing/2014/main" id="{2250957A-2932-449F-9A26-E9978AA87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2717" y="6483927"/>
              <a:ext cx="1792287" cy="357447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84A73AB-4F9A-4880-BE8D-7CCA71EE7E79}"/>
                </a:ext>
              </a:extLst>
            </p:cNvPr>
            <p:cNvSpPr/>
            <p:nvPr/>
          </p:nvSpPr>
          <p:spPr bwMode="auto">
            <a:xfrm>
              <a:off x="9556054" y="6086475"/>
              <a:ext cx="1593718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34824" name="矩形 4">
              <a:extLst>
                <a:ext uri="{FF2B5EF4-FFF2-40B4-BE49-F238E27FC236}">
                  <a16:creationId xmlns:a16="http://schemas.microsoft.com/office/drawing/2014/main" id="{09DD3549-6E74-426B-862E-216720581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934" y="906085"/>
              <a:ext cx="2332745" cy="413299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E7FBCA5-29D8-482B-923F-C1B253646E50}"/>
                </a:ext>
              </a:extLst>
            </p:cNvPr>
            <p:cNvSpPr/>
            <p:nvPr/>
          </p:nvSpPr>
          <p:spPr bwMode="auto">
            <a:xfrm>
              <a:off x="9399066" y="511175"/>
              <a:ext cx="1600673" cy="4603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61E07FD3-091A-4BB3-9BAD-E761027CBA5F}"/>
              </a:ext>
            </a:extLst>
          </p:cNvPr>
          <p:cNvSpPr/>
          <p:nvPr/>
        </p:nvSpPr>
        <p:spPr bwMode="auto">
          <a:xfrm>
            <a:off x="6599238" y="0"/>
            <a:ext cx="2233612" cy="5095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>
            <a:extLst>
              <a:ext uri="{FF2B5EF4-FFF2-40B4-BE49-F238E27FC236}">
                <a16:creationId xmlns:a16="http://schemas.microsoft.com/office/drawing/2014/main" id="{A36C1E55-AEEF-4042-BF71-1F23D0DD2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3. Do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Synthesis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and get the circuit –step4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35843" name="图片 2">
            <a:extLst>
              <a:ext uri="{FF2B5EF4-FFF2-40B4-BE49-F238E27FC236}">
                <a16:creationId xmlns:a16="http://schemas.microsoft.com/office/drawing/2014/main" id="{2E924E08-F95F-4429-BD0C-53B518420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23"/>
          <a:stretch>
            <a:fillRect/>
          </a:stretch>
        </p:blipFill>
        <p:spPr bwMode="auto">
          <a:xfrm>
            <a:off x="3184525" y="0"/>
            <a:ext cx="9007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9376CF9-F975-4C75-A3DB-0AF7BD21F9DE}"/>
              </a:ext>
            </a:extLst>
          </p:cNvPr>
          <p:cNvSpPr/>
          <p:nvPr/>
        </p:nvSpPr>
        <p:spPr>
          <a:xfrm>
            <a:off x="4197350" y="4968875"/>
            <a:ext cx="2873375" cy="8302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your circuit based the Verilog code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5121A025-C356-4C8D-9496-9C0047E1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36867" name="Rectangle 8">
            <a:extLst>
              <a:ext uri="{FF2B5EF4-FFF2-40B4-BE49-F238E27FC236}">
                <a16:creationId xmlns:a16="http://schemas.microsoft.com/office/drawing/2014/main" id="{E8DA03FE-1E86-4913-9C58-A6751FF4E4D6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6868" name="图片 1">
            <a:extLst>
              <a:ext uri="{FF2B5EF4-FFF2-40B4-BE49-F238E27FC236}">
                <a16:creationId xmlns:a16="http://schemas.microsoft.com/office/drawing/2014/main" id="{EED3E66E-E74D-44D6-ABC9-4A1515B2F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矩形 6">
            <a:extLst>
              <a:ext uri="{FF2B5EF4-FFF2-40B4-BE49-F238E27FC236}">
                <a16:creationId xmlns:a16="http://schemas.microsoft.com/office/drawing/2014/main" id="{D11543C1-C52C-4E62-97D6-2D031AEE5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4260850"/>
            <a:ext cx="1962150" cy="1087438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3">
            <a:extLst>
              <a:ext uri="{FF2B5EF4-FFF2-40B4-BE49-F238E27FC236}">
                <a16:creationId xmlns:a16="http://schemas.microsoft.com/office/drawing/2014/main" id="{6865139D-772D-469D-9B20-817E6239F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38" y="0"/>
            <a:ext cx="88820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标题 1">
            <a:extLst>
              <a:ext uri="{FF2B5EF4-FFF2-40B4-BE49-F238E27FC236}">
                <a16:creationId xmlns:a16="http://schemas.microsoft.com/office/drawing/2014/main" id="{F0B8A64A-8B76-46CB-932B-04D2CEA77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454E84-765E-4EC9-ABD3-7FF925ACC3EF}"/>
              </a:ext>
            </a:extLst>
          </p:cNvPr>
          <p:cNvSpPr/>
          <p:nvPr/>
        </p:nvSpPr>
        <p:spPr bwMode="auto">
          <a:xfrm>
            <a:off x="4968875" y="1819275"/>
            <a:ext cx="2498725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8F694F-D68A-4F39-8E31-891950B8A85B}"/>
              </a:ext>
            </a:extLst>
          </p:cNvPr>
          <p:cNvSpPr/>
          <p:nvPr/>
        </p:nvSpPr>
        <p:spPr bwMode="auto">
          <a:xfrm>
            <a:off x="3309938" y="2279650"/>
            <a:ext cx="3570287" cy="70326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39F425-1F45-49EF-AA46-9CB8AAF43904}"/>
              </a:ext>
            </a:extLst>
          </p:cNvPr>
          <p:cNvSpPr/>
          <p:nvPr/>
        </p:nvSpPr>
        <p:spPr bwMode="auto">
          <a:xfrm>
            <a:off x="7272338" y="6280150"/>
            <a:ext cx="4919662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9D5DDF-53B1-4087-A7F7-2C44FB122200}"/>
              </a:ext>
            </a:extLst>
          </p:cNvPr>
          <p:cNvSpPr/>
          <p:nvPr/>
        </p:nvSpPr>
        <p:spPr bwMode="auto">
          <a:xfrm>
            <a:off x="9856788" y="5818188"/>
            <a:ext cx="2233612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EACAB3-B2F7-43C9-88AD-0463EDE1F94D}"/>
              </a:ext>
            </a:extLst>
          </p:cNvPr>
          <p:cNvSpPr/>
          <p:nvPr/>
        </p:nvSpPr>
        <p:spPr bwMode="auto">
          <a:xfrm>
            <a:off x="3422650" y="8890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图片 5">
            <a:extLst>
              <a:ext uri="{FF2B5EF4-FFF2-40B4-BE49-F238E27FC236}">
                <a16:creationId xmlns:a16="http://schemas.microsoft.com/office/drawing/2014/main" id="{80E1194F-24AF-4BFD-8B9A-783BCBC18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2463" y="0"/>
            <a:ext cx="89995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5" name="标题 1">
            <a:extLst>
              <a:ext uri="{FF2B5EF4-FFF2-40B4-BE49-F238E27FC236}">
                <a16:creationId xmlns:a16="http://schemas.microsoft.com/office/drawing/2014/main" id="{FBB206E9-4C62-470D-A35D-629DD107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38916" name="矩形 4">
            <a:extLst>
              <a:ext uri="{FF2B5EF4-FFF2-40B4-BE49-F238E27FC236}">
                <a16:creationId xmlns:a16="http://schemas.microsoft.com/office/drawing/2014/main" id="{F0DAB97B-3B17-4210-8FFB-EE8FCA401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2300" y="6043613"/>
            <a:ext cx="1379538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536A881-9B6D-4662-8C42-E3452B4F6B6A}"/>
              </a:ext>
            </a:extLst>
          </p:cNvPr>
          <p:cNvSpPr/>
          <p:nvPr/>
        </p:nvSpPr>
        <p:spPr bwMode="auto">
          <a:xfrm>
            <a:off x="8680450" y="5581650"/>
            <a:ext cx="173196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8918" name="矩形 4">
            <a:extLst>
              <a:ext uri="{FF2B5EF4-FFF2-40B4-BE49-F238E27FC236}">
                <a16:creationId xmlns:a16="http://schemas.microsoft.com/office/drawing/2014/main" id="{76798D93-F556-4783-9B06-C14DD93F5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2128838"/>
            <a:ext cx="2451100" cy="38576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38919" name="矩形 10">
            <a:extLst>
              <a:ext uri="{FF2B5EF4-FFF2-40B4-BE49-F238E27FC236}">
                <a16:creationId xmlns:a16="http://schemas.microsoft.com/office/drawing/2014/main" id="{D3825046-A237-4506-A1EF-299B67EEB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538" y="2135188"/>
            <a:ext cx="28686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图片 5">
            <a:extLst>
              <a:ext uri="{FF2B5EF4-FFF2-40B4-BE49-F238E27FC236}">
                <a16:creationId xmlns:a16="http://schemas.microsoft.com/office/drawing/2014/main" id="{6DC4E950-BF58-4B87-A530-6FE4ECA81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338" y="0"/>
            <a:ext cx="90455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矩形 4">
            <a:extLst>
              <a:ext uri="{FF2B5EF4-FFF2-40B4-BE49-F238E27FC236}">
                <a16:creationId xmlns:a16="http://schemas.microsoft.com/office/drawing/2014/main" id="{D252A28E-D43D-4D34-9923-7D91BFE6C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75" y="3895725"/>
            <a:ext cx="1350963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B94741-9112-4D49-9CA1-9BC386014F51}"/>
              </a:ext>
            </a:extLst>
          </p:cNvPr>
          <p:cNvSpPr/>
          <p:nvPr/>
        </p:nvSpPr>
        <p:spPr bwMode="auto">
          <a:xfrm>
            <a:off x="8593138" y="3462338"/>
            <a:ext cx="17859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9941" name="标题 1">
            <a:extLst>
              <a:ext uri="{FF2B5EF4-FFF2-40B4-BE49-F238E27FC236}">
                <a16:creationId xmlns:a16="http://schemas.microsoft.com/office/drawing/2014/main" id="{C88B5E77-B970-4838-B774-FF2578E4D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图片 5">
            <a:extLst>
              <a:ext uri="{FF2B5EF4-FFF2-40B4-BE49-F238E27FC236}">
                <a16:creationId xmlns:a16="http://schemas.microsoft.com/office/drawing/2014/main" id="{2F68FBA2-7665-48FA-ADA8-DD953B2462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0"/>
            <a:ext cx="86566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B06C8D17-0CDA-4B95-A839-2B66C8B3A78E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5F5B4B-28E1-4719-ADAE-F7283E4032CF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0965" name="标题 1">
            <a:extLst>
              <a:ext uri="{FF2B5EF4-FFF2-40B4-BE49-F238E27FC236}">
                <a16:creationId xmlns:a16="http://schemas.microsoft.com/office/drawing/2014/main" id="{352B3DBC-E920-4EFF-A29B-51DE6E533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40966" name="矩形 4">
            <a:extLst>
              <a:ext uri="{FF2B5EF4-FFF2-40B4-BE49-F238E27FC236}">
                <a16:creationId xmlns:a16="http://schemas.microsoft.com/office/drawing/2014/main" id="{303EE529-3554-4304-A9BC-61DD9BFDE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C45EA38-F33D-4735-8786-C2B52F364EA6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5">
            <a:extLst>
              <a:ext uri="{FF2B5EF4-FFF2-40B4-BE49-F238E27FC236}">
                <a16:creationId xmlns:a16="http://schemas.microsoft.com/office/drawing/2014/main" id="{4B31D4C2-2D89-444A-99C4-E2177914C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-14288"/>
            <a:ext cx="8897937" cy="687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矩形 4">
            <a:extLst>
              <a:ext uri="{FF2B5EF4-FFF2-40B4-BE49-F238E27FC236}">
                <a16:creationId xmlns:a16="http://schemas.microsoft.com/office/drawing/2014/main" id="{75456E74-0797-45CF-8122-9D80399F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DA5B78-C476-422C-9383-6F28381D4D87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1989" name="标题 1">
            <a:extLst>
              <a:ext uri="{FF2B5EF4-FFF2-40B4-BE49-F238E27FC236}">
                <a16:creationId xmlns:a16="http://schemas.microsoft.com/office/drawing/2014/main" id="{9678E188-D378-491E-8187-F702F0A52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5">
            <a:extLst>
              <a:ext uri="{FF2B5EF4-FFF2-40B4-BE49-F238E27FC236}">
                <a16:creationId xmlns:a16="http://schemas.microsoft.com/office/drawing/2014/main" id="{F896526D-D55A-4E80-AE87-51F282DD4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913" y="0"/>
            <a:ext cx="895508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矩形 4">
            <a:extLst>
              <a:ext uri="{FF2B5EF4-FFF2-40B4-BE49-F238E27FC236}">
                <a16:creationId xmlns:a16="http://schemas.microsoft.com/office/drawing/2014/main" id="{9CDD4166-6999-4C99-91F1-BC3626B2D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9238" y="5870575"/>
            <a:ext cx="1325562" cy="6699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1379AA-E104-4EE0-9EF2-9BE2AD4107BE}"/>
              </a:ext>
            </a:extLst>
          </p:cNvPr>
          <p:cNvSpPr/>
          <p:nvPr/>
        </p:nvSpPr>
        <p:spPr bwMode="auto">
          <a:xfrm>
            <a:off x="8931275" y="5392738"/>
            <a:ext cx="19780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43013" name="组合 7">
            <a:extLst>
              <a:ext uri="{FF2B5EF4-FFF2-40B4-BE49-F238E27FC236}">
                <a16:creationId xmlns:a16="http://schemas.microsoft.com/office/drawing/2014/main" id="{0FCD1546-1C5F-4D0E-A079-D17D66965419}"/>
              </a:ext>
            </a:extLst>
          </p:cNvPr>
          <p:cNvGrpSpPr>
            <a:grpSpLocks/>
          </p:cNvGrpSpPr>
          <p:nvPr/>
        </p:nvGrpSpPr>
        <p:grpSpPr bwMode="auto">
          <a:xfrm>
            <a:off x="4992688" y="2051050"/>
            <a:ext cx="6934200" cy="1400175"/>
            <a:chOff x="4498368" y="2848218"/>
            <a:chExt cx="2848151" cy="56173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28B30D7-AC0E-4CD6-B8B1-92C8792664F0}"/>
                </a:ext>
              </a:extLst>
            </p:cNvPr>
            <p:cNvSpPr/>
            <p:nvPr/>
          </p:nvSpPr>
          <p:spPr bwMode="auto">
            <a:xfrm>
              <a:off x="4498368" y="3036736"/>
              <a:ext cx="2848151" cy="373214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A934E62-87FE-4CCE-B97F-57D097536DEC}"/>
                </a:ext>
              </a:extLst>
            </p:cNvPr>
            <p:cNvSpPr/>
            <p:nvPr/>
          </p:nvSpPr>
          <p:spPr>
            <a:xfrm>
              <a:off x="5876800" y="2848218"/>
              <a:ext cx="1293666" cy="1853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1. Add module name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43014" name="标题 1">
            <a:extLst>
              <a:ext uri="{FF2B5EF4-FFF2-40B4-BE49-F238E27FC236}">
                <a16:creationId xmlns:a16="http://schemas.microsoft.com/office/drawing/2014/main" id="{B1A42C54-E6C3-4253-A968-1D34A67A9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图片 6">
            <a:extLst>
              <a:ext uri="{FF2B5EF4-FFF2-40B4-BE49-F238E27FC236}">
                <a16:creationId xmlns:a16="http://schemas.microsoft.com/office/drawing/2014/main" id="{465CE771-E53F-4EE0-9020-F7E3AC8A6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588" y="1666875"/>
            <a:ext cx="7978775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矩形 4">
            <a:extLst>
              <a:ext uri="{FF2B5EF4-FFF2-40B4-BE49-F238E27FC236}">
                <a16:creationId xmlns:a16="http://schemas.microsoft.com/office/drawing/2014/main" id="{458088ED-08D6-42D5-B423-A9FD8317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3922713"/>
            <a:ext cx="1938337" cy="954087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60A0AB-EDB3-4687-95BF-53D8FAFD87E2}"/>
              </a:ext>
            </a:extLst>
          </p:cNvPr>
          <p:cNvSpPr/>
          <p:nvPr/>
        </p:nvSpPr>
        <p:spPr bwMode="auto">
          <a:xfrm>
            <a:off x="7366000" y="3460750"/>
            <a:ext cx="1978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037" name="标题 1">
            <a:extLst>
              <a:ext uri="{FF2B5EF4-FFF2-40B4-BE49-F238E27FC236}">
                <a16:creationId xmlns:a16="http://schemas.microsoft.com/office/drawing/2014/main" id="{ADD7E64B-724A-43B4-A8EB-4A8A5EB0F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-step7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2">
            <a:extLst>
              <a:ext uri="{FF2B5EF4-FFF2-40B4-BE49-F238E27FC236}">
                <a16:creationId xmlns:a16="http://schemas.microsoft.com/office/drawing/2014/main" id="{3A165134-20E0-4152-9EBF-F391283C9D31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0"/>
            <a:ext cx="9186862" cy="6858000"/>
            <a:chOff x="126538" y="2286001"/>
            <a:chExt cx="11961658" cy="4472054"/>
          </a:xfrm>
        </p:grpSpPr>
        <p:pic>
          <p:nvPicPr>
            <p:cNvPr id="45064" name="图片 1">
              <a:extLst>
                <a:ext uri="{FF2B5EF4-FFF2-40B4-BE49-F238E27FC236}">
                  <a16:creationId xmlns:a16="http://schemas.microsoft.com/office/drawing/2014/main" id="{EB8DA791-7A9F-4769-99C3-96EE18E9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538" y="2286001"/>
              <a:ext cx="11961658" cy="4472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C1F5607-D796-45B1-AA9D-D867F33B6040}"/>
                </a:ext>
              </a:extLst>
            </p:cNvPr>
            <p:cNvSpPr/>
            <p:nvPr/>
          </p:nvSpPr>
          <p:spPr>
            <a:xfrm>
              <a:off x="5785951" y="5657640"/>
              <a:ext cx="3823928" cy="10238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spcAft>
                  <a:spcPts val="0"/>
                </a:spcAft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 Copy  the  content in tb_decoder.txt  to this window, and complete the code</a:t>
              </a:r>
              <a:endPara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45059" name="标题 1">
            <a:extLst>
              <a:ext uri="{FF2B5EF4-FFF2-40B4-BE49-F238E27FC236}">
                <a16:creationId xmlns:a16="http://schemas.microsoft.com/office/drawing/2014/main" id="{AE8F60DC-E09D-4CE9-9F44-9633490C0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-step8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212585-95D6-4AD0-B25F-53BBE23FB8D3}"/>
              </a:ext>
            </a:extLst>
          </p:cNvPr>
          <p:cNvSpPr/>
          <p:nvPr/>
        </p:nvSpPr>
        <p:spPr bwMode="auto">
          <a:xfrm>
            <a:off x="3284538" y="2587625"/>
            <a:ext cx="1258887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126360-64BC-4005-B153-D533990AAC69}"/>
              </a:ext>
            </a:extLst>
          </p:cNvPr>
          <p:cNvSpPr/>
          <p:nvPr/>
        </p:nvSpPr>
        <p:spPr bwMode="auto">
          <a:xfrm>
            <a:off x="3749675" y="1736725"/>
            <a:ext cx="154940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6AE42C-1D55-4325-B86A-3728927C7E5F}"/>
              </a:ext>
            </a:extLst>
          </p:cNvPr>
          <p:cNvSpPr/>
          <p:nvPr/>
        </p:nvSpPr>
        <p:spPr bwMode="auto">
          <a:xfrm>
            <a:off x="5299075" y="5689600"/>
            <a:ext cx="1908175" cy="105092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DF9011-F6D5-44D0-B41A-4B57BC222A08}"/>
              </a:ext>
            </a:extLst>
          </p:cNvPr>
          <p:cNvSpPr/>
          <p:nvPr/>
        </p:nvSpPr>
        <p:spPr bwMode="auto">
          <a:xfrm>
            <a:off x="2955925" y="88900"/>
            <a:ext cx="793750" cy="404813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图片 1">
            <a:extLst>
              <a:ext uri="{FF2B5EF4-FFF2-40B4-BE49-F238E27FC236}">
                <a16:creationId xmlns:a16="http://schemas.microsoft.com/office/drawing/2014/main" id="{A1D314FB-547B-40D2-B7D6-5B500AF61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388" y="198438"/>
            <a:ext cx="6327775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标题 1">
            <a:extLst>
              <a:ext uri="{FF2B5EF4-FFF2-40B4-BE49-F238E27FC236}">
                <a16:creationId xmlns:a16="http://schemas.microsoft.com/office/drawing/2014/main" id="{154C3032-83D3-405A-9386-5B51D5CFA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-step9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56E8FDE-CF0F-44DA-B2F1-79E69D547304}"/>
              </a:ext>
            </a:extLst>
          </p:cNvPr>
          <p:cNvSpPr/>
          <p:nvPr/>
        </p:nvSpPr>
        <p:spPr bwMode="auto">
          <a:xfrm>
            <a:off x="6432550" y="5302250"/>
            <a:ext cx="1192213" cy="2921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816D9E5-3836-43F1-9658-715B6F87E6DE}"/>
              </a:ext>
            </a:extLst>
          </p:cNvPr>
          <p:cNvSpPr/>
          <p:nvPr/>
        </p:nvSpPr>
        <p:spPr bwMode="auto">
          <a:xfrm>
            <a:off x="5022850" y="2125663"/>
            <a:ext cx="1409700" cy="3079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文本框 3">
            <a:extLst>
              <a:ext uri="{FF2B5EF4-FFF2-40B4-BE49-F238E27FC236}">
                <a16:creationId xmlns:a16="http://schemas.microsoft.com/office/drawing/2014/main" id="{FA89565A-8728-456C-97B8-61A16DBF385E}"/>
              </a:ext>
            </a:extLst>
          </p:cNvPr>
          <p:cNvSpPr txBox="1"/>
          <p:nvPr/>
        </p:nvSpPr>
        <p:spPr>
          <a:xfrm>
            <a:off x="3184525" y="2047875"/>
            <a:ext cx="2322513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1.Right- 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9" name="文本框 8">
            <a:extLst>
              <a:ext uri="{FF2B5EF4-FFF2-40B4-BE49-F238E27FC236}">
                <a16:creationId xmlns:a16="http://schemas.microsoft.com/office/drawing/2014/main" id="{45C9F8FB-4206-4B2F-87A9-4CBA4D7A576A}"/>
              </a:ext>
            </a:extLst>
          </p:cNvPr>
          <p:cNvSpPr txBox="1"/>
          <p:nvPr/>
        </p:nvSpPr>
        <p:spPr>
          <a:xfrm>
            <a:off x="7693025" y="5218113"/>
            <a:ext cx="1287463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2.Click</a:t>
            </a:r>
            <a:endParaRPr lang="zh-CN" altLang="en-US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图片 1">
            <a:extLst>
              <a:ext uri="{FF2B5EF4-FFF2-40B4-BE49-F238E27FC236}">
                <a16:creationId xmlns:a16="http://schemas.microsoft.com/office/drawing/2014/main" id="{529C5CD8-C3D5-499F-A853-D9F3F297C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702" b="32405"/>
          <a:stretch>
            <a:fillRect/>
          </a:stretch>
        </p:blipFill>
        <p:spPr bwMode="auto">
          <a:xfrm>
            <a:off x="3513138" y="103188"/>
            <a:ext cx="8777287" cy="675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5823CBD-B2EA-465F-B1EB-2BD60ABEE1D5}"/>
              </a:ext>
            </a:extLst>
          </p:cNvPr>
          <p:cNvSpPr/>
          <p:nvPr/>
        </p:nvSpPr>
        <p:spPr bwMode="auto">
          <a:xfrm>
            <a:off x="6632575" y="124460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0C9FDD-268F-442B-90A6-B78F21AEE9FA}"/>
              </a:ext>
            </a:extLst>
          </p:cNvPr>
          <p:cNvSpPr/>
          <p:nvPr/>
        </p:nvSpPr>
        <p:spPr bwMode="auto">
          <a:xfrm>
            <a:off x="4216400" y="1384300"/>
            <a:ext cx="2416175" cy="7016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7586FC-E5A5-417D-968B-456C8CE6E0D6}"/>
              </a:ext>
            </a:extLst>
          </p:cNvPr>
          <p:cNvSpPr/>
          <p:nvPr/>
        </p:nvSpPr>
        <p:spPr bwMode="auto">
          <a:xfrm>
            <a:off x="5984875" y="2198688"/>
            <a:ext cx="3886200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82201A-89B5-4AF2-84AD-152A0755DBD9}"/>
              </a:ext>
            </a:extLst>
          </p:cNvPr>
          <p:cNvSpPr/>
          <p:nvPr/>
        </p:nvSpPr>
        <p:spPr bwMode="auto">
          <a:xfrm>
            <a:off x="9871075" y="2278063"/>
            <a:ext cx="2103438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7111" name="标题 1">
            <a:extLst>
              <a:ext uri="{FF2B5EF4-FFF2-40B4-BE49-F238E27FC236}">
                <a16:creationId xmlns:a16="http://schemas.microsoft.com/office/drawing/2014/main" id="{9B61E04D-D7B6-4526-8660-83B43D461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4.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-step10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D205ED-12AC-4A15-BBF0-28EA4FEACB17}"/>
              </a:ext>
            </a:extLst>
          </p:cNvPr>
          <p:cNvSpPr/>
          <p:nvPr/>
        </p:nvSpPr>
        <p:spPr bwMode="auto">
          <a:xfrm>
            <a:off x="3625850" y="398463"/>
            <a:ext cx="2193925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4">
            <a:extLst>
              <a:ext uri="{FF2B5EF4-FFF2-40B4-BE49-F238E27FC236}">
                <a16:creationId xmlns:a16="http://schemas.microsoft.com/office/drawing/2014/main" id="{FC04156D-21D8-4FC1-ACD5-39ADFEB59A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88" y="0"/>
            <a:ext cx="9637712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408EFC1-7619-4F66-823C-13D74B35FD76}"/>
              </a:ext>
            </a:extLst>
          </p:cNvPr>
          <p:cNvSpPr/>
          <p:nvPr/>
        </p:nvSpPr>
        <p:spPr>
          <a:xfrm>
            <a:off x="8520113" y="4229100"/>
            <a:ext cx="2873375" cy="1568450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Observe the variation of signals. Make sure all of these are  right.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8132" name="标题 1">
            <a:extLst>
              <a:ext uri="{FF2B5EF4-FFF2-40B4-BE49-F238E27FC236}">
                <a16:creationId xmlns:a16="http://schemas.microsoft.com/office/drawing/2014/main" id="{5217F509-ACDB-4A28-9D0E-FBB4FAF3A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941388"/>
            <a:ext cx="2443163" cy="254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5.  Do the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simulation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 and debug. 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12CF44-C4DB-4D14-88D4-57307A7C5A59}"/>
              </a:ext>
            </a:extLst>
          </p:cNvPr>
          <p:cNvSpPr/>
          <p:nvPr/>
        </p:nvSpPr>
        <p:spPr bwMode="auto">
          <a:xfrm>
            <a:off x="6743700" y="681038"/>
            <a:ext cx="438150" cy="32543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48D923-8C6F-425B-B88F-793E9A0B2344}"/>
              </a:ext>
            </a:extLst>
          </p:cNvPr>
          <p:cNvSpPr/>
          <p:nvPr/>
        </p:nvSpPr>
        <p:spPr bwMode="auto">
          <a:xfrm>
            <a:off x="6426200" y="2105025"/>
            <a:ext cx="423863" cy="23971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440029-B8B7-4228-9C30-D9439BA06923}"/>
              </a:ext>
            </a:extLst>
          </p:cNvPr>
          <p:cNvSpPr/>
          <p:nvPr/>
        </p:nvSpPr>
        <p:spPr bwMode="auto">
          <a:xfrm>
            <a:off x="7181850" y="757238"/>
            <a:ext cx="3233738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zoom the window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BE4650-7A0F-4858-B261-19FABE2D6801}"/>
              </a:ext>
            </a:extLst>
          </p:cNvPr>
          <p:cNvSpPr/>
          <p:nvPr/>
        </p:nvSpPr>
        <p:spPr bwMode="auto">
          <a:xfrm>
            <a:off x="4222750" y="2344738"/>
            <a:ext cx="252095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 to see bit 0~7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9AB736A6-34B7-49CE-85AA-4588C37E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423863"/>
            <a:ext cx="5245100" cy="84931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FPGA Design Flow</a:t>
            </a:r>
          </a:p>
        </p:txBody>
      </p:sp>
      <p:sp>
        <p:nvSpPr>
          <p:cNvPr id="49155" name="Rectangle 8">
            <a:extLst>
              <a:ext uri="{FF2B5EF4-FFF2-40B4-BE49-F238E27FC236}">
                <a16:creationId xmlns:a16="http://schemas.microsoft.com/office/drawing/2014/main" id="{1D20959A-3A37-4591-8C40-642FC0ACA20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339263" y="13985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49156" name="图片 1">
            <a:extLst>
              <a:ext uri="{FF2B5EF4-FFF2-40B4-BE49-F238E27FC236}">
                <a16:creationId xmlns:a16="http://schemas.microsoft.com/office/drawing/2014/main" id="{EC010C63-144A-4B33-AFA9-B96235034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-439738"/>
            <a:ext cx="4476750" cy="749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7" name="矩形 6">
            <a:extLst>
              <a:ext uri="{FF2B5EF4-FFF2-40B4-BE49-F238E27FC236}">
                <a16:creationId xmlns:a16="http://schemas.microsoft.com/office/drawing/2014/main" id="{0FF17DE0-F722-46C1-B370-9FF56CAF7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5684838"/>
            <a:ext cx="1962150" cy="1087437"/>
          </a:xfrm>
          <a:prstGeom prst="rect">
            <a:avLst/>
          </a:prstGeom>
          <a:noFill/>
          <a:ln w="571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3">
            <a:extLst>
              <a:ext uri="{FF2B5EF4-FFF2-40B4-BE49-F238E27FC236}">
                <a16:creationId xmlns:a16="http://schemas.microsoft.com/office/drawing/2014/main" id="{B7795C9F-5DA8-4CEE-9E66-6C24B97155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D5E473EB-7005-49F9-A142-200AF49027AB}" type="slidenum">
              <a:rPr lang="zh-CN" altLang="en-US" smtClean="0">
                <a:solidFill>
                  <a:srgbClr val="898989"/>
                </a:solidFill>
              </a:rPr>
              <a:pPr algn="ctr"/>
              <a:t>53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0179" name="图片 2">
            <a:extLst>
              <a:ext uri="{FF2B5EF4-FFF2-40B4-BE49-F238E27FC236}">
                <a16:creationId xmlns:a16="http://schemas.microsoft.com/office/drawing/2014/main" id="{A25DFE2C-7C59-4DA2-BA59-3C7A2013C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200" y="-57150"/>
            <a:ext cx="8591550" cy="692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43C28E2-F6C9-4506-936C-5A7627851DCC}"/>
              </a:ext>
            </a:extLst>
          </p:cNvPr>
          <p:cNvSpPr/>
          <p:nvPr/>
        </p:nvSpPr>
        <p:spPr bwMode="auto">
          <a:xfrm>
            <a:off x="6632575" y="2278063"/>
            <a:ext cx="2070100" cy="461962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E5B8B46-C11F-470A-9998-AAC7659D7F24}"/>
              </a:ext>
            </a:extLst>
          </p:cNvPr>
          <p:cNvSpPr/>
          <p:nvPr/>
        </p:nvSpPr>
        <p:spPr bwMode="auto">
          <a:xfrm>
            <a:off x="4216400" y="2157413"/>
            <a:ext cx="2416175" cy="70326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9B283C-2E88-4E75-AC12-D8B02400EE52}"/>
              </a:ext>
            </a:extLst>
          </p:cNvPr>
          <p:cNvSpPr/>
          <p:nvPr/>
        </p:nvSpPr>
        <p:spPr bwMode="auto">
          <a:xfrm>
            <a:off x="5984875" y="6232525"/>
            <a:ext cx="2535238" cy="6223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BFA8643-5637-4B64-8E81-EC2A4CB08C6F}"/>
              </a:ext>
            </a:extLst>
          </p:cNvPr>
          <p:cNvSpPr/>
          <p:nvPr/>
        </p:nvSpPr>
        <p:spPr bwMode="auto">
          <a:xfrm>
            <a:off x="8702675" y="6311900"/>
            <a:ext cx="2103438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0184" name="标题 1">
            <a:extLst>
              <a:ext uri="{FF2B5EF4-FFF2-40B4-BE49-F238E27FC236}">
                <a16:creationId xmlns:a16="http://schemas.microsoft.com/office/drawing/2014/main" id="{CF94DFEF-1408-41CE-83B6-2B4A390A8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B2B16C4-0BDA-4D30-A15D-34CD33051989}"/>
              </a:ext>
            </a:extLst>
          </p:cNvPr>
          <p:cNvSpPr/>
          <p:nvPr/>
        </p:nvSpPr>
        <p:spPr bwMode="auto">
          <a:xfrm>
            <a:off x="3632200" y="0"/>
            <a:ext cx="1485900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D3D6F37A-1DA8-45A3-86C7-B895C0A13C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0E10066E-D8DC-4D7C-BEDD-309E5639D06D}" type="slidenum">
              <a:rPr lang="zh-CN" altLang="en-US" smtClean="0">
                <a:solidFill>
                  <a:srgbClr val="898989"/>
                </a:solidFill>
              </a:rPr>
              <a:pPr algn="ctr"/>
              <a:t>54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1203" name="图片 5">
            <a:extLst>
              <a:ext uri="{FF2B5EF4-FFF2-40B4-BE49-F238E27FC236}">
                <a16:creationId xmlns:a16="http://schemas.microsoft.com/office/drawing/2014/main" id="{A2C4ED77-85E8-46F4-B5D6-3A71AE8E5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0"/>
            <a:ext cx="8491537" cy="678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4" name="标题 1">
            <a:extLst>
              <a:ext uri="{FF2B5EF4-FFF2-40B4-BE49-F238E27FC236}">
                <a16:creationId xmlns:a16="http://schemas.microsoft.com/office/drawing/2014/main" id="{259492DE-C68B-4458-AB3B-D459DB42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1205" name="矩形 4">
            <a:extLst>
              <a:ext uri="{FF2B5EF4-FFF2-40B4-BE49-F238E27FC236}">
                <a16:creationId xmlns:a16="http://schemas.microsoft.com/office/drawing/2014/main" id="{F96F2A10-C666-461F-A3F5-A7AB19942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6043613"/>
            <a:ext cx="113030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7B5A33-FA1A-4736-B926-7DCFAF24F39D}"/>
              </a:ext>
            </a:extLst>
          </p:cNvPr>
          <p:cNvSpPr/>
          <p:nvPr/>
        </p:nvSpPr>
        <p:spPr bwMode="auto">
          <a:xfrm>
            <a:off x="9172575" y="5581650"/>
            <a:ext cx="17335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1207" name="矩形 4">
            <a:extLst>
              <a:ext uri="{FF2B5EF4-FFF2-40B4-BE49-F238E27FC236}">
                <a16:creationId xmlns:a16="http://schemas.microsoft.com/office/drawing/2014/main" id="{05A11D6F-114D-4282-9452-B6D4D7987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0225" y="1317625"/>
            <a:ext cx="1790700" cy="47625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1208" name="矩形 10">
            <a:extLst>
              <a:ext uri="{FF2B5EF4-FFF2-40B4-BE49-F238E27FC236}">
                <a16:creationId xmlns:a16="http://schemas.microsoft.com/office/drawing/2014/main" id="{160EC678-2BDF-47A1-9C7A-D878694C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0925" y="1331913"/>
            <a:ext cx="2868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</a:rPr>
              <a:t>1.Choose it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3">
            <a:extLst>
              <a:ext uri="{FF2B5EF4-FFF2-40B4-BE49-F238E27FC236}">
                <a16:creationId xmlns:a16="http://schemas.microsoft.com/office/drawing/2014/main" id="{0C2F7F4F-0F9D-4A78-BE3C-95C090313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CC90F9E-9151-4DE6-807E-CF172C22C474}" type="slidenum">
              <a:rPr lang="zh-CN" altLang="en-US" smtClean="0">
                <a:solidFill>
                  <a:srgbClr val="898989"/>
                </a:solidFill>
              </a:rPr>
              <a:pPr algn="ctr"/>
              <a:t>55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2227" name="图片 1">
            <a:extLst>
              <a:ext uri="{FF2B5EF4-FFF2-40B4-BE49-F238E27FC236}">
                <a16:creationId xmlns:a16="http://schemas.microsoft.com/office/drawing/2014/main" id="{7F3E47C4-F530-440F-B9B2-5884273B7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575" y="-50800"/>
            <a:ext cx="8607425" cy="690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8" name="标题 1">
            <a:extLst>
              <a:ext uri="{FF2B5EF4-FFF2-40B4-BE49-F238E27FC236}">
                <a16:creationId xmlns:a16="http://schemas.microsoft.com/office/drawing/2014/main" id="{AD510D73-0D78-45F1-8229-B80B5C40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2229" name="矩形 4">
            <a:extLst>
              <a:ext uri="{FF2B5EF4-FFF2-40B4-BE49-F238E27FC236}">
                <a16:creationId xmlns:a16="http://schemas.microsoft.com/office/drawing/2014/main" id="{64AF4D32-BD25-4C5F-A4B6-5D0F3EAA4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4824413"/>
            <a:ext cx="1349375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44C3E7-5546-43DB-A370-0B090FCD67A4}"/>
              </a:ext>
            </a:extLst>
          </p:cNvPr>
          <p:cNvSpPr/>
          <p:nvPr/>
        </p:nvSpPr>
        <p:spPr bwMode="auto">
          <a:xfrm>
            <a:off x="7924800" y="4391025"/>
            <a:ext cx="17859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id="{70638D9A-51CD-4BED-9BE3-EEF73AECD4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6EB3D300-CC33-4029-9026-188D5AA9A4A1}" type="slidenum">
              <a:rPr lang="zh-CN" altLang="en-US" smtClean="0">
                <a:solidFill>
                  <a:srgbClr val="898989"/>
                </a:solidFill>
              </a:rPr>
              <a:pPr algn="ctr"/>
              <a:t>56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3251" name="图片 10">
            <a:extLst>
              <a:ext uri="{FF2B5EF4-FFF2-40B4-BE49-F238E27FC236}">
                <a16:creationId xmlns:a16="http://schemas.microsoft.com/office/drawing/2014/main" id="{DD7B762F-8195-4A3F-B5FD-46CA28376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0"/>
            <a:ext cx="8623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383ACF4-3D17-4324-AD6A-A3589C279204}"/>
              </a:ext>
            </a:extLst>
          </p:cNvPr>
          <p:cNvSpPr/>
          <p:nvPr/>
        </p:nvSpPr>
        <p:spPr bwMode="auto">
          <a:xfrm>
            <a:off x="5805488" y="3414713"/>
            <a:ext cx="5692775" cy="9302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2BCD30-1775-44F3-9E8F-47A597E5D00B}"/>
              </a:ext>
            </a:extLst>
          </p:cNvPr>
          <p:cNvSpPr/>
          <p:nvPr/>
        </p:nvSpPr>
        <p:spPr bwMode="auto">
          <a:xfrm>
            <a:off x="8486775" y="2967038"/>
            <a:ext cx="2576513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Add file name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4" name="矩形 4">
            <a:extLst>
              <a:ext uri="{FF2B5EF4-FFF2-40B4-BE49-F238E27FC236}">
                <a16:creationId xmlns:a16="http://schemas.microsoft.com/office/drawing/2014/main" id="{33BB840C-00E1-4A8D-AB08-2539E789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5440363"/>
            <a:ext cx="2160587" cy="900112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FE66805-D2D3-4709-A300-4A8B2F4AC93A}"/>
              </a:ext>
            </a:extLst>
          </p:cNvPr>
          <p:cNvSpPr/>
          <p:nvPr/>
        </p:nvSpPr>
        <p:spPr bwMode="auto">
          <a:xfrm>
            <a:off x="7848600" y="5006975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 2. 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3256" name="标题 1">
            <a:extLst>
              <a:ext uri="{FF2B5EF4-FFF2-40B4-BE49-F238E27FC236}">
                <a16:creationId xmlns:a16="http://schemas.microsoft.com/office/drawing/2014/main" id="{5B94B14B-03AF-4E30-BE68-A2242D366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-step4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3">
            <a:extLst>
              <a:ext uri="{FF2B5EF4-FFF2-40B4-BE49-F238E27FC236}">
                <a16:creationId xmlns:a16="http://schemas.microsoft.com/office/drawing/2014/main" id="{82E58F73-71A7-4C96-ACD7-45471E7BF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52950" y="6356350"/>
            <a:ext cx="30861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fld id="{78853D62-BB73-47D8-8C10-229BA10A349D}" type="slidenum">
              <a:rPr lang="zh-CN" altLang="en-US" smtClean="0">
                <a:solidFill>
                  <a:srgbClr val="898989"/>
                </a:solidFill>
              </a:rPr>
              <a:pPr algn="ctr"/>
              <a:t>57</a:t>
            </a:fld>
            <a:endParaRPr lang="zh-CN" altLang="en-US">
              <a:solidFill>
                <a:srgbClr val="898989"/>
              </a:solidFill>
            </a:endParaRPr>
          </a:p>
        </p:txBody>
      </p:sp>
      <p:pic>
        <p:nvPicPr>
          <p:cNvPr id="54275" name="图片 5">
            <a:extLst>
              <a:ext uri="{FF2B5EF4-FFF2-40B4-BE49-F238E27FC236}">
                <a16:creationId xmlns:a16="http://schemas.microsoft.com/office/drawing/2014/main" id="{14200C0D-FDD1-47D5-9210-30BD3098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9200" y="0"/>
            <a:ext cx="84328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标题 1">
            <a:extLst>
              <a:ext uri="{FF2B5EF4-FFF2-40B4-BE49-F238E27FC236}">
                <a16:creationId xmlns:a16="http://schemas.microsoft.com/office/drawing/2014/main" id="{3D9AFB80-9F62-4E1B-8B2F-7C7AFFB16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-step5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4277" name="矩形 4">
            <a:extLst>
              <a:ext uri="{FF2B5EF4-FFF2-40B4-BE49-F238E27FC236}">
                <a16:creationId xmlns:a16="http://schemas.microsoft.com/office/drawing/2014/main" id="{8D70C9F2-C883-4566-8EFD-93090249C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525" y="6043613"/>
            <a:ext cx="1377950" cy="609600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272613-8209-4FA6-9C8B-107E4D238206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图片 1">
            <a:extLst>
              <a:ext uri="{FF2B5EF4-FFF2-40B4-BE49-F238E27FC236}">
                <a16:creationId xmlns:a16="http://schemas.microsoft.com/office/drawing/2014/main" id="{8E474CF2-DC61-403A-8713-1E7589885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3" y="0"/>
            <a:ext cx="93170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F3C9848-C18E-4960-9379-CDD1D6175655}"/>
              </a:ext>
            </a:extLst>
          </p:cNvPr>
          <p:cNvSpPr/>
          <p:nvPr/>
        </p:nvSpPr>
        <p:spPr bwMode="auto">
          <a:xfrm>
            <a:off x="3095625" y="1755775"/>
            <a:ext cx="1258888" cy="5191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3F7EFF-71AB-4F45-869D-2E9FC61C52BD}"/>
              </a:ext>
            </a:extLst>
          </p:cNvPr>
          <p:cNvSpPr/>
          <p:nvPr/>
        </p:nvSpPr>
        <p:spPr bwMode="auto">
          <a:xfrm>
            <a:off x="3725863" y="925513"/>
            <a:ext cx="1549400" cy="8302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Double 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70F67B-B0E1-4FF7-848F-62A19D338585}"/>
              </a:ext>
            </a:extLst>
          </p:cNvPr>
          <p:cNvSpPr/>
          <p:nvPr/>
        </p:nvSpPr>
        <p:spPr bwMode="auto">
          <a:xfrm>
            <a:off x="6645275" y="2840038"/>
            <a:ext cx="293528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Copy  the  content in PINS_SET.txt  to this window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5302" name="标题 1">
            <a:extLst>
              <a:ext uri="{FF2B5EF4-FFF2-40B4-BE49-F238E27FC236}">
                <a16:creationId xmlns:a16="http://schemas.microsoft.com/office/drawing/2014/main" id="{D304A86E-DD15-4D0F-B770-B2BF41ABB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1385888"/>
            <a:ext cx="2559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6. Create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Constraint </a:t>
            </a: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Source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</a:t>
            </a:r>
            <a:b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</a:b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-step6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D61992-5E67-4502-BC7B-22C33EDF92DC}"/>
              </a:ext>
            </a:extLst>
          </p:cNvPr>
          <p:cNvSpPr/>
          <p:nvPr/>
        </p:nvSpPr>
        <p:spPr bwMode="auto">
          <a:xfrm>
            <a:off x="2862263" y="0"/>
            <a:ext cx="620712" cy="434975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矩形 1">
            <a:extLst>
              <a:ext uri="{FF2B5EF4-FFF2-40B4-BE49-F238E27FC236}">
                <a16:creationId xmlns:a16="http://schemas.microsoft.com/office/drawing/2014/main" id="{56159282-BAEA-41C7-9BF6-EF8F68BE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6323" name="矩形 5">
            <a:extLst>
              <a:ext uri="{FF2B5EF4-FFF2-40B4-BE49-F238E27FC236}">
                <a16:creationId xmlns:a16="http://schemas.microsoft.com/office/drawing/2014/main" id="{A8D9A938-AA11-4080-89FB-F00E5BDF1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6324" name="组合 12">
            <a:extLst>
              <a:ext uri="{FF2B5EF4-FFF2-40B4-BE49-F238E27FC236}">
                <a16:creationId xmlns:a16="http://schemas.microsoft.com/office/drawing/2014/main" id="{5CB0BC78-7B76-495D-BD28-8C6D51F0B856}"/>
              </a:ext>
            </a:extLst>
          </p:cNvPr>
          <p:cNvGrpSpPr>
            <a:grpSpLocks/>
          </p:cNvGrpSpPr>
          <p:nvPr/>
        </p:nvGrpSpPr>
        <p:grpSpPr bwMode="auto">
          <a:xfrm>
            <a:off x="4513263" y="0"/>
            <a:ext cx="7678737" cy="6858000"/>
            <a:chOff x="403142" y="1590238"/>
            <a:chExt cx="2125273" cy="2658348"/>
          </a:xfrm>
        </p:grpSpPr>
        <p:pic>
          <p:nvPicPr>
            <p:cNvPr id="56328" name="图片 1">
              <a:extLst>
                <a:ext uri="{FF2B5EF4-FFF2-40B4-BE49-F238E27FC236}">
                  <a16:creationId xmlns:a16="http://schemas.microsoft.com/office/drawing/2014/main" id="{2E41594B-889A-491A-A802-FD2795912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942"/>
            <a:stretch>
              <a:fillRect/>
            </a:stretch>
          </p:blipFill>
          <p:spPr bwMode="auto">
            <a:xfrm>
              <a:off x="403142" y="1590238"/>
              <a:ext cx="2125273" cy="265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329" name="矩形 6">
              <a:extLst>
                <a:ext uri="{FF2B5EF4-FFF2-40B4-BE49-F238E27FC236}">
                  <a16:creationId xmlns:a16="http://schemas.microsoft.com/office/drawing/2014/main" id="{8A119177-40CE-4264-9603-A75C5FD8D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226" y="3733014"/>
              <a:ext cx="992139" cy="262372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E7119895-3146-4DD1-AA21-E73D5400DB92}"/>
              </a:ext>
            </a:extLst>
          </p:cNvPr>
          <p:cNvSpPr/>
          <p:nvPr/>
        </p:nvSpPr>
        <p:spPr bwMode="auto">
          <a:xfrm>
            <a:off x="9971088" y="5581650"/>
            <a:ext cx="173196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56326" name="标题 1">
            <a:extLst>
              <a:ext uri="{FF2B5EF4-FFF2-40B4-BE49-F238E27FC236}">
                <a16:creationId xmlns:a16="http://schemas.microsoft.com/office/drawing/2014/main" id="{5F7E4258-8DA0-4B69-B748-DAFFB0EA2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5B6FF4-6BB1-4661-BAAB-D9E258D8F6A1}"/>
              </a:ext>
            </a:extLst>
          </p:cNvPr>
          <p:cNvSpPr/>
          <p:nvPr/>
        </p:nvSpPr>
        <p:spPr bwMode="auto">
          <a:xfrm>
            <a:off x="5310188" y="4819650"/>
            <a:ext cx="4381500" cy="560388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图片 5">
            <a:extLst>
              <a:ext uri="{FF2B5EF4-FFF2-40B4-BE49-F238E27FC236}">
                <a16:creationId xmlns:a16="http://schemas.microsoft.com/office/drawing/2014/main" id="{0D4FEEF0-ACAD-4BA0-B3D2-70AAAEC45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1473200"/>
            <a:ext cx="7967662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8AE0A9-7CE6-4D7F-97DE-0CE8ED797E02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7348" name="矩形 5">
            <a:extLst>
              <a:ext uri="{FF2B5EF4-FFF2-40B4-BE49-F238E27FC236}">
                <a16:creationId xmlns:a16="http://schemas.microsoft.com/office/drawing/2014/main" id="{EC0D9E67-BD0F-40C5-8969-20F5B3AF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7349" name="标题 1">
            <a:extLst>
              <a:ext uri="{FF2B5EF4-FFF2-40B4-BE49-F238E27FC236}">
                <a16:creationId xmlns:a16="http://schemas.microsoft.com/office/drawing/2014/main" id="{DC52EAA4-B34D-4166-8CF8-51C9BF2A9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57350" name="矩形 4">
            <a:extLst>
              <a:ext uri="{FF2B5EF4-FFF2-40B4-BE49-F238E27FC236}">
                <a16:creationId xmlns:a16="http://schemas.microsoft.com/office/drawing/2014/main" id="{98EF6B65-0A24-45AD-AE3C-B1C7550AD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7825" y="3827463"/>
            <a:ext cx="1377950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1689EC-A23B-47F5-BA25-0A0F5CF60A5F}"/>
              </a:ext>
            </a:extLst>
          </p:cNvPr>
          <p:cNvSpPr/>
          <p:nvPr/>
        </p:nvSpPr>
        <p:spPr bwMode="auto">
          <a:xfrm>
            <a:off x="9775825" y="3365500"/>
            <a:ext cx="19764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Box 2">
            <a:extLst>
              <a:ext uri="{FF2B5EF4-FFF2-40B4-BE49-F238E27FC236}">
                <a16:creationId xmlns:a16="http://schemas.microsoft.com/office/drawing/2014/main" id="{31C8A102-0456-4615-9C1A-B02F69E786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6738"/>
            <a:ext cx="4260850" cy="2495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8371" name="矩形 1">
            <a:extLst>
              <a:ext uri="{FF2B5EF4-FFF2-40B4-BE49-F238E27FC236}">
                <a16:creationId xmlns:a16="http://schemas.microsoft.com/office/drawing/2014/main" id="{863FA524-908B-46F2-9B54-7D05C4141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3644900"/>
            <a:ext cx="863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97A572-DA20-493F-B87C-3CD0391DC2CA}"/>
              </a:ext>
            </a:extLst>
          </p:cNvPr>
          <p:cNvSpPr/>
          <p:nvPr/>
        </p:nvSpPr>
        <p:spPr bwMode="auto">
          <a:xfrm>
            <a:off x="8548688" y="2338388"/>
            <a:ext cx="719137" cy="449262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lIns="92075" tIns="46038" rIns="92075" bIns="46038" anchor="ctr"/>
          <a:lstStyle/>
          <a:p>
            <a:pPr algn="ctr">
              <a:defRPr/>
            </a:pPr>
            <a:endParaRPr kumimoji="1" lang="zh-CN" altLang="en-US" sz="1600" b="1"/>
          </a:p>
        </p:txBody>
      </p:sp>
      <p:sp>
        <p:nvSpPr>
          <p:cNvPr id="58373" name="矩形 5">
            <a:extLst>
              <a:ext uri="{FF2B5EF4-FFF2-40B4-BE49-F238E27FC236}">
                <a16:creationId xmlns:a16="http://schemas.microsoft.com/office/drawing/2014/main" id="{EF63EF2E-E555-4E11-A2EF-BD01CB8AB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363" y="6183313"/>
            <a:ext cx="576262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grpSp>
        <p:nvGrpSpPr>
          <p:cNvPr id="58374" name="组合 9">
            <a:extLst>
              <a:ext uri="{FF2B5EF4-FFF2-40B4-BE49-F238E27FC236}">
                <a16:creationId xmlns:a16="http://schemas.microsoft.com/office/drawing/2014/main" id="{3CC951E7-3681-4439-81A1-E90AD2E875AD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4375150"/>
            <a:ext cx="4006850" cy="1274763"/>
            <a:chOff x="1945545" y="6293407"/>
            <a:chExt cx="5103522" cy="1005143"/>
          </a:xfrm>
        </p:grpSpPr>
        <p:grpSp>
          <p:nvGrpSpPr>
            <p:cNvPr id="58383" name="组合 8">
              <a:extLst>
                <a:ext uri="{FF2B5EF4-FFF2-40B4-BE49-F238E27FC236}">
                  <a16:creationId xmlns:a16="http://schemas.microsoft.com/office/drawing/2014/main" id="{9E4473A8-2A06-4984-A1FB-522CC1E7A2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5545" y="6293407"/>
              <a:ext cx="4870362" cy="667965"/>
              <a:chOff x="5379420" y="6151561"/>
              <a:chExt cx="4870362" cy="667965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194FAED-9331-4D04-9793-201B1A169D09}"/>
                  </a:ext>
                </a:extLst>
              </p:cNvPr>
              <p:cNvSpPr/>
              <p:nvPr/>
            </p:nvSpPr>
            <p:spPr>
              <a:xfrm>
                <a:off x="6481409" y="6151561"/>
                <a:ext cx="2436506" cy="4130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b="1" kern="100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You can see</a:t>
                </a:r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58386" name="图片 13">
                <a:extLst>
                  <a:ext uri="{FF2B5EF4-FFF2-40B4-BE49-F238E27FC236}">
                    <a16:creationId xmlns:a16="http://schemas.microsoft.com/office/drawing/2014/main" id="{C23BC1B1-8550-4483-97E3-764ED79F61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79420" y="6550557"/>
                <a:ext cx="4870362" cy="2689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8384" name="矩形 14">
              <a:extLst>
                <a:ext uri="{FF2B5EF4-FFF2-40B4-BE49-F238E27FC236}">
                  <a16:creationId xmlns:a16="http://schemas.microsoft.com/office/drawing/2014/main" id="{1BA02FD7-0EED-44C5-A28C-1234201C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443" y="6940732"/>
              <a:ext cx="4992624" cy="357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FF0000"/>
                  </a:solidFill>
                </a:rPr>
                <a:t> on the top right corner. 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AE3F896-A4DE-4824-8926-6CD44E9F1AFE}"/>
              </a:ext>
            </a:extLst>
          </p:cNvPr>
          <p:cNvSpPr/>
          <p:nvPr/>
        </p:nvSpPr>
        <p:spPr>
          <a:xfrm>
            <a:off x="415925" y="5826125"/>
            <a:ext cx="3586163" cy="9540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After finishing, you can see this window </a:t>
            </a:r>
            <a:endParaRPr lang="zh-CN" altLang="zh-CN" sz="28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58376" name="标题 1">
            <a:extLst>
              <a:ext uri="{FF2B5EF4-FFF2-40B4-BE49-F238E27FC236}">
                <a16:creationId xmlns:a16="http://schemas.microsoft.com/office/drawing/2014/main" id="{69C998EF-EC91-4A42-9D57-75C7F8014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291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7. Generate </a:t>
            </a:r>
            <a:r>
              <a:rPr lang="en-US" altLang="zh-CN" sz="4000" b="1">
                <a:solidFill>
                  <a:srgbClr val="FF000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Bitstream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File for FPGA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grpSp>
        <p:nvGrpSpPr>
          <p:cNvPr id="58377" name="组合 2">
            <a:extLst>
              <a:ext uri="{FF2B5EF4-FFF2-40B4-BE49-F238E27FC236}">
                <a16:creationId xmlns:a16="http://schemas.microsoft.com/office/drawing/2014/main" id="{E05FC394-1266-4274-966C-DCA0309EA03D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0"/>
            <a:ext cx="7931150" cy="6858000"/>
            <a:chOff x="4260850" y="0"/>
            <a:chExt cx="7931150" cy="6858000"/>
          </a:xfrm>
        </p:grpSpPr>
        <p:pic>
          <p:nvPicPr>
            <p:cNvPr id="58378" name="图片 10">
              <a:extLst>
                <a:ext uri="{FF2B5EF4-FFF2-40B4-BE49-F238E27FC236}">
                  <a16:creationId xmlns:a16="http://schemas.microsoft.com/office/drawing/2014/main" id="{E4E3BDDD-E3EE-42C2-89F7-1084C4447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850" y="0"/>
              <a:ext cx="79311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9" name="矩形 4">
              <a:extLst>
                <a:ext uri="{FF2B5EF4-FFF2-40B4-BE49-F238E27FC236}">
                  <a16:creationId xmlns:a16="http://schemas.microsoft.com/office/drawing/2014/main" id="{1C40FC83-DD34-4F6B-A759-9C2CC88A9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713" y="5649913"/>
              <a:ext cx="1792287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0F82AC2-88A5-4C4F-A77F-8AF9A9034FF1}"/>
                </a:ext>
              </a:extLst>
            </p:cNvPr>
            <p:cNvSpPr/>
            <p:nvPr/>
          </p:nvSpPr>
          <p:spPr bwMode="auto">
            <a:xfrm>
              <a:off x="8367713" y="5187950"/>
              <a:ext cx="2571750" cy="46196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b="1" kern="1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2.Click here</a:t>
              </a:r>
              <a:endParaRPr lang="zh-CN" altLang="en-US" sz="2400" b="1" dirty="0">
                <a:solidFill>
                  <a:srgbClr val="FF0000"/>
                </a:solidFill>
              </a:endParaRPr>
            </a:p>
          </p:txBody>
        </p:sp>
        <p:sp>
          <p:nvSpPr>
            <p:cNvPr id="58381" name="矩形 4">
              <a:extLst>
                <a:ext uri="{FF2B5EF4-FFF2-40B4-BE49-F238E27FC236}">
                  <a16:creationId xmlns:a16="http://schemas.microsoft.com/office/drawing/2014/main" id="{97A585A1-C50C-41F7-A6EC-3263F3B87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5895" y="2787650"/>
              <a:ext cx="2199480" cy="771525"/>
            </a:xfrm>
            <a:prstGeom prst="rect">
              <a:avLst/>
            </a:prstGeom>
            <a:noFill/>
            <a:ln w="635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algn="ctr"/>
              <a:endParaRPr kumimoji="1" lang="zh-CN" altLang="en-US" sz="1600" b="1"/>
            </a:p>
          </p:txBody>
        </p:sp>
        <p:sp>
          <p:nvSpPr>
            <p:cNvPr id="58382" name="矩形 16">
              <a:extLst>
                <a:ext uri="{FF2B5EF4-FFF2-40B4-BE49-F238E27FC236}">
                  <a16:creationId xmlns:a16="http://schemas.microsoft.com/office/drawing/2014/main" id="{D8CE6FA7-D7B1-4634-83B9-FC4A53B5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2381" y="2967037"/>
              <a:ext cx="257175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r>
                <a:rPr lang="en-US" altLang="zh-CN" sz="2400" b="1">
                  <a:solidFill>
                    <a:srgbClr val="FF0000"/>
                  </a:solidFill>
                </a:rPr>
                <a:t>1.Choose this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Box 10">
            <a:extLst>
              <a:ext uri="{FF2B5EF4-FFF2-40B4-BE49-F238E27FC236}">
                <a16:creationId xmlns:a16="http://schemas.microsoft.com/office/drawing/2014/main" id="{6E2921DE-2356-4A31-983C-C0E4F22BE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46625"/>
            <a:ext cx="4106863" cy="21256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395" name="标题 1">
            <a:extLst>
              <a:ext uri="{FF2B5EF4-FFF2-40B4-BE49-F238E27FC236}">
                <a16:creationId xmlns:a16="http://schemas.microsoft.com/office/drawing/2014/main" id="{EB48DAD1-EF60-4F2B-ADF6-32125EBF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081088"/>
            <a:ext cx="2887663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8.Connect  FPGA Target Board With Computer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55A52-97D3-45A5-9D03-D11018D93B35}"/>
              </a:ext>
            </a:extLst>
          </p:cNvPr>
          <p:cNvSpPr/>
          <p:nvPr/>
        </p:nvSpPr>
        <p:spPr>
          <a:xfrm>
            <a:off x="0" y="5086350"/>
            <a:ext cx="4106863" cy="157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Put all  switch(17 ) to ON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2.Connect J3(2) and USB port of computer with USB cable 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 Power on with switch (7)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59397" name="图片 2">
            <a:extLst>
              <a:ext uri="{FF2B5EF4-FFF2-40B4-BE49-F238E27FC236}">
                <a16:creationId xmlns:a16="http://schemas.microsoft.com/office/drawing/2014/main" id="{E64F5C80-B09D-4C37-8874-3268627EA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8" name="矩形 4">
            <a:extLst>
              <a:ext uri="{FF2B5EF4-FFF2-40B4-BE49-F238E27FC236}">
                <a16:creationId xmlns:a16="http://schemas.microsoft.com/office/drawing/2014/main" id="{5723396A-8196-413D-B010-7A8E1603F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5086350"/>
            <a:ext cx="895350" cy="1771650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399" name="矩形 4">
            <a:extLst>
              <a:ext uri="{FF2B5EF4-FFF2-40B4-BE49-F238E27FC236}">
                <a16:creationId xmlns:a16="http://schemas.microsoft.com/office/drawing/2014/main" id="{83CAD433-AFED-4F75-87F2-70C881A0C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0" y="0"/>
            <a:ext cx="896938" cy="15097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59400" name="矩形 4">
            <a:extLst>
              <a:ext uri="{FF2B5EF4-FFF2-40B4-BE49-F238E27FC236}">
                <a16:creationId xmlns:a16="http://schemas.microsoft.com/office/drawing/2014/main" id="{260C304D-8858-4C48-84DA-2ACD8AE7D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6975" y="0"/>
            <a:ext cx="896938" cy="1204913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组合 7">
            <a:extLst>
              <a:ext uri="{FF2B5EF4-FFF2-40B4-BE49-F238E27FC236}">
                <a16:creationId xmlns:a16="http://schemas.microsoft.com/office/drawing/2014/main" id="{96953E17-BB22-4B11-B057-9ED893272B24}"/>
              </a:ext>
            </a:extLst>
          </p:cNvPr>
          <p:cNvGrpSpPr>
            <a:grpSpLocks/>
          </p:cNvGrpSpPr>
          <p:nvPr/>
        </p:nvGrpSpPr>
        <p:grpSpPr bwMode="auto">
          <a:xfrm>
            <a:off x="3614738" y="0"/>
            <a:ext cx="8678862" cy="6858000"/>
            <a:chOff x="286343" y="714321"/>
            <a:chExt cx="2562225" cy="1981200"/>
          </a:xfrm>
        </p:grpSpPr>
        <p:pic>
          <p:nvPicPr>
            <p:cNvPr id="60424" name="图片 3">
              <a:extLst>
                <a:ext uri="{FF2B5EF4-FFF2-40B4-BE49-F238E27FC236}">
                  <a16:creationId xmlns:a16="http://schemas.microsoft.com/office/drawing/2014/main" id="{97037175-DC12-46F5-8D91-96A6F59E4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343" y="714321"/>
              <a:ext cx="2562225" cy="198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E6F19F6-AC52-470B-977A-8B73E93B7013}"/>
                </a:ext>
              </a:extLst>
            </p:cNvPr>
            <p:cNvSpPr/>
            <p:nvPr/>
          </p:nvSpPr>
          <p:spPr>
            <a:xfrm>
              <a:off x="495839" y="1242641"/>
              <a:ext cx="1779544" cy="214630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9D5866-F5F9-4B35-B68A-49EF76EA60D5}"/>
                </a:ext>
              </a:extLst>
            </p:cNvPr>
            <p:cNvSpPr/>
            <p:nvPr/>
          </p:nvSpPr>
          <p:spPr>
            <a:xfrm>
              <a:off x="700648" y="1536152"/>
              <a:ext cx="770027" cy="17977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608CCFD-93EE-49DC-B587-B9212449E855}"/>
                </a:ext>
              </a:extLst>
            </p:cNvPr>
            <p:cNvSpPr/>
            <p:nvPr/>
          </p:nvSpPr>
          <p:spPr>
            <a:xfrm>
              <a:off x="1524572" y="1844339"/>
              <a:ext cx="807989" cy="171521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A42350A6-84C1-4064-8C55-3A02B4FEED0D}"/>
              </a:ext>
            </a:extLst>
          </p:cNvPr>
          <p:cNvSpPr/>
          <p:nvPr/>
        </p:nvSpPr>
        <p:spPr bwMode="auto">
          <a:xfrm>
            <a:off x="7669213" y="2952750"/>
            <a:ext cx="2070100" cy="46196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2. Right-click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604B0F-839A-4829-A8C0-89D24A14133F}"/>
              </a:ext>
            </a:extLst>
          </p:cNvPr>
          <p:cNvSpPr/>
          <p:nvPr/>
        </p:nvSpPr>
        <p:spPr bwMode="auto">
          <a:xfrm>
            <a:off x="5565775" y="3978275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3.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5A3398-5A09-4895-9D3F-3E234D9FD43E}"/>
              </a:ext>
            </a:extLst>
          </p:cNvPr>
          <p:cNvSpPr/>
          <p:nvPr/>
        </p:nvSpPr>
        <p:spPr bwMode="auto">
          <a:xfrm>
            <a:off x="8442325" y="1309688"/>
            <a:ext cx="2103438" cy="4603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1. Click here</a:t>
            </a:r>
            <a:endParaRPr lang="zh-CN" altLang="zh-CN" sz="2400" b="1" kern="1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60422" name="标题 1">
            <a:extLst>
              <a:ext uri="{FF2B5EF4-FFF2-40B4-BE49-F238E27FC236}">
                <a16:creationId xmlns:a16="http://schemas.microsoft.com/office/drawing/2014/main" id="{CD44458F-6FFA-4BB3-A6A1-B9F7630AAD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-step1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C1BB23-A744-4A26-B42F-A5E933939C70}"/>
              </a:ext>
            </a:extLst>
          </p:cNvPr>
          <p:cNvSpPr/>
          <p:nvPr/>
        </p:nvSpPr>
        <p:spPr bwMode="auto">
          <a:xfrm>
            <a:off x="3614738" y="88900"/>
            <a:ext cx="4827587" cy="558800"/>
          </a:xfrm>
          <a:prstGeom prst="rect">
            <a:avLst/>
          </a:prstGeom>
          <a:noFill/>
          <a:ln w="635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组合 4">
            <a:extLst>
              <a:ext uri="{FF2B5EF4-FFF2-40B4-BE49-F238E27FC236}">
                <a16:creationId xmlns:a16="http://schemas.microsoft.com/office/drawing/2014/main" id="{EDDBED2A-C7EC-4772-8700-C56B992FAED5}"/>
              </a:ext>
            </a:extLst>
          </p:cNvPr>
          <p:cNvGrpSpPr>
            <a:grpSpLocks/>
          </p:cNvGrpSpPr>
          <p:nvPr/>
        </p:nvGrpSpPr>
        <p:grpSpPr bwMode="auto">
          <a:xfrm>
            <a:off x="3903663" y="0"/>
            <a:ext cx="8288337" cy="6858000"/>
            <a:chOff x="3830408" y="636588"/>
            <a:chExt cx="3024187" cy="2894012"/>
          </a:xfrm>
        </p:grpSpPr>
        <p:pic>
          <p:nvPicPr>
            <p:cNvPr id="61445" name="图片 8">
              <a:extLst>
                <a:ext uri="{FF2B5EF4-FFF2-40B4-BE49-F238E27FC236}">
                  <a16:creationId xmlns:a16="http://schemas.microsoft.com/office/drawing/2014/main" id="{3F155562-F52A-46CE-9B09-8F93E5A358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0408" y="636588"/>
              <a:ext cx="3024187" cy="2894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6EFC944-3C8F-49C9-B1B7-EDE3E3B9E959}"/>
                </a:ext>
              </a:extLst>
            </p:cNvPr>
            <p:cNvSpPr/>
            <p:nvPr/>
          </p:nvSpPr>
          <p:spPr>
            <a:xfrm>
              <a:off x="5303403" y="856989"/>
              <a:ext cx="814405" cy="27466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1443" name="标题 1">
            <a:extLst>
              <a:ext uri="{FF2B5EF4-FFF2-40B4-BE49-F238E27FC236}">
                <a16:creationId xmlns:a16="http://schemas.microsoft.com/office/drawing/2014/main" id="{0EB90BA5-03FE-4638-9DC4-EFBD1C7FD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-step2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8153393-E809-4C63-AC02-57E0C7808CC5}"/>
              </a:ext>
            </a:extLst>
          </p:cNvPr>
          <p:cNvSpPr/>
          <p:nvPr/>
        </p:nvSpPr>
        <p:spPr bwMode="auto">
          <a:xfrm>
            <a:off x="8253413" y="1262063"/>
            <a:ext cx="16081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组合 13">
            <a:extLst>
              <a:ext uri="{FF2B5EF4-FFF2-40B4-BE49-F238E27FC236}">
                <a16:creationId xmlns:a16="http://schemas.microsoft.com/office/drawing/2014/main" id="{7CD84E48-6032-48D4-B28D-89160EDBA561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23813"/>
            <a:ext cx="8593137" cy="6858000"/>
            <a:chOff x="4352025" y="2627411"/>
            <a:chExt cx="5273675" cy="2867025"/>
          </a:xfrm>
        </p:grpSpPr>
        <p:pic>
          <p:nvPicPr>
            <p:cNvPr id="62471" name="图片 5">
              <a:extLst>
                <a:ext uri="{FF2B5EF4-FFF2-40B4-BE49-F238E27FC236}">
                  <a16:creationId xmlns:a16="http://schemas.microsoft.com/office/drawing/2014/main" id="{7B1C9FA5-51D1-4DBA-A60E-C3916DB1A5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2025" y="2627411"/>
              <a:ext cx="5273675" cy="286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472" name="文本框 16">
              <a:extLst>
                <a:ext uri="{FF2B5EF4-FFF2-40B4-BE49-F238E27FC236}">
                  <a16:creationId xmlns:a16="http://schemas.microsoft.com/office/drawing/2014/main" id="{84BF210A-34C0-4434-98CE-6B8D2D14ED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5294" y="3522030"/>
              <a:ext cx="2036189" cy="1930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>
                <a:buFontTx/>
                <a:buAutoNum type="arabicPeriod"/>
              </a:pPr>
              <a:r>
                <a:rPr lang="en-US" altLang="zh-CN" sz="2400" b="1">
                  <a:solidFill>
                    <a:srgbClr val="FF0000"/>
                  </a:solidFill>
                </a:rPr>
                <a:t>Find you bit file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</p:grpSp>
      <p:sp>
        <p:nvSpPr>
          <p:cNvPr id="62467" name="标题 1">
            <a:extLst>
              <a:ext uri="{FF2B5EF4-FFF2-40B4-BE49-F238E27FC236}">
                <a16:creationId xmlns:a16="http://schemas.microsoft.com/office/drawing/2014/main" id="{C65C2F1F-4E95-4FC1-B660-2F1031244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559050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8. Program device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-step3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3F5845-A280-4CA8-A3B7-BF04B05FE6BB}"/>
              </a:ext>
            </a:extLst>
          </p:cNvPr>
          <p:cNvSpPr/>
          <p:nvPr/>
        </p:nvSpPr>
        <p:spPr bwMode="auto">
          <a:xfrm>
            <a:off x="5586413" y="2576513"/>
            <a:ext cx="5270500" cy="74295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2469" name="矩形 4">
            <a:extLst>
              <a:ext uri="{FF2B5EF4-FFF2-40B4-BE49-F238E27FC236}">
                <a16:creationId xmlns:a16="http://schemas.microsoft.com/office/drawing/2014/main" id="{643AD43F-6B7A-4653-A4C9-561058CB4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075" y="5873750"/>
            <a:ext cx="1446213" cy="771525"/>
          </a:xfrm>
          <a:prstGeom prst="rect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22BE53-C112-4531-AA41-D8DBB0198E98}"/>
              </a:ext>
            </a:extLst>
          </p:cNvPr>
          <p:cNvSpPr/>
          <p:nvPr/>
        </p:nvSpPr>
        <p:spPr bwMode="auto">
          <a:xfrm>
            <a:off x="9571038" y="5380038"/>
            <a:ext cx="16637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Click here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Box 8">
            <a:extLst>
              <a:ext uri="{FF2B5EF4-FFF2-40B4-BE49-F238E27FC236}">
                <a16:creationId xmlns:a16="http://schemas.microsoft.com/office/drawing/2014/main" id="{85491CA6-2CB5-40AC-A18E-0C122DB57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79888"/>
            <a:ext cx="4106863" cy="2692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3491" name="矩形 6">
            <a:extLst>
              <a:ext uri="{FF2B5EF4-FFF2-40B4-BE49-F238E27FC236}">
                <a16:creationId xmlns:a16="http://schemas.microsoft.com/office/drawing/2014/main" id="{A5C59790-4D39-40E4-AD87-3DDF985F5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13" y="4421188"/>
            <a:ext cx="38608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1. Switch(0,1,2) are the inputs (A,B,C), led(0~7) are the  outputs (Y0~Y7)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2. Use the switch to control the led light </a:t>
            </a:r>
            <a:endParaRPr lang="zh-CN" altLang="zh-CN" sz="2800" b="1">
              <a:solidFill>
                <a:srgbClr val="FF0000"/>
              </a:solidFill>
            </a:endParaRPr>
          </a:p>
        </p:txBody>
      </p:sp>
      <p:sp>
        <p:nvSpPr>
          <p:cNvPr id="63492" name="标题 1">
            <a:extLst>
              <a:ext uri="{FF2B5EF4-FFF2-40B4-BE49-F238E27FC236}">
                <a16:creationId xmlns:a16="http://schemas.microsoft.com/office/drawing/2014/main" id="{BED4C9BB-B011-4230-9A74-388F2371A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211263"/>
            <a:ext cx="2786063" cy="173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00B0F0"/>
                </a:solidFill>
                <a:latin typeface="Calibri Light" panose="020F0302020204030204" pitchFamily="34" charset="0"/>
                <a:ea typeface="等线 Light" panose="02010600030101010101" pitchFamily="2" charset="-122"/>
              </a:rPr>
              <a:t>9. Observe phenomena</a:t>
            </a:r>
            <a:endParaRPr lang="zh-CN" altLang="en-US" sz="4000" b="1">
              <a:solidFill>
                <a:srgbClr val="00B0F0"/>
              </a:solidFill>
              <a:latin typeface="Calibri Light" panose="020F0302020204030204" pitchFamily="34" charset="0"/>
              <a:ea typeface="等线 Light" panose="02010600030101010101" pitchFamily="2" charset="-122"/>
            </a:endParaRPr>
          </a:p>
        </p:txBody>
      </p:sp>
      <p:pic>
        <p:nvPicPr>
          <p:cNvPr id="63493" name="图片 2">
            <a:extLst>
              <a:ext uri="{FF2B5EF4-FFF2-40B4-BE49-F238E27FC236}">
                <a16:creationId xmlns:a16="http://schemas.microsoft.com/office/drawing/2014/main" id="{E6243CB3-6824-41CB-8A55-732E41D1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0"/>
            <a:ext cx="808513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矩形 4">
            <a:extLst>
              <a:ext uri="{FF2B5EF4-FFF2-40B4-BE49-F238E27FC236}">
                <a16:creationId xmlns:a16="http://schemas.microsoft.com/office/drawing/2014/main" id="{BA5EE581-ED28-4887-A794-B4F6D891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3663" y="5849938"/>
            <a:ext cx="1103312" cy="6143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  <p:sp>
        <p:nvSpPr>
          <p:cNvPr id="63495" name="矩形 4">
            <a:extLst>
              <a:ext uri="{FF2B5EF4-FFF2-40B4-BE49-F238E27FC236}">
                <a16:creationId xmlns:a16="http://schemas.microsoft.com/office/drawing/2014/main" id="{56353498-27C6-44D1-B3DD-873BEDA3E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4688" y="5370513"/>
            <a:ext cx="3062287" cy="347662"/>
          </a:xfrm>
          <a:prstGeom prst="rect">
            <a:avLst/>
          </a:prstGeom>
          <a:noFill/>
          <a:ln w="101600" algn="ctr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2075" tIns="46038" rIns="92075" bIns="46038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/>
            <a:endParaRPr kumimoji="1" lang="zh-CN" altLang="en-US" sz="1600" b="1"/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396E2ED0-CA62-43CA-8CFF-669797BC4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" y="-3175"/>
            <a:ext cx="11235267" cy="2257955"/>
          </a:xfrm>
        </p:spPr>
        <p:txBody>
          <a:bodyPr/>
          <a:lstStyle/>
          <a:p>
            <a:pPr eaLnBrk="1" hangingPunct="1"/>
            <a:r>
              <a:rPr lang="en-US" altLang="zh-CN" sz="5400" b="1" dirty="0">
                <a:solidFill>
                  <a:srgbClr val="00B0F0"/>
                </a:solidFill>
              </a:rPr>
              <a:t>Appendix: </a:t>
            </a:r>
            <a:br>
              <a:rPr lang="en-US" altLang="zh-CN" sz="5400" b="1" dirty="0">
                <a:solidFill>
                  <a:srgbClr val="00B0F0"/>
                </a:solidFill>
              </a:rPr>
            </a:br>
            <a:r>
              <a:rPr lang="en-US" altLang="zh-CN" sz="5400" b="1" dirty="0">
                <a:solidFill>
                  <a:srgbClr val="00B0F0"/>
                </a:solidFill>
              </a:rPr>
              <a:t>       </a:t>
            </a:r>
            <a:r>
              <a:rPr lang="en-US" altLang="zh-CN" sz="4800" b="1" dirty="0">
                <a:solidFill>
                  <a:srgbClr val="00B0F0"/>
                </a:solidFill>
              </a:rPr>
              <a:t>implement and verify a </a:t>
            </a:r>
            <a:r>
              <a:rPr lang="en-US" altLang="zh-CN" sz="4800" b="1" dirty="0" err="1">
                <a:solidFill>
                  <a:srgbClr val="00B0F0"/>
                </a:solidFill>
              </a:rPr>
              <a:t>ledwater</a:t>
            </a:r>
            <a:endParaRPr lang="zh-CN" altLang="en-US" sz="5400" b="1" dirty="0">
              <a:solidFill>
                <a:srgbClr val="00B0F0"/>
              </a:solidFill>
            </a:endParaRPr>
          </a:p>
        </p:txBody>
      </p:sp>
      <p:pic>
        <p:nvPicPr>
          <p:cNvPr id="3" name="Picture 61">
            <a:extLst>
              <a:ext uri="{FF2B5EF4-FFF2-40B4-BE49-F238E27FC236}">
                <a16:creationId xmlns:a16="http://schemas.microsoft.com/office/drawing/2014/main" id="{3543F478-7AFA-50ED-7DAC-A061DCBA2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33" y="2080119"/>
            <a:ext cx="6720008" cy="394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0DE3909-F65E-B0EA-505E-9F94E32B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556" y="1990851"/>
            <a:ext cx="4840644" cy="40298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CEA3DC5B-4B3D-4BA6-840C-4B16BC41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700" y="1074738"/>
            <a:ext cx="9877425" cy="1325562"/>
          </a:xfrm>
        </p:spPr>
        <p:txBody>
          <a:bodyPr/>
          <a:lstStyle/>
          <a:p>
            <a:pPr algn="ctr" eaLnBrk="1" hangingPunct="1"/>
            <a:r>
              <a:rPr lang="en-US" altLang="zh-CN" sz="5400" b="1">
                <a:solidFill>
                  <a:srgbClr val="00B0F0"/>
                </a:solidFill>
              </a:rPr>
              <a:t>Digital Logic Design and Application</a:t>
            </a:r>
            <a:endParaRPr lang="zh-CN" altLang="en-US" sz="5400" b="1">
              <a:solidFill>
                <a:srgbClr val="00B0F0"/>
              </a:solidFill>
            </a:endParaRPr>
          </a:p>
        </p:txBody>
      </p:sp>
      <p:sp>
        <p:nvSpPr>
          <p:cNvPr id="65539" name="文本框 3">
            <a:extLst>
              <a:ext uri="{FF2B5EF4-FFF2-40B4-BE49-F238E27FC236}">
                <a16:creationId xmlns:a16="http://schemas.microsoft.com/office/drawing/2014/main" id="{29F7C19D-5BC7-4AFF-AFB6-04A7B2443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8" y="2562225"/>
            <a:ext cx="3552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/>
              <a:t>Lab Course 1</a:t>
            </a:r>
            <a:endParaRPr lang="zh-CN" altLang="en-US" sz="4000"/>
          </a:p>
        </p:txBody>
      </p:sp>
      <p:sp>
        <p:nvSpPr>
          <p:cNvPr id="3077" name="文本框 5">
            <a:extLst>
              <a:ext uri="{FF2B5EF4-FFF2-40B4-BE49-F238E27FC236}">
                <a16:creationId xmlns:a16="http://schemas.microsoft.com/office/drawing/2014/main" id="{DF48B4B2-C725-4628-B844-84EF9D6FB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8388" y="3984625"/>
            <a:ext cx="49149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等线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5400" b="1" i="1" dirty="0">
                <a:solidFill>
                  <a:srgbClr val="00B0F0"/>
                </a:solidFill>
                <a:latin typeface="+mj-lt"/>
                <a:ea typeface="+mj-ea"/>
                <a:cs typeface="+mj-cs"/>
              </a:rPr>
              <a:t>~~End~~</a:t>
            </a:r>
          </a:p>
          <a:p>
            <a:pPr algn="ctr" eaLnBrk="1" hangingPunct="1">
              <a:defRPr/>
            </a:pPr>
            <a:endParaRPr lang="zh-CN" altLang="en-US" sz="36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artus13.1 安装说明.pptx" id="{7DAF6241-A34C-48AD-B255-5E0B72393853}" vid="{554FF0A6-F414-48E1-910B-50D72A69274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3295</TotalTime>
  <Words>1606</Words>
  <Application>Microsoft Office PowerPoint</Application>
  <PresentationFormat>宽屏</PresentationFormat>
  <Paragraphs>297</Paragraphs>
  <Slides>68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7" baseType="lpstr">
      <vt:lpstr>Arial Unicode MS</vt:lpstr>
      <vt:lpstr>等线</vt:lpstr>
      <vt:lpstr>华文新魏</vt:lpstr>
      <vt:lpstr>Arial</vt:lpstr>
      <vt:lpstr>Calibri</vt:lpstr>
      <vt:lpstr>Calibri Light</vt:lpstr>
      <vt:lpstr>Times New Roman</vt:lpstr>
      <vt:lpstr>Wingdings</vt:lpstr>
      <vt:lpstr>模板</vt:lpstr>
      <vt:lpstr>Digital Logic Design and Application</vt:lpstr>
      <vt:lpstr>Fundamental</vt:lpstr>
      <vt:lpstr>Grading</vt:lpstr>
      <vt:lpstr>Grading</vt:lpstr>
      <vt:lpstr>Grading</vt:lpstr>
      <vt:lpstr>Reference</vt:lpstr>
      <vt:lpstr>Note</vt:lpstr>
      <vt:lpstr>Content</vt:lpstr>
      <vt:lpstr>Implement for a 3-8 Decoder </vt:lpstr>
      <vt:lpstr>FPGA Design Flow</vt:lpstr>
      <vt:lpstr>PowerPoint 演示文稿</vt:lpstr>
      <vt:lpstr>PowerPoint 演示文稿</vt:lpstr>
      <vt:lpstr>PowerPoint 演示文稿</vt:lpstr>
      <vt:lpstr>FPGA Design Flow</vt:lpstr>
      <vt:lpstr>1. Create New Hardware Project -step1</vt:lpstr>
      <vt:lpstr>1. Create New Hardware Project -step2</vt:lpstr>
      <vt:lpstr>1. Create New Hardware Project -step3</vt:lpstr>
      <vt:lpstr>1. Create New Hardware Project -step4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3-8 decoder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FPGA Design Flow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Appendix:         implement and verify a ledwater</vt:lpstr>
      <vt:lpstr>Digital Logic Design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 and Application</dc:title>
  <dc:creator>李志文</dc:creator>
  <cp:lastModifiedBy>Erke Xu</cp:lastModifiedBy>
  <cp:revision>249</cp:revision>
  <dcterms:created xsi:type="dcterms:W3CDTF">2017-04-08T01:53:17Z</dcterms:created>
  <dcterms:modified xsi:type="dcterms:W3CDTF">2026-03-25T02:05:10Z</dcterms:modified>
</cp:coreProperties>
</file>