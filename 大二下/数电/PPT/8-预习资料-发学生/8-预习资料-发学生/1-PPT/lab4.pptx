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553" r:id="rId2"/>
    <p:sldId id="554" r:id="rId3"/>
    <p:sldId id="520" r:id="rId4"/>
    <p:sldId id="260" r:id="rId5"/>
    <p:sldId id="546" r:id="rId6"/>
    <p:sldId id="550" r:id="rId7"/>
    <p:sldId id="507" r:id="rId8"/>
    <p:sldId id="551" r:id="rId9"/>
    <p:sldId id="552" r:id="rId10"/>
    <p:sldId id="525" r:id="rId11"/>
    <p:sldId id="522" r:id="rId12"/>
    <p:sldId id="528" r:id="rId13"/>
    <p:sldId id="539" r:id="rId14"/>
    <p:sldId id="523" r:id="rId15"/>
    <p:sldId id="535" r:id="rId16"/>
    <p:sldId id="496" r:id="rId17"/>
  </p:sldIdLst>
  <p:sldSz cx="12192000" cy="6858000"/>
  <p:notesSz cx="6858000" cy="9144000"/>
  <p:custDataLst>
    <p:tags r:id="rId18"/>
  </p:custDataLst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等线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等线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等线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等线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等线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等线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等线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等线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等线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19" userDrawn="1">
          <p15:clr>
            <a:srgbClr val="A4A3A4"/>
          </p15:clr>
        </p15:guide>
        <p15:guide id="2" pos="383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65" autoAdjust="0"/>
    <p:restoredTop sz="94660" autoAdjust="0"/>
  </p:normalViewPr>
  <p:slideViewPr>
    <p:cSldViewPr snapToGrid="0" showGuides="1">
      <p:cViewPr varScale="1">
        <p:scale>
          <a:sx n="119" d="100"/>
          <a:sy n="119" d="100"/>
        </p:scale>
        <p:origin x="150" y="114"/>
      </p:cViewPr>
      <p:guideLst>
        <p:guide orient="horz" pos="2119"/>
        <p:guide pos="383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gs" Target="tags/tag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3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noProof="1"/>
              <a:t>单击此处编辑母版副标题样式</a:t>
            </a:r>
            <a:endParaRPr lang="en-US" noProof="1"/>
          </a:p>
        </p:txBody>
      </p:sp>
      <p:sp>
        <p:nvSpPr>
          <p:cNvPr id="14" name="标题 1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4C8AAC-168D-482F-869D-8256607E0FA0}" type="datetimeFigureOut">
              <a:rPr lang="zh-CN" altLang="en-US"/>
              <a:t>2024/4/2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0AC9A27-41E4-4FC7-A455-6DF363158D5E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en-US" noProof="1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 noProof="1"/>
              <a:t>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  <a:endParaRPr lang="en-US" noProof="1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BB13E1-E9F2-477A-8F30-66A5C979FCBF}" type="datetimeFigureOut">
              <a:rPr lang="zh-CN" altLang="en-US"/>
              <a:t>2024/4/2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E8BAE08-A39F-4756-BA2D-1408C98045F1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4"/>
            <a:ext cx="105156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 noProof="1"/>
              <a:t>单击此处编辑母版标题样式</a:t>
            </a:r>
            <a:endParaRPr lang="en-US" noProof="1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831851" y="4589469"/>
            <a:ext cx="105156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noProof="1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6193F29-31B4-41BA-914D-7796D7FB4161}" type="datetimeFigureOut">
              <a:rPr lang="zh-CN" altLang="en-US"/>
              <a:t>2024/4/2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5C5E86C-33D9-4995-AABC-29B018DB4C00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en-US" noProof="1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838200" y="1825624"/>
            <a:ext cx="5181600" cy="4351339"/>
          </a:xfrm>
        </p:spPr>
        <p:txBody>
          <a:bodyPr/>
          <a:lstStyle/>
          <a:p>
            <a:pPr lvl="0"/>
            <a:r>
              <a:rPr lang="zh-CN" altLang="en-US" noProof="1"/>
              <a:t>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  <a:endParaRPr lang="en-US" noProof="1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172200" y="1825624"/>
            <a:ext cx="5181600" cy="4351339"/>
          </a:xfrm>
        </p:spPr>
        <p:txBody>
          <a:bodyPr/>
          <a:lstStyle/>
          <a:p>
            <a:pPr lvl="0"/>
            <a:r>
              <a:rPr lang="zh-CN" altLang="en-US" noProof="1"/>
              <a:t>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  <a:endParaRPr lang="en-US" noProof="1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B382A95-A4CD-4E7C-90D3-374619C99F55}" type="datetimeFigureOut">
              <a:rPr lang="zh-CN" altLang="en-US"/>
              <a:t>2024/4/2</a:t>
            </a:fld>
            <a:endParaRPr lang="zh-CN" alt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3DAC69B-9491-4901-B130-D13B658B094C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9"/>
            <a:ext cx="10515600" cy="1325563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en-US" noProof="1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noProof="1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zh-CN" altLang="en-US" noProof="1"/>
              <a:t>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  <a:endParaRPr lang="en-US" noProof="1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7" y="1681163"/>
            <a:ext cx="5183188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noProof="1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6172207" y="2505075"/>
            <a:ext cx="5183188" cy="3684588"/>
          </a:xfrm>
        </p:spPr>
        <p:txBody>
          <a:bodyPr/>
          <a:lstStyle/>
          <a:p>
            <a:pPr lvl="0"/>
            <a:r>
              <a:rPr lang="zh-CN" altLang="en-US" noProof="1"/>
              <a:t>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  <a:endParaRPr lang="en-US" noProof="1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49F3886-BC3A-432F-9641-68D564700598}" type="datetimeFigureOut">
              <a:rPr lang="zh-CN" altLang="en-US"/>
              <a:t>2024/4/2</a:t>
            </a:fld>
            <a:endParaRPr lang="zh-CN" alt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C24E385-7F83-4EF8-B53E-F9398D19E60E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title"/>
          </p:nvPr>
        </p:nvSpPr>
        <p:spPr>
          <a:xfrm>
            <a:off x="146223" y="200376"/>
            <a:ext cx="6641756" cy="557511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ABFEAB-C185-4852-90F2-296791AF12C7}" type="datetimeFigureOut">
              <a:rPr lang="zh-CN" altLang="en-US"/>
              <a:t>2024/4/2</a:t>
            </a:fld>
            <a:endParaRPr lang="zh-CN" alt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AF8A957-68FE-4FC6-9CB2-9A9D5ED68ADD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B563E9D-DFB9-4A34-88B0-438B6B6DCCC3}" type="datetimeFigureOut">
              <a:rPr lang="zh-CN" altLang="en-US"/>
              <a:t>2024/4/2</a:t>
            </a:fld>
            <a:endParaRPr lang="zh-CN" alt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F021CC5-611A-4EA0-B9C0-581EDB7A7E9C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noProof="1"/>
              <a:t>单击此处编辑母版标题样式</a:t>
            </a:r>
            <a:endParaRPr lang="en-US" noProof="1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183188" y="987431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noProof="1"/>
              <a:t>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  <a:endParaRPr lang="en-US" noProof="1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2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noProof="1"/>
              <a:t>编辑母版文本样式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8AF0917-0019-4FD5-91BD-3591F34C7B3A}" type="datetimeFigureOut">
              <a:rPr lang="zh-CN" altLang="en-US"/>
              <a:t>2024/4/2</a:t>
            </a:fld>
            <a:endParaRPr lang="zh-CN" alt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E5416DD-7769-47A2-B07A-045205B2C578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noProof="1"/>
              <a:t>单击此处编辑母版标题样式</a:t>
            </a:r>
            <a:endParaRPr lang="en-US" noProof="1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31"/>
            <a:ext cx="6172200" cy="4873625"/>
          </a:xfrm>
        </p:spPr>
        <p:txBody>
          <a:bodyPr rtlCol="0">
            <a:normAutofit/>
          </a:bodyPr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r>
              <a:rPr lang="zh-CN" altLang="en-US" noProof="0"/>
              <a:t>单击图标添加图片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2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noProof="1"/>
              <a:t>编辑母版文本样式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D8FAE6B-BF3A-44EE-B8F8-6F5615739A70}" type="datetimeFigureOut">
              <a:rPr lang="zh-CN" altLang="en-US"/>
              <a:t>2024/4/2</a:t>
            </a:fld>
            <a:endParaRPr lang="zh-CN" alt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3F0CF2A-28D7-4239-A616-7CAF50DA23AB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en-US" noProof="1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  <a:endParaRPr lang="en-US" noProof="1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4EFB79F-70F0-4F3E-8B3A-7587C7DA2C9C}" type="datetimeFigureOut">
              <a:rPr lang="zh-CN" altLang="en-US"/>
              <a:t>2024/4/2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B163FA0-A8D4-4ABC-AC6E-5AB208FBEB0C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2" y="365125"/>
            <a:ext cx="2628900" cy="5811839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  <a:endParaRPr lang="en-US" noProof="1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5" y="365125"/>
            <a:ext cx="7734300" cy="5811839"/>
          </a:xfrm>
        </p:spPr>
        <p:txBody>
          <a:bodyPr vert="eaVert"/>
          <a:lstStyle/>
          <a:p>
            <a:pPr lvl="0"/>
            <a:r>
              <a:rPr lang="zh-CN" altLang="en-US" noProof="1"/>
              <a:t>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  <a:endParaRPr lang="en-US" noProof="1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B02D55E-D4C6-4AC3-AD67-19AAD2AE4AEA}" type="datetimeFigureOut">
              <a:rPr lang="zh-CN" altLang="en-US"/>
              <a:t>2024/4/2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B5C8E85-51CD-4529-A0A0-6363C2D556F3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3"/>
          </a:xfrm>
        </p:spPr>
        <p:txBody>
          <a:bodyPr/>
          <a:lstStyle>
            <a:lvl1pPr marL="0" indent="0" algn="ctr">
              <a:buNone/>
              <a:defRPr sz="1350"/>
            </a:lvl1pPr>
            <a:lvl2pPr marL="257175" indent="0" algn="ctr">
              <a:buNone/>
              <a:defRPr sz="1125"/>
            </a:lvl2pPr>
            <a:lvl3pPr marL="514350" indent="0" algn="ctr">
              <a:buNone/>
              <a:defRPr sz="1015"/>
            </a:lvl3pPr>
            <a:lvl4pPr marL="771525" indent="0" algn="ctr">
              <a:buNone/>
              <a:defRPr sz="900"/>
            </a:lvl4pPr>
            <a:lvl5pPr marL="1028700" indent="0" algn="ctr">
              <a:buNone/>
              <a:defRPr sz="900"/>
            </a:lvl5pPr>
            <a:lvl6pPr marL="1285875" indent="0" algn="ctr">
              <a:buNone/>
              <a:defRPr sz="900"/>
            </a:lvl6pPr>
            <a:lvl7pPr marL="1543050" indent="0" algn="ctr">
              <a:buNone/>
              <a:defRPr sz="900"/>
            </a:lvl7pPr>
            <a:lvl8pPr marL="1800225" indent="0" algn="ctr">
              <a:buNone/>
              <a:defRPr sz="900"/>
            </a:lvl8pPr>
            <a:lvl9pPr marL="2057400" indent="0" algn="ctr">
              <a:buNone/>
              <a:defRPr sz="900"/>
            </a:lvl9pPr>
          </a:lstStyle>
          <a:p>
            <a:r>
              <a:rPr lang="zh-CN" altLang="en-US" noProof="1"/>
              <a:t>单击此处编辑母版副标题样式</a:t>
            </a:r>
          </a:p>
        </p:txBody>
      </p:sp>
      <p:sp>
        <p:nvSpPr>
          <p:cNvPr id="7" name="标题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C9B988-3F54-4717-B25C-E8084F563F27}" type="datetimeFigureOut">
              <a:rPr lang="zh-CN" altLang="en-US"/>
              <a:t>2024/4/2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C4C0819-883A-41C1-A6EE-E25169B0AA46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blipFill dpi="0" rotWithShape="0">
          <a:blip r:embed="rId14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en-US" altLang="zh-CN"/>
          </a:p>
        </p:txBody>
      </p:sp>
      <p:sp>
        <p:nvSpPr>
          <p:cNvPr id="1027" name="Text Placeholder 2"/>
          <p:cNvSpPr>
            <a:spLocks noGrp="1" noChangeArrowheads="1"/>
          </p:cNvSpPr>
          <p:nvPr>
            <p:ph type="body" idx="9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altLang="zh-C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9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E9C3DB08-7418-46E8-A19E-7040D9FEC988}" type="datetimeFigureOut">
              <a:rPr lang="zh-CN" altLang="en-US"/>
              <a:t>2024/4/2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9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 eaLnBrk="1" hangingPunct="1">
              <a:defRPr sz="9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AF235F74-8BF9-46F3-9B9C-239981C87999}" type="slidenum">
              <a:rPr lang="zh-CN" altLang="en-US"/>
              <a:t>‹#›</a:t>
            </a:fld>
            <a:endParaRPr lang="zh-CN" altLang="en-US"/>
          </a:p>
        </p:txBody>
      </p:sp>
      <p:pic>
        <p:nvPicPr>
          <p:cNvPr id="1031" name="Picture 4"/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64863" y="0"/>
            <a:ext cx="1219200" cy="1128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  <a:lvl2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等线 Light" panose="02010600030101010101" pitchFamily="2" charset="-122"/>
        </a:defRPr>
      </a:lvl2pPr>
      <a:lvl3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等线 Light" panose="02010600030101010101" pitchFamily="2" charset="-122"/>
        </a:defRPr>
      </a:lvl3pPr>
      <a:lvl4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等线 Light" panose="02010600030101010101" pitchFamily="2" charset="-122"/>
        </a:defRPr>
      </a:lvl4pPr>
      <a:lvl5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等线 Light" panose="02010600030101010101" pitchFamily="2" charset="-122"/>
        </a:defRPr>
      </a:lvl5pPr>
      <a:lvl6pPr marL="4572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等线 Light" panose="02010600030101010101" pitchFamily="2" charset="-122"/>
        </a:defRPr>
      </a:lvl6pPr>
      <a:lvl7pPr marL="9144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等线 Light" panose="02010600030101010101" pitchFamily="2" charset="-122"/>
        </a:defRPr>
      </a:lvl7pPr>
      <a:lvl8pPr marL="13716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等线 Light" panose="02010600030101010101" pitchFamily="2" charset="-122"/>
        </a:defRPr>
      </a:lvl8pPr>
      <a:lvl9pPr marL="18288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等线 Light" panose="02010600030101010101" pitchFamily="2" charset="-122"/>
        </a:defRPr>
      </a:lvl9pPr>
    </p:titleStyle>
    <p:bodyStyle>
      <a:lvl1pPr marL="171450" indent="-171450" algn="l" defTabSz="685800" rtl="0" eaLnBrk="0" fontAlgn="base" hangingPunct="0">
        <a:lnSpc>
          <a:spcPct val="90000"/>
        </a:lnSpc>
        <a:spcBef>
          <a:spcPts val="750"/>
        </a:spcBef>
        <a:spcAft>
          <a:spcPct val="0"/>
        </a:spcAft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标题 1"/>
          <p:cNvSpPr>
            <a:spLocks noGrp="1" noChangeArrowheads="1"/>
          </p:cNvSpPr>
          <p:nvPr>
            <p:ph type="title"/>
          </p:nvPr>
        </p:nvSpPr>
        <p:spPr>
          <a:xfrm>
            <a:off x="1155700" y="1074738"/>
            <a:ext cx="9877425" cy="1325562"/>
          </a:xfrm>
        </p:spPr>
        <p:txBody>
          <a:bodyPr/>
          <a:lstStyle/>
          <a:p>
            <a:pPr algn="ctr" eaLnBrk="1" hangingPunct="1"/>
            <a:r>
              <a:rPr lang="en-US" altLang="zh-CN" sz="5400" b="1">
                <a:solidFill>
                  <a:srgbClr val="00B0F0"/>
                </a:solidFill>
              </a:rPr>
              <a:t>Digital Logic Design and Application</a:t>
            </a:r>
            <a:endParaRPr lang="zh-CN" altLang="en-US" sz="5400" b="1">
              <a:solidFill>
                <a:srgbClr val="00B0F0"/>
              </a:solidFill>
            </a:endParaRPr>
          </a:p>
        </p:txBody>
      </p:sp>
      <p:sp>
        <p:nvSpPr>
          <p:cNvPr id="2051" name="文本框 3"/>
          <p:cNvSpPr txBox="1">
            <a:spLocks noChangeArrowheads="1"/>
          </p:cNvSpPr>
          <p:nvPr/>
        </p:nvSpPr>
        <p:spPr bwMode="auto">
          <a:xfrm>
            <a:off x="4249738" y="2562225"/>
            <a:ext cx="3552825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4000"/>
              <a:t>Lab Course 4</a:t>
            </a:r>
            <a:endParaRPr lang="zh-CN" altLang="en-US" sz="4000"/>
          </a:p>
        </p:txBody>
      </p:sp>
      <p:sp>
        <p:nvSpPr>
          <p:cNvPr id="7" name="文本框 5"/>
          <p:cNvSpPr txBox="1">
            <a:spLocks noChangeArrowheads="1"/>
          </p:cNvSpPr>
          <p:nvPr/>
        </p:nvSpPr>
        <p:spPr bwMode="auto">
          <a:xfrm>
            <a:off x="4232275" y="3590926"/>
            <a:ext cx="5170488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en-US" altLang="zh-CN" sz="3600" dirty="0"/>
              <a:t>Lecturer:</a:t>
            </a:r>
            <a:endParaRPr lang="zh-CN" altLang="en-US" sz="3600" dirty="0"/>
          </a:p>
        </p:txBody>
      </p:sp>
      <p:sp>
        <p:nvSpPr>
          <p:cNvPr id="8" name="文本框 6"/>
          <p:cNvSpPr txBox="1">
            <a:spLocks noChangeArrowheads="1"/>
          </p:cNvSpPr>
          <p:nvPr/>
        </p:nvSpPr>
        <p:spPr bwMode="auto">
          <a:xfrm>
            <a:off x="4216233" y="4237039"/>
            <a:ext cx="4574841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en-US" altLang="zh-CN" sz="3600" dirty="0"/>
              <a:t>TA:</a:t>
            </a:r>
            <a:endParaRPr lang="zh-CN" altLang="en-US" sz="3200" dirty="0"/>
          </a:p>
        </p:txBody>
      </p:sp>
      <p:sp>
        <p:nvSpPr>
          <p:cNvPr id="9" name="文本框 3"/>
          <p:cNvSpPr txBox="1">
            <a:spLocks noChangeArrowheads="1"/>
          </p:cNvSpPr>
          <p:nvPr/>
        </p:nvSpPr>
        <p:spPr bwMode="auto">
          <a:xfrm>
            <a:off x="4244309" y="4883152"/>
            <a:ext cx="4225924" cy="1138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en-US" altLang="zh-CN" sz="3600" dirty="0"/>
              <a:t>Lab Room:</a:t>
            </a:r>
            <a:br>
              <a:rPr lang="en-US" altLang="zh-CN" sz="3200" dirty="0"/>
            </a:br>
            <a:r>
              <a:rPr lang="en-US" altLang="zh-CN" sz="3200" dirty="0"/>
              <a:t>                         </a:t>
            </a:r>
            <a:endParaRPr lang="zh-CN" altLang="en-US" sz="3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标题 1"/>
          <p:cNvSpPr>
            <a:spLocks noGrp="1"/>
          </p:cNvSpPr>
          <p:nvPr>
            <p:ph type="title"/>
          </p:nvPr>
        </p:nvSpPr>
        <p:spPr>
          <a:xfrm>
            <a:off x="874713" y="252413"/>
            <a:ext cx="7886700" cy="1325562"/>
          </a:xfrm>
        </p:spPr>
        <p:txBody>
          <a:bodyPr/>
          <a:lstStyle/>
          <a:p>
            <a:pPr eaLnBrk="1" hangingPunct="1"/>
            <a:r>
              <a:rPr lang="en-US" altLang="zh-CN" sz="5400" b="1">
                <a:solidFill>
                  <a:srgbClr val="00B0F0"/>
                </a:solidFill>
              </a:rPr>
              <a:t>Grading</a:t>
            </a:r>
            <a:endParaRPr lang="zh-CN" altLang="en-US" sz="5400" b="1">
              <a:solidFill>
                <a:srgbClr val="00B0F0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795338" y="1404938"/>
            <a:ext cx="11396662" cy="52673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defTabSz="685800" eaLnBrk="1" hangingPunct="1">
              <a:lnSpc>
                <a:spcPct val="150000"/>
              </a:lnSpc>
              <a:spcBef>
                <a:spcPts val="750"/>
              </a:spcBef>
              <a:defRPr/>
            </a:pPr>
            <a:r>
              <a:rPr lang="en-US" altLang="zh-CN" sz="4400" dirty="0">
                <a:latin typeface="+mn-lt"/>
                <a:ea typeface="+mn-ea"/>
              </a:rPr>
              <a:t>Assessment</a:t>
            </a:r>
          </a:p>
          <a:p>
            <a:pPr algn="ctr" eaLnBrk="1" fontAlgn="auto" hangingPunct="1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defRPr/>
            </a:pPr>
            <a:r>
              <a:rPr lang="en-US" altLang="zh-CN" sz="3200" dirty="0">
                <a:solidFill>
                  <a:srgbClr val="FF0000"/>
                </a:solidFill>
                <a:latin typeface="+mn-lt"/>
                <a:ea typeface="+mn-ea"/>
              </a:rPr>
              <a:t> </a:t>
            </a:r>
            <a:r>
              <a:rPr lang="en-US" altLang="zh-CN" sz="2400" b="1" kern="100" dirty="0">
                <a:cs typeface="Times New Roman" panose="02020603050405020304" pitchFamily="18" charset="0"/>
                <a:sym typeface="+mn-ea"/>
              </a:rPr>
              <a:t>Lab1 10% + Lab2 20% + Lab3 20% </a:t>
            </a:r>
            <a:r>
              <a:rPr lang="en-US" altLang="zh-CN" sz="2400" b="1" kern="100" dirty="0">
                <a:solidFill>
                  <a:srgbClr val="FF0000"/>
                </a:solidFill>
                <a:cs typeface="Times New Roman" panose="02020603050405020304" pitchFamily="18" charset="0"/>
                <a:sym typeface="+mn-ea"/>
              </a:rPr>
              <a:t>+ Lab4 20% </a:t>
            </a:r>
            <a:r>
              <a:rPr lang="en-US" altLang="zh-CN" sz="2400" b="1" kern="100" dirty="0">
                <a:cs typeface="Times New Roman" panose="02020603050405020304" pitchFamily="18" charset="0"/>
                <a:sym typeface="+mn-ea"/>
              </a:rPr>
              <a:t>+ Lab5 10%</a:t>
            </a:r>
            <a:r>
              <a:rPr lang="zh-CN" altLang="en-US" sz="2400" b="1" kern="100" dirty="0">
                <a:cs typeface="Times New Roman" panose="02020603050405020304" pitchFamily="18" charset="0"/>
                <a:sym typeface="+mn-ea"/>
              </a:rPr>
              <a:t> </a:t>
            </a:r>
            <a:r>
              <a:rPr lang="en-US" altLang="zh-CN" sz="2400" b="1" kern="100" dirty="0">
                <a:cs typeface="Times New Roman" panose="02020603050405020304" pitchFamily="18" charset="0"/>
                <a:sym typeface="+mn-ea"/>
              </a:rPr>
              <a:t>+ </a:t>
            </a:r>
            <a:r>
              <a:rPr lang="en-US" altLang="zh-CN" sz="2400" b="1" kern="100" dirty="0">
                <a:solidFill>
                  <a:srgbClr val="FF0000"/>
                </a:solidFill>
                <a:cs typeface="Times New Roman" panose="02020603050405020304" pitchFamily="18" charset="0"/>
                <a:sym typeface="+mn-ea"/>
              </a:rPr>
              <a:t>Report1 5% </a:t>
            </a:r>
            <a:r>
              <a:rPr lang="en-US" altLang="zh-CN" sz="2400" b="1" kern="100" dirty="0">
                <a:cs typeface="Times New Roman" panose="02020603050405020304" pitchFamily="18" charset="0"/>
                <a:sym typeface="+mn-ea"/>
              </a:rPr>
              <a:t>+ Repor2 15%</a:t>
            </a:r>
          </a:p>
          <a:p>
            <a:pPr defTabSz="685800" eaLnBrk="1" hangingPunct="1">
              <a:lnSpc>
                <a:spcPct val="150000"/>
              </a:lnSpc>
              <a:spcBef>
                <a:spcPts val="750"/>
              </a:spcBef>
              <a:defRPr/>
            </a:pPr>
            <a:r>
              <a:rPr lang="en-US" altLang="zh-CN" sz="4400" dirty="0">
                <a:latin typeface="+mn-lt"/>
                <a:ea typeface="+mn-ea"/>
              </a:rPr>
              <a:t>And for each lab:</a:t>
            </a:r>
          </a:p>
          <a:p>
            <a:pPr marL="1435100" lvl="1" indent="-552450" eaLnBrk="1" fontAlgn="auto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l"/>
              <a:defRPr/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Pre-Lab preparation and Performance in laboratory (65%)</a:t>
            </a:r>
          </a:p>
          <a:p>
            <a:pPr marL="1435100" lvl="1" indent="-552450" eaLnBrk="1" fontAlgn="auto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l"/>
              <a:defRPr/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Laboratory experimental reports (35%)</a:t>
            </a:r>
          </a:p>
          <a:p>
            <a:pPr lvl="1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en-US" altLang="zh-CN" sz="2800" dirty="0">
              <a:latin typeface="+mn-lt"/>
              <a:ea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标题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5400" b="1">
                <a:solidFill>
                  <a:srgbClr val="00B0F0"/>
                </a:solidFill>
              </a:rPr>
              <a:t>Note</a:t>
            </a:r>
            <a:endParaRPr lang="zh-CN" altLang="en-US" sz="5400" b="1">
              <a:solidFill>
                <a:srgbClr val="00B0F0"/>
              </a:solidFill>
            </a:endParaRPr>
          </a:p>
        </p:txBody>
      </p:sp>
      <p:sp>
        <p:nvSpPr>
          <p:cNvPr id="4099" name="内容占位符 2"/>
          <p:cNvSpPr>
            <a:spLocks noGrp="1" noChangeArrowheads="1"/>
          </p:cNvSpPr>
          <p:nvPr>
            <p:ph idx="1"/>
          </p:nvPr>
        </p:nvSpPr>
        <p:spPr>
          <a:xfrm>
            <a:off x="1304925" y="2022475"/>
            <a:ext cx="9734550" cy="2657475"/>
          </a:xfrm>
        </p:spPr>
        <p:txBody>
          <a:bodyPr/>
          <a:lstStyle/>
          <a:p>
            <a:pPr marL="180975" lvl="1" indent="0" eaLnBrk="1" hangingPunct="1">
              <a:lnSpc>
                <a:spcPct val="150000"/>
              </a:lnSpc>
              <a:spcBef>
                <a:spcPct val="25000"/>
              </a:spcBef>
              <a:buFont typeface="Arial" panose="020B0604020202020204" pitchFamily="34" charset="0"/>
              <a:buNone/>
            </a:pPr>
            <a:r>
              <a:rPr lang="en-US" altLang="zh-CN" sz="320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Please save the </a:t>
            </a:r>
            <a:r>
              <a:rPr lang="en-US" altLang="zh-CN" sz="3200">
                <a:solidFill>
                  <a:srgbClr val="FF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screenshots</a:t>
            </a:r>
            <a:r>
              <a:rPr lang="en-US" altLang="zh-CN" sz="320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of the code, simulation result, etc.</a:t>
            </a:r>
          </a:p>
          <a:p>
            <a:pPr marL="180975" lvl="1" indent="0" eaLnBrk="1" hangingPunct="1">
              <a:lnSpc>
                <a:spcPct val="150000"/>
              </a:lnSpc>
              <a:spcBef>
                <a:spcPct val="25000"/>
              </a:spcBef>
              <a:buFont typeface="Arial" panose="020B0604020202020204" pitchFamily="34" charset="0"/>
              <a:buNone/>
            </a:pPr>
            <a:r>
              <a:rPr lang="en-US" altLang="zh-CN" sz="320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You will need them to write the Lab_report.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标题 1"/>
          <p:cNvSpPr>
            <a:spLocks noGrp="1" noChangeArrowheads="1"/>
          </p:cNvSpPr>
          <p:nvPr>
            <p:ph type="title"/>
          </p:nvPr>
        </p:nvSpPr>
        <p:spPr>
          <a:xfrm>
            <a:off x="822325" y="0"/>
            <a:ext cx="10515600" cy="1325563"/>
          </a:xfrm>
        </p:spPr>
        <p:txBody>
          <a:bodyPr/>
          <a:lstStyle/>
          <a:p>
            <a:pPr eaLnBrk="1" hangingPunct="1"/>
            <a:r>
              <a:rPr lang="en-US" altLang="zh-CN" sz="5400" b="1">
                <a:solidFill>
                  <a:srgbClr val="00B0F0"/>
                </a:solidFill>
              </a:rPr>
              <a:t>Content</a:t>
            </a:r>
            <a:endParaRPr lang="zh-CN" altLang="en-US" sz="5400" b="1">
              <a:solidFill>
                <a:srgbClr val="00B0F0"/>
              </a:solidFill>
            </a:endParaRPr>
          </a:p>
        </p:txBody>
      </p:sp>
      <p:sp>
        <p:nvSpPr>
          <p:cNvPr id="7171" name="内容占位符 2"/>
          <p:cNvSpPr>
            <a:spLocks noGrp="1"/>
          </p:cNvSpPr>
          <p:nvPr>
            <p:ph idx="1"/>
          </p:nvPr>
        </p:nvSpPr>
        <p:spPr>
          <a:xfrm>
            <a:off x="2152650" y="1284288"/>
            <a:ext cx="9786938" cy="4711700"/>
          </a:xfrm>
        </p:spPr>
        <p:txBody>
          <a:bodyPr/>
          <a:lstStyle/>
          <a:p>
            <a:pPr marL="742950" indent="-742950" eaLnBrk="1" hangingPunct="1">
              <a:lnSpc>
                <a:spcPct val="100000"/>
              </a:lnSpc>
              <a:buFont typeface="+mj-lt"/>
              <a:buAutoNum type="arabicPeriod"/>
              <a:defRPr/>
            </a:pPr>
            <a:r>
              <a:rPr lang="en-US" altLang="zh-CN" sz="4000" dirty="0"/>
              <a:t>EDA tools ( </a:t>
            </a:r>
            <a:r>
              <a:rPr lang="en-US" altLang="zh-CN" sz="4000" dirty="0" err="1"/>
              <a:t>testbench</a:t>
            </a:r>
            <a:r>
              <a:rPr lang="en-US" altLang="zh-CN" sz="4000" dirty="0"/>
              <a:t>)</a:t>
            </a:r>
          </a:p>
          <a:p>
            <a:pPr marL="742950" indent="-742950" eaLnBrk="1" hangingPunct="1">
              <a:lnSpc>
                <a:spcPct val="100000"/>
              </a:lnSpc>
              <a:buFont typeface="+mj-lt"/>
              <a:buAutoNum type="arabicPeriod"/>
              <a:defRPr/>
            </a:pPr>
            <a:r>
              <a:rPr lang="en-US" altLang="zh-CN" sz="4000" dirty="0" err="1"/>
              <a:t>Datapath</a:t>
            </a:r>
            <a:r>
              <a:rPr lang="en-US" altLang="zh-CN" sz="4000" dirty="0"/>
              <a:t> Design</a:t>
            </a:r>
            <a:endParaRPr lang="zh-CN" altLang="zh-CN" sz="2000" dirty="0"/>
          </a:p>
          <a:p>
            <a:pPr marL="742950" indent="-742950" eaLnBrk="1" hangingPunct="1">
              <a:lnSpc>
                <a:spcPct val="100000"/>
              </a:lnSpc>
              <a:buFont typeface="+mj-lt"/>
              <a:buAutoNum type="arabicPeriod"/>
              <a:defRPr/>
            </a:pPr>
            <a:r>
              <a:rPr lang="en-US" altLang="zh-CN" sz="4000" dirty="0"/>
              <a:t>Controller Design</a:t>
            </a:r>
          </a:p>
          <a:p>
            <a:pPr marL="742950" indent="-742950" eaLnBrk="1" hangingPunct="1">
              <a:lnSpc>
                <a:spcPct val="100000"/>
              </a:lnSpc>
              <a:buFont typeface="+mj-lt"/>
              <a:buAutoNum type="arabicPeriod"/>
              <a:defRPr/>
            </a:pPr>
            <a:r>
              <a:rPr lang="en-US" altLang="zh-CN" sz="4000" dirty="0">
                <a:solidFill>
                  <a:srgbClr val="FF0000"/>
                </a:solidFill>
              </a:rPr>
              <a:t>CPU</a:t>
            </a:r>
            <a:r>
              <a:rPr lang="zh-CN" altLang="en-US" sz="4000" dirty="0">
                <a:solidFill>
                  <a:srgbClr val="FF0000"/>
                </a:solidFill>
              </a:rPr>
              <a:t> </a:t>
            </a:r>
            <a:r>
              <a:rPr lang="en-US" altLang="zh-CN" sz="4000" dirty="0">
                <a:solidFill>
                  <a:srgbClr val="FF0000"/>
                </a:solidFill>
              </a:rPr>
              <a:t>Integration</a:t>
            </a:r>
          </a:p>
          <a:p>
            <a:pPr marL="1167130" lvl="1" indent="-624205" eaLnBrk="1" hangingPunct="1">
              <a:lnSpc>
                <a:spcPct val="100000"/>
              </a:lnSpc>
              <a:spcBef>
                <a:spcPct val="25000"/>
              </a:spcBef>
              <a:buFont typeface="Arial" panose="020B0604020202020204" pitchFamily="34" charset="0"/>
              <a:buChar char="–"/>
              <a:defRPr/>
            </a:pPr>
            <a:r>
              <a:rPr lang="en-US" altLang="zh-CN" sz="2400" dirty="0">
                <a:solidFill>
                  <a:srgbClr val="FF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  <a:sym typeface="+mn-ea"/>
              </a:rPr>
              <a:t>Combine the </a:t>
            </a:r>
            <a:r>
              <a:rPr lang="en-US" altLang="zh-CN" sz="2400" dirty="0" err="1">
                <a:solidFill>
                  <a:srgbClr val="FF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  <a:sym typeface="+mn-ea"/>
              </a:rPr>
              <a:t>datapath</a:t>
            </a:r>
            <a:r>
              <a:rPr lang="en-US" altLang="zh-CN" sz="2400" dirty="0">
                <a:solidFill>
                  <a:srgbClr val="FF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  <a:sym typeface="+mn-ea"/>
              </a:rPr>
              <a:t> and the controller;</a:t>
            </a:r>
            <a:endParaRPr lang="zh-CN" altLang="zh-CN" sz="2400" dirty="0">
              <a:solidFill>
                <a:srgbClr val="FF0000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  <a:p>
            <a:pPr marL="1167130" lvl="1" indent="-624205" eaLnBrk="1" hangingPunct="1">
              <a:lnSpc>
                <a:spcPct val="100000"/>
              </a:lnSpc>
              <a:spcBef>
                <a:spcPct val="25000"/>
              </a:spcBef>
              <a:buFont typeface="Arial" panose="020B0604020202020204" pitchFamily="34" charset="0"/>
              <a:buChar char="–"/>
              <a:defRPr/>
            </a:pPr>
            <a:r>
              <a:rPr lang="en-US" altLang="zh-CN" sz="2400" dirty="0">
                <a:solidFill>
                  <a:srgbClr val="FF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  <a:sym typeface="+mn-ea"/>
              </a:rPr>
              <a:t>Synthesis;</a:t>
            </a:r>
            <a:endParaRPr lang="zh-CN" altLang="zh-CN" sz="2400" dirty="0">
              <a:solidFill>
                <a:srgbClr val="FF0000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  <a:p>
            <a:pPr marL="1167130" lvl="1" indent="-624205" eaLnBrk="1" hangingPunct="1">
              <a:lnSpc>
                <a:spcPct val="100000"/>
              </a:lnSpc>
              <a:spcBef>
                <a:spcPct val="25000"/>
              </a:spcBef>
              <a:buFont typeface="Arial" panose="020B0604020202020204" pitchFamily="34" charset="0"/>
              <a:buChar char="–"/>
              <a:defRPr/>
            </a:pPr>
            <a:r>
              <a:rPr lang="en-US" altLang="zh-CN" sz="2400" dirty="0">
                <a:solidFill>
                  <a:srgbClr val="FF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  <a:sym typeface="+mn-ea"/>
              </a:rPr>
              <a:t>Compose the testbench and do simulation.</a:t>
            </a:r>
          </a:p>
          <a:p>
            <a:pPr marL="742950" lvl="1" indent="-742950" eaLnBrk="1" hangingPunct="1">
              <a:lnSpc>
                <a:spcPct val="100000"/>
              </a:lnSpc>
              <a:spcBef>
                <a:spcPts val="750"/>
              </a:spcBef>
              <a:buFont typeface="+mj-lt"/>
              <a:buAutoNum type="arabicPeriod" startAt="5"/>
              <a:defRPr/>
            </a:pPr>
            <a:r>
              <a:rPr lang="en-US" altLang="zh-CN" sz="4000" dirty="0"/>
              <a:t>CPU </a:t>
            </a:r>
            <a:r>
              <a:rPr lang="en-US" altLang="zh-CN" sz="4000" dirty="0">
                <a:sym typeface="+mn-ea"/>
              </a:rPr>
              <a:t>Verification and</a:t>
            </a:r>
            <a:r>
              <a:rPr lang="en-US" altLang="zh-CN" sz="4000" dirty="0"/>
              <a:t> Improvement</a:t>
            </a:r>
          </a:p>
          <a:p>
            <a:pPr eaLnBrk="1" hangingPunct="1">
              <a:lnSpc>
                <a:spcPct val="150000"/>
              </a:lnSpc>
              <a:defRPr/>
            </a:pPr>
            <a:endParaRPr lang="en-US" altLang="zh-CN" sz="2400" dirty="0"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  <a:p>
            <a:pPr eaLnBrk="1" hangingPunct="1">
              <a:lnSpc>
                <a:spcPct val="150000"/>
              </a:lnSpc>
              <a:defRPr/>
            </a:pPr>
            <a:endParaRPr lang="zh-CN" altLang="en-US" sz="2400" dirty="0"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标题 1"/>
          <p:cNvSpPr>
            <a:spLocks noGrp="1" noChangeArrowheads="1"/>
          </p:cNvSpPr>
          <p:nvPr>
            <p:ph type="title"/>
          </p:nvPr>
        </p:nvSpPr>
        <p:spPr>
          <a:xfrm>
            <a:off x="690563" y="-11113"/>
            <a:ext cx="10515600" cy="1325563"/>
          </a:xfrm>
        </p:spPr>
        <p:txBody>
          <a:bodyPr/>
          <a:lstStyle/>
          <a:p>
            <a:r>
              <a:rPr lang="en-GB" altLang="en-US" sz="5400" b="1">
                <a:solidFill>
                  <a:srgbClr val="00B0F0"/>
                </a:solidFill>
                <a:ea typeface="等线 Light" panose="02010600030101010101" pitchFamily="2" charset="-122"/>
              </a:rPr>
              <a:t>CPU Organization</a:t>
            </a:r>
            <a:endParaRPr lang="zh-CN" altLang="en-US" sz="5400"/>
          </a:p>
        </p:txBody>
      </p:sp>
      <p:sp>
        <p:nvSpPr>
          <p:cNvPr id="6147" name="Oval 37"/>
          <p:cNvSpPr>
            <a:spLocks noChangeArrowheads="1"/>
          </p:cNvSpPr>
          <p:nvPr/>
        </p:nvSpPr>
        <p:spPr bwMode="auto">
          <a:xfrm>
            <a:off x="1951038" y="1943100"/>
            <a:ext cx="2200275" cy="2190750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</a:ln>
        </p:spPr>
        <p:txBody>
          <a:bodyPr wrap="none" lIns="90000" tIns="46800" rIns="90000" bIns="46800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eaLnBrk="1" hangingPunct="1"/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148" name="Text Box 41"/>
          <p:cNvSpPr txBox="1">
            <a:spLocks noChangeArrowheads="1"/>
          </p:cNvSpPr>
          <p:nvPr/>
        </p:nvSpPr>
        <p:spPr bwMode="auto">
          <a:xfrm>
            <a:off x="2717800" y="1898650"/>
            <a:ext cx="668338" cy="371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en-GB" altLang="en-US" b="1">
                <a:latin typeface="Arial" panose="020B0604020202020204" pitchFamily="34" charset="0"/>
                <a:ea typeface="宋体" panose="02010600030101010101" pitchFamily="2" charset="-122"/>
              </a:rPr>
              <a:t>CPU</a:t>
            </a:r>
            <a:endParaRPr lang="en-GB" altLang="en-US" sz="2000" b="1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149" name="Line 45"/>
          <p:cNvSpPr>
            <a:spLocks noChangeShapeType="1"/>
          </p:cNvSpPr>
          <p:nvPr/>
        </p:nvSpPr>
        <p:spPr bwMode="auto">
          <a:xfrm flipV="1">
            <a:off x="2800350" y="998538"/>
            <a:ext cx="6076950" cy="13509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150" name="Line 46"/>
          <p:cNvSpPr>
            <a:spLocks noChangeShapeType="1"/>
          </p:cNvSpPr>
          <p:nvPr/>
        </p:nvSpPr>
        <p:spPr bwMode="auto">
          <a:xfrm>
            <a:off x="3116263" y="3159125"/>
            <a:ext cx="5895975" cy="444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151" name="Oval 48"/>
          <p:cNvSpPr>
            <a:spLocks noChangeArrowheads="1"/>
          </p:cNvSpPr>
          <p:nvPr/>
        </p:nvSpPr>
        <p:spPr bwMode="auto">
          <a:xfrm>
            <a:off x="2576513" y="3159125"/>
            <a:ext cx="944562" cy="900113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0000" tIns="46800" rIns="90000" bIns="46800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eaLnBrk="1" hangingPunct="1"/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152" name="Text Box 49"/>
          <p:cNvSpPr txBox="1">
            <a:spLocks noChangeArrowheads="1"/>
          </p:cNvSpPr>
          <p:nvPr/>
        </p:nvSpPr>
        <p:spPr bwMode="auto">
          <a:xfrm>
            <a:off x="2536825" y="3338513"/>
            <a:ext cx="1028700" cy="587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1600" b="1">
                <a:latin typeface="Arial" panose="020B0604020202020204" pitchFamily="34" charset="0"/>
                <a:ea typeface="宋体" panose="02010600030101010101" pitchFamily="2" charset="-122"/>
              </a:rPr>
              <a:t>Control</a:t>
            </a:r>
          </a:p>
          <a:p>
            <a:pPr algn="ctr" eaLnBrk="1" hangingPunct="1"/>
            <a:r>
              <a:rPr lang="en-US" altLang="zh-CN" sz="1600" b="1">
                <a:latin typeface="Arial" panose="020B0604020202020204" pitchFamily="34" charset="0"/>
                <a:ea typeface="宋体" panose="02010600030101010101" pitchFamily="2" charset="-122"/>
              </a:rPr>
              <a:t>Unit</a:t>
            </a:r>
            <a:endParaRPr lang="en-US" altLang="zh-CN" sz="2000" b="1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153" name="Oval 52"/>
          <p:cNvSpPr>
            <a:spLocks noChangeArrowheads="1"/>
          </p:cNvSpPr>
          <p:nvPr/>
        </p:nvSpPr>
        <p:spPr bwMode="auto">
          <a:xfrm>
            <a:off x="2273300" y="2349500"/>
            <a:ext cx="977900" cy="944563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0000" tIns="46800" rIns="90000" bIns="46800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eaLnBrk="1" hangingPunct="1"/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154" name="Text Box 54"/>
          <p:cNvSpPr txBox="1">
            <a:spLocks noChangeArrowheads="1"/>
          </p:cNvSpPr>
          <p:nvPr/>
        </p:nvSpPr>
        <p:spPr bwMode="auto">
          <a:xfrm>
            <a:off x="2260600" y="2652713"/>
            <a:ext cx="1081088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1600" b="1">
                <a:latin typeface="Arial" panose="020B0604020202020204" pitchFamily="34" charset="0"/>
                <a:ea typeface="宋体" panose="02010600030101010101" pitchFamily="2" charset="-122"/>
              </a:rPr>
              <a:t>Datapath</a:t>
            </a:r>
          </a:p>
        </p:txBody>
      </p:sp>
      <p:sp>
        <p:nvSpPr>
          <p:cNvPr id="6155" name="Oval 35" descr="50%"/>
          <p:cNvSpPr>
            <a:spLocks noChangeArrowheads="1"/>
          </p:cNvSpPr>
          <p:nvPr/>
        </p:nvSpPr>
        <p:spPr bwMode="auto">
          <a:xfrm>
            <a:off x="5456238" y="3294063"/>
            <a:ext cx="3151187" cy="2921000"/>
          </a:xfrm>
          <a:prstGeom prst="ellipse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</a:ln>
        </p:spPr>
        <p:txBody>
          <a:bodyPr wrap="none" lIns="90000" tIns="46800" rIns="90000" bIns="46800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eaLnBrk="1" hangingPunct="1"/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156" name="Oval 40"/>
          <p:cNvSpPr>
            <a:spLocks noChangeArrowheads="1"/>
          </p:cNvSpPr>
          <p:nvPr/>
        </p:nvSpPr>
        <p:spPr bwMode="auto">
          <a:xfrm>
            <a:off x="6064250" y="3808413"/>
            <a:ext cx="1901825" cy="1330325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</a:ln>
        </p:spPr>
        <p:txBody>
          <a:bodyPr wrap="none" lIns="90000" tIns="46800" rIns="90000" bIns="46800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eaLnBrk="1" hangingPunct="1"/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157" name="Text Box 44"/>
          <p:cNvSpPr txBox="1">
            <a:spLocks noChangeArrowheads="1"/>
          </p:cNvSpPr>
          <p:nvPr/>
        </p:nvSpPr>
        <p:spPr bwMode="auto">
          <a:xfrm>
            <a:off x="6254750" y="4211638"/>
            <a:ext cx="1665288" cy="309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 eaLnBrk="1" hangingPunct="1"/>
            <a:r>
              <a:rPr lang="en-GB" altLang="en-US" sz="1400" b="1">
                <a:latin typeface="Arial" panose="020B0604020202020204" pitchFamily="34" charset="0"/>
                <a:ea typeface="宋体" panose="02010600030101010101" pitchFamily="2" charset="-122"/>
              </a:rPr>
              <a:t>state_transition</a:t>
            </a:r>
          </a:p>
        </p:txBody>
      </p:sp>
      <p:sp>
        <p:nvSpPr>
          <p:cNvPr id="6158" name="Text Box 55"/>
          <p:cNvSpPr txBox="1">
            <a:spLocks noChangeArrowheads="1"/>
          </p:cNvSpPr>
          <p:nvPr/>
        </p:nvSpPr>
        <p:spPr bwMode="auto">
          <a:xfrm>
            <a:off x="6351588" y="3429000"/>
            <a:ext cx="1514475" cy="371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 b="1">
                <a:latin typeface="Arial" panose="020B0604020202020204" pitchFamily="34" charset="0"/>
                <a:ea typeface="宋体" panose="02010600030101010101" pitchFamily="2" charset="-122"/>
              </a:rPr>
              <a:t>Control Unit</a:t>
            </a:r>
            <a:endParaRPr lang="en-US" altLang="zh-CN" sz="1400" b="1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159" name="Oval 20" descr="50%"/>
          <p:cNvSpPr>
            <a:spLocks noChangeArrowheads="1"/>
          </p:cNvSpPr>
          <p:nvPr/>
        </p:nvSpPr>
        <p:spPr bwMode="auto">
          <a:xfrm>
            <a:off x="7953375" y="993775"/>
            <a:ext cx="2279650" cy="2205038"/>
          </a:xfrm>
          <a:prstGeom prst="ellipse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</a:ln>
        </p:spPr>
        <p:txBody>
          <a:bodyPr wrap="none" lIns="90000" tIns="46800" rIns="90000" bIns="46800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 eaLnBrk="1" hangingPunct="1"/>
            <a:endParaRPr lang="en-GB" altLang="en-US" sz="16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160" name="Oval 21"/>
          <p:cNvSpPr>
            <a:spLocks noChangeArrowheads="1"/>
          </p:cNvSpPr>
          <p:nvPr/>
        </p:nvSpPr>
        <p:spPr bwMode="auto">
          <a:xfrm>
            <a:off x="8102600" y="1803400"/>
            <a:ext cx="990600" cy="9906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</a:ln>
        </p:spPr>
        <p:txBody>
          <a:bodyPr wrap="none" lIns="90000" tIns="46800" rIns="90000" bIns="46800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eaLnBrk="1" hangingPunct="1"/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161" name="Oval 23"/>
          <p:cNvSpPr>
            <a:spLocks noChangeArrowheads="1"/>
          </p:cNvSpPr>
          <p:nvPr/>
        </p:nvSpPr>
        <p:spPr bwMode="auto">
          <a:xfrm>
            <a:off x="9148763" y="1382713"/>
            <a:ext cx="898525" cy="83185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</a:ln>
        </p:spPr>
        <p:txBody>
          <a:bodyPr wrap="none" lIns="90000" tIns="46800" rIns="90000" bIns="46800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eaLnBrk="1" hangingPunct="1"/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162" name="Text Box 27"/>
          <p:cNvSpPr txBox="1">
            <a:spLocks noChangeArrowheads="1"/>
          </p:cNvSpPr>
          <p:nvPr/>
        </p:nvSpPr>
        <p:spPr bwMode="auto">
          <a:xfrm>
            <a:off x="9282113" y="1603375"/>
            <a:ext cx="601662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en-GB" altLang="en-US" sz="1600" b="1">
                <a:latin typeface="Arial" panose="020B0604020202020204" pitchFamily="34" charset="0"/>
                <a:ea typeface="宋体" panose="02010600030101010101" pitchFamily="2" charset="-122"/>
              </a:rPr>
              <a:t>ALU</a:t>
            </a:r>
          </a:p>
        </p:txBody>
      </p:sp>
      <p:sp>
        <p:nvSpPr>
          <p:cNvPr id="6163" name="Text Box 34"/>
          <p:cNvSpPr txBox="1">
            <a:spLocks noChangeArrowheads="1"/>
          </p:cNvSpPr>
          <p:nvPr/>
        </p:nvSpPr>
        <p:spPr bwMode="auto">
          <a:xfrm>
            <a:off x="8048625" y="2174875"/>
            <a:ext cx="1117600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en-GB" altLang="en-US" sz="1600" b="1">
                <a:latin typeface="Arial" panose="020B0604020202020204" pitchFamily="34" charset="0"/>
                <a:ea typeface="宋体" panose="02010600030101010101" pitchFamily="2" charset="-122"/>
              </a:rPr>
              <a:t>Registers</a:t>
            </a:r>
          </a:p>
        </p:txBody>
      </p:sp>
      <p:sp>
        <p:nvSpPr>
          <p:cNvPr id="6164" name="Text Box 46"/>
          <p:cNvSpPr txBox="1">
            <a:spLocks noChangeArrowheads="1"/>
          </p:cNvSpPr>
          <p:nvPr/>
        </p:nvSpPr>
        <p:spPr bwMode="auto">
          <a:xfrm>
            <a:off x="8537575" y="1047750"/>
            <a:ext cx="1169988" cy="371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b="1">
                <a:latin typeface="Arial" panose="020B0604020202020204" pitchFamily="34" charset="0"/>
                <a:ea typeface="宋体" panose="02010600030101010101" pitchFamily="2" charset="-122"/>
              </a:rPr>
              <a:t>Datapath</a:t>
            </a:r>
            <a:endParaRPr lang="en-US" altLang="zh-CN" sz="1400" b="1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165" name="Line 45"/>
          <p:cNvSpPr>
            <a:spLocks noChangeShapeType="1"/>
          </p:cNvSpPr>
          <p:nvPr/>
        </p:nvSpPr>
        <p:spPr bwMode="auto">
          <a:xfrm>
            <a:off x="3116263" y="3159125"/>
            <a:ext cx="4095750" cy="1349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166" name="Line 45"/>
          <p:cNvSpPr>
            <a:spLocks noChangeShapeType="1"/>
          </p:cNvSpPr>
          <p:nvPr/>
        </p:nvSpPr>
        <p:spPr bwMode="auto">
          <a:xfrm>
            <a:off x="2981325" y="4059238"/>
            <a:ext cx="3105150" cy="18907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167" name="Oval 21"/>
          <p:cNvSpPr>
            <a:spLocks noChangeArrowheads="1"/>
          </p:cNvSpPr>
          <p:nvPr/>
        </p:nvSpPr>
        <p:spPr bwMode="auto">
          <a:xfrm>
            <a:off x="9012238" y="2138363"/>
            <a:ext cx="990600" cy="9906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</a:ln>
        </p:spPr>
        <p:txBody>
          <a:bodyPr wrap="none" lIns="90000" tIns="46800" rIns="90000" bIns="46800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eaLnBrk="1" hangingPunct="1"/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168" name="Text Box 27"/>
          <p:cNvSpPr txBox="1">
            <a:spLocks noChangeArrowheads="1"/>
          </p:cNvSpPr>
          <p:nvPr/>
        </p:nvSpPr>
        <p:spPr bwMode="auto">
          <a:xfrm>
            <a:off x="9174163" y="2538413"/>
            <a:ext cx="466725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en-GB" altLang="en-US" sz="1600" b="1">
                <a:latin typeface="Arial" panose="020B0604020202020204" pitchFamily="34" charset="0"/>
                <a:ea typeface="宋体" panose="02010600030101010101" pitchFamily="2" charset="-122"/>
              </a:rPr>
              <a:t>PC</a:t>
            </a:r>
          </a:p>
        </p:txBody>
      </p:sp>
      <p:sp>
        <p:nvSpPr>
          <p:cNvPr id="6169" name="Oval 40"/>
          <p:cNvSpPr>
            <a:spLocks noChangeArrowheads="1"/>
          </p:cNvSpPr>
          <p:nvPr/>
        </p:nvSpPr>
        <p:spPr bwMode="auto">
          <a:xfrm>
            <a:off x="6203950" y="5081588"/>
            <a:ext cx="1574800" cy="1025525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</a:ln>
        </p:spPr>
        <p:txBody>
          <a:bodyPr wrap="none" lIns="90000" tIns="46800" rIns="90000" bIns="46800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eaLnBrk="1" hangingPunct="1"/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170" name="矩形 1"/>
          <p:cNvSpPr>
            <a:spLocks noChangeArrowheads="1"/>
          </p:cNvSpPr>
          <p:nvPr/>
        </p:nvSpPr>
        <p:spPr bwMode="auto">
          <a:xfrm>
            <a:off x="6700838" y="5438775"/>
            <a:ext cx="41592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r>
              <a:rPr lang="en-GB" altLang="en-US" b="1">
                <a:latin typeface="Arial" panose="020B0604020202020204" pitchFamily="34" charset="0"/>
                <a:ea typeface="宋体" panose="02010600030101010101" pitchFamily="2" charset="-122"/>
              </a:rPr>
              <a:t>IR</a:t>
            </a:r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8"/>
          <p:cNvSpPr>
            <a:spLocks noChangeArrowheads="1"/>
          </p:cNvSpPr>
          <p:nvPr/>
        </p:nvSpPr>
        <p:spPr bwMode="auto">
          <a:xfrm rot="-5400000">
            <a:off x="9339263" y="1398588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195" name="标题 1"/>
          <p:cNvSpPr>
            <a:spLocks noGrp="1" noChangeArrowheads="1"/>
          </p:cNvSpPr>
          <p:nvPr>
            <p:ph type="title"/>
          </p:nvPr>
        </p:nvSpPr>
        <p:spPr>
          <a:xfrm>
            <a:off x="295901" y="0"/>
            <a:ext cx="10515600" cy="1325563"/>
          </a:xfrm>
        </p:spPr>
        <p:txBody>
          <a:bodyPr/>
          <a:lstStyle/>
          <a:p>
            <a:r>
              <a:rPr lang="en-US" altLang="zh-CN" sz="5400" b="1">
                <a:solidFill>
                  <a:srgbClr val="00B0F0"/>
                </a:solidFill>
              </a:rPr>
              <a:t>Top structure </a:t>
            </a:r>
            <a:r>
              <a:rPr lang="en-GB" altLang="en-US" sz="5400" b="1">
                <a:solidFill>
                  <a:srgbClr val="00B0F0"/>
                </a:solidFill>
                <a:ea typeface="等线 Light" panose="02010600030101010101" pitchFamily="2" charset="-122"/>
              </a:rPr>
              <a:t>of our CPU</a:t>
            </a:r>
            <a:endParaRPr lang="zh-CN" altLang="en-US" sz="5400"/>
          </a:p>
        </p:txBody>
      </p:sp>
      <p:sp>
        <p:nvSpPr>
          <p:cNvPr id="8197" name="文本框 5"/>
          <p:cNvSpPr txBox="1">
            <a:spLocks noChangeArrowheads="1"/>
          </p:cNvSpPr>
          <p:nvPr/>
        </p:nvSpPr>
        <p:spPr bwMode="auto">
          <a:xfrm>
            <a:off x="7704138" y="1909460"/>
            <a:ext cx="4487862" cy="430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400" b="1" dirty="0"/>
              <a:t>module </a:t>
            </a:r>
            <a:r>
              <a:rPr lang="en-US" altLang="zh-CN" sz="2400" b="1" dirty="0" err="1"/>
              <a:t>cpu</a:t>
            </a:r>
            <a:r>
              <a:rPr lang="zh-CN" altLang="en-US" sz="2400" b="1" dirty="0"/>
              <a:t>(</a:t>
            </a:r>
            <a:r>
              <a:rPr lang="en-US" altLang="zh-CN" sz="2400" b="1" dirty="0"/>
              <a:t>....</a:t>
            </a:r>
            <a:r>
              <a:rPr lang="zh-CN" altLang="en-US" sz="2400" b="1" dirty="0"/>
              <a:t>);</a:t>
            </a:r>
          </a:p>
          <a:p>
            <a:r>
              <a:rPr lang="zh-CN" altLang="en-US" sz="2400" b="1" dirty="0"/>
              <a:t>     input </a:t>
            </a:r>
            <a:r>
              <a:rPr lang="zh-CN" altLang="en-US" sz="2400" b="1" dirty="0">
                <a:solidFill>
                  <a:srgbClr val="FF0000"/>
                </a:solidFill>
              </a:rPr>
              <a:t>XXXX</a:t>
            </a:r>
          </a:p>
          <a:p>
            <a:r>
              <a:rPr lang="zh-CN" altLang="en-US" sz="2400" b="1" dirty="0"/>
              <a:t>     output </a:t>
            </a:r>
            <a:r>
              <a:rPr lang="zh-CN" altLang="en-US" sz="2400" b="1" dirty="0">
                <a:solidFill>
                  <a:srgbClr val="FF0000"/>
                </a:solidFill>
              </a:rPr>
              <a:t>XXXX</a:t>
            </a:r>
            <a:endParaRPr lang="en-US" altLang="zh-CN" sz="2400" b="1" dirty="0">
              <a:solidFill>
                <a:srgbClr val="FF0000"/>
              </a:solidFill>
            </a:endParaRPr>
          </a:p>
          <a:p>
            <a:r>
              <a:rPr lang="en-US" altLang="zh-CN" sz="2400" b="1" dirty="0">
                <a:solidFill>
                  <a:srgbClr val="FF0000"/>
                </a:solidFill>
              </a:rPr>
              <a:t>    </a:t>
            </a:r>
          </a:p>
          <a:p>
            <a:r>
              <a:rPr lang="en-US" altLang="zh-CN" sz="2400" b="1" dirty="0">
                <a:solidFill>
                  <a:srgbClr val="FF0000"/>
                </a:solidFill>
              </a:rPr>
              <a:t>    </a:t>
            </a:r>
            <a:r>
              <a:rPr lang="en-US" altLang="zh-CN" sz="2400" b="1" dirty="0"/>
              <a:t>wire  </a:t>
            </a:r>
            <a:r>
              <a:rPr lang="zh-CN" altLang="en-US" sz="2400" b="1" dirty="0">
                <a:solidFill>
                  <a:srgbClr val="FF0000"/>
                </a:solidFill>
              </a:rPr>
              <a:t>XXXX</a:t>
            </a:r>
          </a:p>
          <a:p>
            <a:r>
              <a:rPr lang="en-US" altLang="zh-CN" sz="2400" b="1" dirty="0"/>
              <a:t>     </a:t>
            </a:r>
            <a:r>
              <a:rPr lang="en-US" altLang="zh-CN" sz="2400" b="1" dirty="0" err="1"/>
              <a:t>reg</a:t>
            </a:r>
            <a:r>
              <a:rPr lang="en-US" altLang="zh-CN" sz="2400" b="1" dirty="0"/>
              <a:t>   </a:t>
            </a:r>
            <a:r>
              <a:rPr lang="zh-CN" altLang="en-US" sz="2400" b="1" dirty="0">
                <a:solidFill>
                  <a:srgbClr val="FF0000"/>
                </a:solidFill>
              </a:rPr>
              <a:t>XXXX</a:t>
            </a:r>
          </a:p>
          <a:p>
            <a:endParaRPr lang="zh-CN" altLang="en-US" sz="2400" b="1" dirty="0"/>
          </a:p>
          <a:p>
            <a:pPr>
              <a:spcBef>
                <a:spcPts val="1200"/>
              </a:spcBef>
            </a:pPr>
            <a:r>
              <a:rPr lang="zh-CN" altLang="en-US" sz="2400" b="1" dirty="0"/>
              <a:t>     data_path data_path1 (</a:t>
            </a:r>
            <a:r>
              <a:rPr lang="zh-CN" altLang="en-US" sz="2400" b="1" dirty="0">
                <a:solidFill>
                  <a:srgbClr val="FF0000"/>
                </a:solidFill>
              </a:rPr>
              <a:t>XXXX</a:t>
            </a:r>
            <a:r>
              <a:rPr lang="zh-CN" altLang="en-US" sz="2400" b="1" dirty="0"/>
              <a:t>);</a:t>
            </a:r>
          </a:p>
          <a:p>
            <a:r>
              <a:rPr lang="zh-CN" altLang="en-US" sz="2400" b="1" dirty="0"/>
              <a:t>     control_unit1(</a:t>
            </a:r>
            <a:r>
              <a:rPr lang="zh-CN" altLang="en-US" sz="2400" b="1" dirty="0">
                <a:solidFill>
                  <a:srgbClr val="FF0000"/>
                </a:solidFill>
              </a:rPr>
              <a:t>XXXX</a:t>
            </a:r>
            <a:r>
              <a:rPr lang="zh-CN" altLang="en-US" sz="2400" b="1" dirty="0"/>
              <a:t>);</a:t>
            </a:r>
          </a:p>
          <a:p>
            <a:pPr>
              <a:lnSpc>
                <a:spcPct val="150000"/>
              </a:lnSpc>
            </a:pPr>
            <a:r>
              <a:rPr lang="zh-CN" altLang="en-US" sz="2400" b="1" dirty="0"/>
              <a:t>endmodule</a:t>
            </a:r>
            <a:r>
              <a:rPr lang="en-US" altLang="zh-CN" sz="2400" b="1" dirty="0">
                <a:solidFill>
                  <a:srgbClr val="C55A11"/>
                </a:solidFill>
              </a:rPr>
              <a:t>		</a:t>
            </a:r>
          </a:p>
        </p:txBody>
      </p:sp>
      <p:sp>
        <p:nvSpPr>
          <p:cNvPr id="26" name="TextBox 6"/>
          <p:cNvSpPr txBox="1">
            <a:spLocks noChangeArrowheads="1"/>
          </p:cNvSpPr>
          <p:nvPr/>
        </p:nvSpPr>
        <p:spPr bwMode="auto">
          <a:xfrm>
            <a:off x="1404916" y="1434236"/>
            <a:ext cx="1544018" cy="4688915"/>
          </a:xfrm>
          <a:prstGeom prst="rect">
            <a:avLst/>
          </a:prstGeom>
          <a:noFill/>
          <a:ln w="25400">
            <a:solidFill>
              <a:srgbClr val="FF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 anchorCtr="1"/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514350" indent="-1714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857250" indent="-1714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200150" indent="-1714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1543050" indent="-1714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000250" indent="-17145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457450" indent="-17145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2914650" indent="-17145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371850" indent="-17145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endParaRPr lang="en-US" altLang="zh-CN" sz="240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endParaRPr lang="en-US" altLang="zh-CN" sz="240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endParaRPr lang="en-US" altLang="zh-CN" sz="240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endParaRPr lang="en-US" altLang="zh-CN" sz="240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endParaRPr lang="en-US" altLang="zh-CN" sz="240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endParaRPr lang="en-US" altLang="zh-CN" sz="240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endParaRPr lang="en-US" altLang="zh-CN" sz="240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endParaRPr lang="en-US" altLang="zh-CN" sz="240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endParaRPr lang="en-US" altLang="zh-CN" sz="240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endParaRPr lang="en-US" altLang="zh-CN" sz="2400">
              <a:solidFill>
                <a:srgbClr val="00B0F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sz="2400">
                <a:solidFill>
                  <a:srgbClr val="00B0F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Data</a:t>
            </a: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sz="2400">
                <a:solidFill>
                  <a:srgbClr val="00B0F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path</a:t>
            </a:r>
            <a:endParaRPr lang="zh-CN" altLang="en-US" sz="2400">
              <a:solidFill>
                <a:srgbClr val="00B0F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7" name="TextBox 7"/>
          <p:cNvSpPr txBox="1">
            <a:spLocks noChangeArrowheads="1"/>
          </p:cNvSpPr>
          <p:nvPr/>
        </p:nvSpPr>
        <p:spPr bwMode="auto">
          <a:xfrm>
            <a:off x="5285724" y="1389786"/>
            <a:ext cx="1510186" cy="4733365"/>
          </a:xfrm>
          <a:prstGeom prst="rect">
            <a:avLst/>
          </a:prstGeom>
          <a:noFill/>
          <a:ln w="25400">
            <a:solidFill>
              <a:srgbClr val="FF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 anchorCtr="1"/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514350" indent="-1714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857250" indent="-1714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200150" indent="-1714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1543050" indent="-1714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000250" indent="-17145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457450" indent="-17145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2914650" indent="-17145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371850" indent="-17145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endParaRPr lang="en-US" altLang="zh-CN" sz="240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endParaRPr lang="en-US" altLang="zh-CN" sz="240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endParaRPr lang="en-US" altLang="zh-CN" sz="240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endParaRPr lang="en-US" altLang="zh-CN" sz="240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endParaRPr lang="en-US" altLang="zh-CN" sz="240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endParaRPr lang="en-US" altLang="zh-CN" sz="240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endParaRPr lang="en-US" altLang="zh-CN" sz="240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endParaRPr lang="en-US" altLang="zh-CN" sz="240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endParaRPr lang="en-US" altLang="zh-CN" sz="2400">
              <a:solidFill>
                <a:srgbClr val="00B0F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sz="2400">
                <a:solidFill>
                  <a:srgbClr val="00B0F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Control</a:t>
            </a: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sz="2400">
                <a:solidFill>
                  <a:srgbClr val="00B0F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Unit</a:t>
            </a:r>
            <a:endParaRPr lang="zh-CN" altLang="en-US" sz="2400">
              <a:solidFill>
                <a:srgbClr val="00B0F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8" name="矩形 8"/>
          <p:cNvSpPr>
            <a:spLocks noChangeArrowheads="1"/>
          </p:cNvSpPr>
          <p:nvPr/>
        </p:nvSpPr>
        <p:spPr bwMode="auto">
          <a:xfrm>
            <a:off x="228826" y="1116737"/>
            <a:ext cx="7140162" cy="5270500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514350" indent="-1714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857250" indent="-1714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200150" indent="-1714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1543050" indent="-1714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000250" indent="-17145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457450" indent="-17145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2914650" indent="-17145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371850" indent="-17145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endParaRPr lang="zh-CN" altLang="en-US" sz="1800">
              <a:solidFill>
                <a:srgbClr val="FFFFFF"/>
              </a:solidFill>
              <a:ea typeface="宋体" panose="02010600030101010101" pitchFamily="2" charset="-122"/>
            </a:endParaRPr>
          </a:p>
        </p:txBody>
      </p:sp>
      <p:sp>
        <p:nvSpPr>
          <p:cNvPr id="29" name="左箭头 36"/>
          <p:cNvSpPr>
            <a:spLocks noChangeArrowheads="1"/>
          </p:cNvSpPr>
          <p:nvPr/>
        </p:nvSpPr>
        <p:spPr bwMode="auto">
          <a:xfrm>
            <a:off x="2987469" y="1850162"/>
            <a:ext cx="2272050" cy="674688"/>
          </a:xfrm>
          <a:prstGeom prst="leftArrow">
            <a:avLst>
              <a:gd name="adj1" fmla="val 50000"/>
              <a:gd name="adj2" fmla="val 50000"/>
            </a:avLst>
          </a:prstGeom>
          <a:solidFill>
            <a:schemeClr val="bg1"/>
          </a:solidFill>
          <a:ln w="25400">
            <a:solidFill>
              <a:srgbClr val="385D8A"/>
            </a:solidFill>
            <a:miter lim="800000"/>
          </a:ln>
        </p:spPr>
        <p:txBody>
          <a:bodyPr anchor="ctr"/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514350" indent="-1714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857250" indent="-1714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200150" indent="-1714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1543050" indent="-1714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000250" indent="-17145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457450" indent="-17145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2914650" indent="-17145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371850" indent="-17145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sz="1600" b="1">
                <a:ea typeface="宋体" panose="02010600030101010101" pitchFamily="2" charset="-122"/>
              </a:rPr>
              <a:t>regs control signals</a:t>
            </a:r>
            <a:endParaRPr lang="zh-CN" altLang="en-US" sz="1600" b="1">
              <a:ea typeface="宋体" panose="02010600030101010101" pitchFamily="2" charset="-122"/>
            </a:endParaRPr>
          </a:p>
        </p:txBody>
      </p:sp>
      <p:sp>
        <p:nvSpPr>
          <p:cNvPr id="30" name="TextBox 52"/>
          <p:cNvSpPr txBox="1">
            <a:spLocks noChangeArrowheads="1"/>
          </p:cNvSpPr>
          <p:nvPr/>
        </p:nvSpPr>
        <p:spPr bwMode="auto">
          <a:xfrm>
            <a:off x="361794" y="1171506"/>
            <a:ext cx="88169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514350" indent="-1714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857250" indent="-1714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200150" indent="-1714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1543050" indent="-1714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000250" indent="-17145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457450" indent="-17145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2914650" indent="-17145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371850" indent="-17145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sz="2400" b="1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CPU</a:t>
            </a:r>
            <a:endParaRPr lang="zh-CN" altLang="en-US" sz="2400" b="1">
              <a:solidFill>
                <a:srgbClr val="FF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1" name="矩形 2"/>
          <p:cNvSpPr>
            <a:spLocks noChangeArrowheads="1"/>
          </p:cNvSpPr>
          <p:nvPr/>
        </p:nvSpPr>
        <p:spPr bwMode="auto">
          <a:xfrm>
            <a:off x="1939940" y="1873975"/>
            <a:ext cx="843155" cy="627062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</a:ln>
        </p:spPr>
        <p:txBody>
          <a:bodyPr/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514350" indent="-1714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857250" indent="-1714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200150" indent="-1714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1543050" indent="-1714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000250" indent="-17145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457450" indent="-17145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2914650" indent="-17145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371850" indent="-17145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sz="1800">
                <a:latin typeface="Arial" panose="020B0604020202020204" pitchFamily="34" charset="0"/>
                <a:ea typeface="宋体" panose="02010600030101010101" pitchFamily="2" charset="-122"/>
              </a:rPr>
              <a:t>reg group</a:t>
            </a:r>
            <a:endParaRPr lang="zh-CN" altLang="en-US" sz="18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2" name="矩形 22"/>
          <p:cNvSpPr>
            <a:spLocks noChangeArrowheads="1"/>
          </p:cNvSpPr>
          <p:nvPr/>
        </p:nvSpPr>
        <p:spPr bwMode="auto">
          <a:xfrm>
            <a:off x="1996337" y="2893798"/>
            <a:ext cx="843155" cy="40481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</a:ln>
        </p:spPr>
        <p:txBody>
          <a:bodyPr/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514350" indent="-1714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857250" indent="-1714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200150" indent="-1714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1543050" indent="-1714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000250" indent="-17145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457450" indent="-17145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2914650" indent="-17145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371850" indent="-17145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sz="1800" dirty="0" err="1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alu</a:t>
            </a:r>
            <a:endParaRPr lang="zh-CN" altLang="en-US" sz="1800" dirty="0">
              <a:solidFill>
                <a:srgbClr val="FF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3" name="矩形 23"/>
          <p:cNvSpPr>
            <a:spLocks noChangeArrowheads="1"/>
          </p:cNvSpPr>
          <p:nvPr/>
        </p:nvSpPr>
        <p:spPr bwMode="auto">
          <a:xfrm>
            <a:off x="1939940" y="4619322"/>
            <a:ext cx="843155" cy="40481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</a:ln>
        </p:spPr>
        <p:txBody>
          <a:bodyPr/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514350" indent="-1714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857250" indent="-1714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200150" indent="-1714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1543050" indent="-1714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000250" indent="-17145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457450" indent="-17145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2914650" indent="-17145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371850" indent="-17145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sz="1800">
                <a:latin typeface="Arial" panose="020B0604020202020204" pitchFamily="34" charset="0"/>
                <a:ea typeface="宋体" panose="02010600030101010101" pitchFamily="2" charset="-122"/>
              </a:rPr>
              <a:t>pc</a:t>
            </a:r>
            <a:endParaRPr lang="zh-CN" altLang="en-US" sz="18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4" name="矩形 24"/>
          <p:cNvSpPr>
            <a:spLocks noChangeArrowheads="1"/>
          </p:cNvSpPr>
          <p:nvPr/>
        </p:nvSpPr>
        <p:spPr bwMode="auto">
          <a:xfrm>
            <a:off x="1592439" y="3654286"/>
            <a:ext cx="1298908" cy="404812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</a:ln>
        </p:spPr>
        <p:txBody>
          <a:bodyPr/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514350" indent="-1714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857250" indent="-1714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200150" indent="-1714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1543050" indent="-1714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000250" indent="-17145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457450" indent="-17145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2914650" indent="-17145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371850" indent="-17145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sz="1800">
                <a:latin typeface="Arial" panose="020B0604020202020204" pitchFamily="34" charset="0"/>
                <a:ea typeface="宋体" panose="02010600030101010101" pitchFamily="2" charset="-122"/>
              </a:rPr>
              <a:t>alu_mux</a:t>
            </a:r>
            <a:endParaRPr lang="zh-CN" altLang="en-US" sz="18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5" name="矩形 25"/>
          <p:cNvSpPr>
            <a:spLocks noChangeArrowheads="1"/>
          </p:cNvSpPr>
          <p:nvPr/>
        </p:nvSpPr>
        <p:spPr bwMode="auto">
          <a:xfrm>
            <a:off x="5596393" y="2072693"/>
            <a:ext cx="843155" cy="627062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</a:ln>
        </p:spPr>
        <p:txBody>
          <a:bodyPr anchor="ctr" anchorCtr="1"/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514350" indent="-1714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857250" indent="-1714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200150" indent="-1714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1543050" indent="-1714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000250" indent="-17145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457450" indent="-17145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2914650" indent="-17145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371850" indent="-17145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sz="1800">
                <a:latin typeface="Arial" panose="020B0604020202020204" pitchFamily="34" charset="0"/>
                <a:ea typeface="宋体" panose="02010600030101010101" pitchFamily="2" charset="-122"/>
              </a:rPr>
              <a:t>ir</a:t>
            </a:r>
            <a:endParaRPr lang="zh-CN" altLang="en-US" sz="18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6" name="矩形 26"/>
          <p:cNvSpPr>
            <a:spLocks noChangeArrowheads="1"/>
          </p:cNvSpPr>
          <p:nvPr/>
        </p:nvSpPr>
        <p:spPr bwMode="auto">
          <a:xfrm>
            <a:off x="5472032" y="3992259"/>
            <a:ext cx="1137567" cy="62706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</a:ln>
        </p:spPr>
        <p:txBody>
          <a:bodyPr/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514350" indent="-1714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857250" indent="-1714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200150" indent="-1714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1543050" indent="-1714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000250" indent="-17145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457450" indent="-17145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2914650" indent="-17145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371850" indent="-17145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sz="1800" dirty="0">
                <a:latin typeface="Arial" panose="020B0604020202020204" pitchFamily="34" charset="0"/>
                <a:ea typeface="宋体" panose="02010600030101010101" pitchFamily="2" charset="-122"/>
              </a:rPr>
              <a:t>state</a:t>
            </a: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sz="1800" dirty="0">
                <a:latin typeface="Arial" panose="020B0604020202020204" pitchFamily="34" charset="0"/>
                <a:ea typeface="宋体" panose="02010600030101010101" pitchFamily="2" charset="-122"/>
              </a:rPr>
              <a:t>transition</a:t>
            </a:r>
            <a:endParaRPr lang="zh-CN" altLang="en-US" sz="18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7" name="左箭头 37"/>
          <p:cNvSpPr>
            <a:spLocks noChangeArrowheads="1"/>
          </p:cNvSpPr>
          <p:nvPr/>
        </p:nvSpPr>
        <p:spPr bwMode="auto">
          <a:xfrm>
            <a:off x="2961266" y="4402104"/>
            <a:ext cx="2315210" cy="719138"/>
          </a:xfrm>
          <a:prstGeom prst="leftArrow">
            <a:avLst>
              <a:gd name="adj1" fmla="val 50000"/>
              <a:gd name="adj2" fmla="val 49996"/>
            </a:avLst>
          </a:prstGeom>
          <a:solidFill>
            <a:schemeClr val="bg1"/>
          </a:solidFill>
          <a:ln w="25400">
            <a:solidFill>
              <a:srgbClr val="385D8A"/>
            </a:solidFill>
            <a:miter lim="800000"/>
          </a:ln>
        </p:spPr>
        <p:txBody>
          <a:bodyPr anchor="ctr"/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514350" indent="-1714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857250" indent="-1714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200150" indent="-1714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1543050" indent="-1714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000250" indent="-17145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457450" indent="-17145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2914650" indent="-17145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371850" indent="-17145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sz="1600" b="1">
                <a:ea typeface="宋体" panose="02010600030101010101" pitchFamily="2" charset="-122"/>
              </a:rPr>
              <a:t>pc control signals</a:t>
            </a:r>
            <a:endParaRPr lang="zh-CN" altLang="en-US" sz="1600" b="1">
              <a:ea typeface="宋体" panose="02010600030101010101" pitchFamily="2" charset="-122"/>
            </a:endParaRPr>
          </a:p>
        </p:txBody>
      </p:sp>
      <p:sp>
        <p:nvSpPr>
          <p:cNvPr id="38" name="文本框 3"/>
          <p:cNvSpPr txBox="1">
            <a:spLocks noChangeArrowheads="1"/>
          </p:cNvSpPr>
          <p:nvPr/>
        </p:nvSpPr>
        <p:spPr bwMode="auto">
          <a:xfrm>
            <a:off x="3458964" y="1771348"/>
            <a:ext cx="180037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514350" indent="-1714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857250" indent="-1714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200150" indent="-1714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1543050" indent="-1714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000250" indent="-17145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457450" indent="-17145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2914650" indent="-17145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371850" indent="-17145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sz="1200" b="1">
                <a:latin typeface="Arial" panose="020B0604020202020204" pitchFamily="34" charset="0"/>
                <a:ea typeface="宋体" panose="02010600030101010101" pitchFamily="2" charset="-122"/>
              </a:rPr>
              <a:t>en_group, reg_en,…</a:t>
            </a:r>
            <a:endParaRPr lang="zh-CN" altLang="en-US" sz="1200" b="1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cxnSp>
        <p:nvCxnSpPr>
          <p:cNvPr id="39" name="直接箭头连接符 5"/>
          <p:cNvCxnSpPr>
            <a:cxnSpLocks noChangeShapeType="1"/>
            <a:stCxn id="35" idx="2"/>
            <a:endCxn id="36" idx="0"/>
          </p:cNvCxnSpPr>
          <p:nvPr/>
        </p:nvCxnSpPr>
        <p:spPr bwMode="auto">
          <a:xfrm>
            <a:off x="6017970" y="2699755"/>
            <a:ext cx="22846" cy="1292504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0" name="文本框 32"/>
          <p:cNvSpPr txBox="1">
            <a:spLocks noChangeArrowheads="1"/>
          </p:cNvSpPr>
          <p:nvPr/>
        </p:nvSpPr>
        <p:spPr bwMode="auto">
          <a:xfrm>
            <a:off x="6017969" y="3265746"/>
            <a:ext cx="833908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514350" indent="-1714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857250" indent="-1714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200150" indent="-1714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1543050" indent="-1714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000250" indent="-17145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457450" indent="-17145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2914650" indent="-17145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371850" indent="-17145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sz="1200" b="1">
                <a:latin typeface="Arial" panose="020B0604020202020204" pitchFamily="34" charset="0"/>
                <a:ea typeface="宋体" panose="02010600030101010101" pitchFamily="2" charset="-122"/>
              </a:rPr>
              <a:t>Opcode</a:t>
            </a:r>
            <a:endParaRPr lang="zh-CN" altLang="en-US" sz="1200" b="1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1" name="文本框 34"/>
          <p:cNvSpPr txBox="1">
            <a:spLocks noChangeArrowheads="1"/>
          </p:cNvSpPr>
          <p:nvPr/>
        </p:nvSpPr>
        <p:spPr bwMode="auto">
          <a:xfrm>
            <a:off x="3454519" y="4349204"/>
            <a:ext cx="180037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514350" indent="-1714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857250" indent="-1714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200150" indent="-1714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1543050" indent="-1714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000250" indent="-17145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457450" indent="-17145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2914650" indent="-17145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371850" indent="-17145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sz="1200" b="1">
                <a:latin typeface="Arial" panose="020B0604020202020204" pitchFamily="34" charset="0"/>
                <a:ea typeface="宋体" panose="02010600030101010101" pitchFamily="2" charset="-122"/>
              </a:rPr>
              <a:t>en_pc, pc_ctrl,…</a:t>
            </a:r>
            <a:endParaRPr lang="zh-CN" altLang="en-US" sz="1200" b="1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2" name="左箭头 37"/>
          <p:cNvSpPr>
            <a:spLocks noChangeArrowheads="1"/>
          </p:cNvSpPr>
          <p:nvPr/>
        </p:nvSpPr>
        <p:spPr bwMode="auto">
          <a:xfrm>
            <a:off x="2948934" y="5261700"/>
            <a:ext cx="2315210" cy="719137"/>
          </a:xfrm>
          <a:prstGeom prst="leftArrow">
            <a:avLst>
              <a:gd name="adj1" fmla="val 50000"/>
              <a:gd name="adj2" fmla="val 49996"/>
            </a:avLst>
          </a:prstGeom>
          <a:solidFill>
            <a:schemeClr val="bg1"/>
          </a:solidFill>
          <a:ln w="25400">
            <a:solidFill>
              <a:srgbClr val="385D8A"/>
            </a:solidFill>
            <a:miter lim="800000"/>
          </a:ln>
        </p:spPr>
        <p:txBody>
          <a:bodyPr anchor="ctr"/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514350" indent="-1714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857250" indent="-1714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200150" indent="-1714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1543050" indent="-1714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000250" indent="-17145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457450" indent="-17145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2914650" indent="-17145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371850" indent="-17145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sz="1600" b="1">
                <a:ea typeface="宋体" panose="02010600030101010101" pitchFamily="2" charset="-122"/>
              </a:rPr>
              <a:t>Other signals</a:t>
            </a:r>
            <a:endParaRPr lang="zh-CN" altLang="en-US" sz="1600" b="1">
              <a:ea typeface="宋体" panose="02010600030101010101" pitchFamily="2" charset="-122"/>
            </a:endParaRPr>
          </a:p>
        </p:txBody>
      </p:sp>
      <p:sp>
        <p:nvSpPr>
          <p:cNvPr id="43" name="左箭头 37"/>
          <p:cNvSpPr>
            <a:spLocks noChangeArrowheads="1"/>
          </p:cNvSpPr>
          <p:nvPr/>
        </p:nvSpPr>
        <p:spPr bwMode="auto">
          <a:xfrm>
            <a:off x="2961266" y="2736635"/>
            <a:ext cx="2315210" cy="719138"/>
          </a:xfrm>
          <a:prstGeom prst="leftArrow">
            <a:avLst>
              <a:gd name="adj1" fmla="val 50000"/>
              <a:gd name="adj2" fmla="val 49996"/>
            </a:avLst>
          </a:prstGeom>
          <a:solidFill>
            <a:schemeClr val="bg1"/>
          </a:solidFill>
          <a:ln w="25400">
            <a:solidFill>
              <a:srgbClr val="385D8A"/>
            </a:solidFill>
            <a:miter lim="800000"/>
          </a:ln>
        </p:spPr>
        <p:txBody>
          <a:bodyPr anchor="ctr"/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514350" indent="-1714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857250" indent="-1714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200150" indent="-1714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1543050" indent="-1714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000250" indent="-17145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457450" indent="-17145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2914650" indent="-17145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371850" indent="-17145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sz="1600" b="1">
                <a:ea typeface="宋体" panose="02010600030101010101" pitchFamily="2" charset="-122"/>
              </a:rPr>
              <a:t>alu control signals</a:t>
            </a:r>
            <a:endParaRPr lang="zh-CN" altLang="en-US" sz="1600" b="1">
              <a:ea typeface="宋体" panose="02010600030101010101" pitchFamily="2" charset="-122"/>
            </a:endParaRPr>
          </a:p>
        </p:txBody>
      </p:sp>
      <p:sp>
        <p:nvSpPr>
          <p:cNvPr id="45" name="左箭头 37"/>
          <p:cNvSpPr>
            <a:spLocks noChangeArrowheads="1"/>
          </p:cNvSpPr>
          <p:nvPr/>
        </p:nvSpPr>
        <p:spPr bwMode="auto">
          <a:xfrm>
            <a:off x="2961266" y="3541971"/>
            <a:ext cx="2315210" cy="719138"/>
          </a:xfrm>
          <a:prstGeom prst="leftArrow">
            <a:avLst>
              <a:gd name="adj1" fmla="val 50000"/>
              <a:gd name="adj2" fmla="val 49996"/>
            </a:avLst>
          </a:prstGeom>
          <a:solidFill>
            <a:schemeClr val="bg1"/>
          </a:solidFill>
          <a:ln w="25400">
            <a:solidFill>
              <a:srgbClr val="385D8A"/>
            </a:solidFill>
            <a:miter lim="800000"/>
          </a:ln>
        </p:spPr>
        <p:txBody>
          <a:bodyPr lIns="0" rIns="0" anchor="ctr"/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514350" indent="-1714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857250" indent="-1714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200150" indent="-1714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1543050" indent="-1714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000250" indent="-17145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457450" indent="-17145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2914650" indent="-17145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371850" indent="-17145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sz="1600" b="1">
                <a:ea typeface="宋体" panose="02010600030101010101" pitchFamily="2" charset="-122"/>
              </a:rPr>
              <a:t> alu_mux control signals</a:t>
            </a:r>
            <a:endParaRPr lang="zh-CN" altLang="en-US" sz="1600" b="1">
              <a:ea typeface="宋体" panose="02010600030101010101" pitchFamily="2" charset="-122"/>
            </a:endParaRPr>
          </a:p>
        </p:txBody>
      </p:sp>
      <p:sp>
        <p:nvSpPr>
          <p:cNvPr id="47" name="文本框 33"/>
          <p:cNvSpPr txBox="1">
            <a:spLocks noChangeArrowheads="1"/>
          </p:cNvSpPr>
          <p:nvPr/>
        </p:nvSpPr>
        <p:spPr bwMode="auto">
          <a:xfrm>
            <a:off x="3568137" y="2629213"/>
            <a:ext cx="1573138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514350" indent="-1714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857250" indent="-1714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200150" indent="-1714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1543050" indent="-1714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000250" indent="-17145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457450" indent="-17145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2914650" indent="-17145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371850" indent="-17145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sz="1200" b="1" dirty="0" err="1">
                <a:latin typeface="Arial" panose="020B0604020202020204" pitchFamily="34" charset="0"/>
                <a:ea typeface="宋体" panose="02010600030101010101" pitchFamily="2" charset="-122"/>
              </a:rPr>
              <a:t>alu_func</a:t>
            </a:r>
            <a:r>
              <a:rPr lang="en-US" altLang="zh-CN" sz="1200" b="1" dirty="0">
                <a:latin typeface="Arial" panose="020B0604020202020204" pitchFamily="34" charset="0"/>
                <a:ea typeface="宋体" panose="02010600030101010101" pitchFamily="2" charset="-122"/>
              </a:rPr>
              <a:t>,…</a:t>
            </a:r>
            <a:endParaRPr lang="zh-CN" altLang="en-US" sz="1200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8" name="文本框 34"/>
          <p:cNvSpPr txBox="1">
            <a:spLocks noChangeArrowheads="1"/>
          </p:cNvSpPr>
          <p:nvPr/>
        </p:nvSpPr>
        <p:spPr bwMode="auto">
          <a:xfrm>
            <a:off x="3515771" y="3435664"/>
            <a:ext cx="1594673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514350" indent="-1714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857250" indent="-1714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200150" indent="-1714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1543050" indent="-1714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000250" indent="-17145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457450" indent="-17145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2914650" indent="-17145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371850" indent="-17145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1200" b="1" dirty="0" err="1">
                <a:latin typeface="Arial" panose="020B0604020202020204" pitchFamily="34" charset="0"/>
                <a:ea typeface="宋体" panose="02010600030101010101" pitchFamily="2" charset="-122"/>
              </a:rPr>
              <a:t>alu_in_sel</a:t>
            </a:r>
            <a:r>
              <a:rPr lang="en-US" altLang="zh-CN" sz="1200" b="1" dirty="0">
                <a:latin typeface="Arial" panose="020B0604020202020204" pitchFamily="34" charset="0"/>
                <a:ea typeface="宋体" panose="02010600030101010101" pitchFamily="2" charset="-122"/>
              </a:rPr>
              <a:t>,…</a:t>
            </a:r>
            <a:endParaRPr lang="zh-CN" altLang="en-US" sz="1200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8"/>
          <p:cNvSpPr>
            <a:spLocks noChangeArrowheads="1"/>
          </p:cNvSpPr>
          <p:nvPr/>
        </p:nvSpPr>
        <p:spPr bwMode="auto">
          <a:xfrm rot="-5400000">
            <a:off x="9339263" y="1398588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219" name="标题 1"/>
          <p:cNvSpPr>
            <a:spLocks noGrp="1" noChangeArrowheads="1"/>
          </p:cNvSpPr>
          <p:nvPr>
            <p:ph type="title"/>
          </p:nvPr>
        </p:nvSpPr>
        <p:spPr>
          <a:xfrm>
            <a:off x="854075" y="0"/>
            <a:ext cx="10515600" cy="1325563"/>
          </a:xfrm>
        </p:spPr>
        <p:txBody>
          <a:bodyPr/>
          <a:lstStyle/>
          <a:p>
            <a:r>
              <a:rPr lang="en-US" altLang="zh-CN" sz="5400" b="1">
                <a:solidFill>
                  <a:srgbClr val="00B0F0"/>
                </a:solidFill>
              </a:rPr>
              <a:t>Instruction Set</a:t>
            </a:r>
            <a:endParaRPr lang="zh-CN" altLang="en-US" sz="5400"/>
          </a:p>
        </p:txBody>
      </p:sp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817563" y="969963"/>
          <a:ext cx="10979151" cy="4230686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6874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584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819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1102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4672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91725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0365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/>
                        <a:t>Opcode</a:t>
                      </a:r>
                      <a:endParaRPr lang="zh-CN" altLang="en-US" sz="2400" dirty="0"/>
                    </a:p>
                  </a:txBody>
                  <a:tcPr marL="91435" marR="91435"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/>
                        <a:t>Rd</a:t>
                      </a:r>
                      <a:endParaRPr lang="zh-CN" altLang="en-US" sz="2400" dirty="0"/>
                    </a:p>
                  </a:txBody>
                  <a:tcPr marL="91435" marR="91435"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 err="1"/>
                        <a:t>Rs</a:t>
                      </a:r>
                      <a:endParaRPr lang="zh-CN" altLang="en-US" sz="2400" dirty="0"/>
                    </a:p>
                  </a:txBody>
                  <a:tcPr marL="91435" marR="91435"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 err="1"/>
                        <a:t>Imme</a:t>
                      </a:r>
                      <a:endParaRPr lang="zh-CN" altLang="en-US" sz="2400" dirty="0"/>
                    </a:p>
                  </a:txBody>
                  <a:tcPr marL="91435" marR="91435" marT="45725" marB="45725"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CN" sz="2400" dirty="0"/>
                        <a:t>assembly</a:t>
                      </a:r>
                      <a:endParaRPr lang="zh-CN" altLang="en-US" sz="2400" dirty="0"/>
                    </a:p>
                  </a:txBody>
                  <a:tcPr marL="91435" marR="91435" marT="45725" marB="45725" anchor="ctr"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CN" sz="2400" dirty="0"/>
                        <a:t>function</a:t>
                      </a:r>
                      <a:endParaRPr lang="zh-CN" altLang="en-US" sz="2400" dirty="0"/>
                    </a:p>
                  </a:txBody>
                  <a:tcPr marL="91435" marR="91435" marT="45725" marB="45725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649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4bit</a:t>
                      </a:r>
                      <a:endParaRPr lang="zh-CN" altLang="en-US" sz="2000" dirty="0"/>
                    </a:p>
                  </a:txBody>
                  <a:tcPr marL="91435" marR="91435"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2bit</a:t>
                      </a:r>
                      <a:endParaRPr lang="zh-CN" altLang="en-US" sz="2000" dirty="0"/>
                    </a:p>
                  </a:txBody>
                  <a:tcPr marL="91435" marR="91435"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2bit</a:t>
                      </a:r>
                      <a:endParaRPr lang="zh-CN" altLang="en-US" sz="2000" dirty="0"/>
                    </a:p>
                  </a:txBody>
                  <a:tcPr marL="91435" marR="91435"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8bit</a:t>
                      </a:r>
                      <a:endParaRPr lang="zh-CN" altLang="en-US" sz="2000" dirty="0"/>
                    </a:p>
                  </a:txBody>
                  <a:tcPr marL="91435" marR="91435" marT="45725" marB="45725"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91439" marR="91439" marT="45725" marB="45725"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91439" marR="91439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227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0000</a:t>
                      </a:r>
                    </a:p>
                  </a:txBody>
                  <a:tcPr marL="91435" marR="91435"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01</a:t>
                      </a:r>
                    </a:p>
                  </a:txBody>
                  <a:tcPr marL="91435" marR="91435"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xx</a:t>
                      </a:r>
                    </a:p>
                  </a:txBody>
                  <a:tcPr marL="91435" marR="91435"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00000010</a:t>
                      </a:r>
                    </a:p>
                  </a:txBody>
                  <a:tcPr marL="91435" marR="91435"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Mov R1 #02</a:t>
                      </a:r>
                    </a:p>
                  </a:txBody>
                  <a:tcPr marL="91435" marR="91435" marT="45725" marB="45725"/>
                </a:tc>
                <a:tc>
                  <a:txBody>
                    <a:bodyPr/>
                    <a:lstStyle/>
                    <a:p>
                      <a:pPr marL="0" algn="ctr" defTabSz="685800" rtl="0" eaLnBrk="1" latinLnBrk="0" hangingPunct="1"/>
                      <a:r>
                        <a:rPr lang="en-US" altLang="zh-CN" sz="2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R1&lt;= 2</a:t>
                      </a:r>
                    </a:p>
                  </a:txBody>
                  <a:tcPr marL="91435" marR="91435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227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0010</a:t>
                      </a:r>
                    </a:p>
                  </a:txBody>
                  <a:tcPr marL="91435" marR="91435"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01</a:t>
                      </a:r>
                    </a:p>
                  </a:txBody>
                  <a:tcPr marL="91435" marR="91435"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xx</a:t>
                      </a:r>
                    </a:p>
                  </a:txBody>
                  <a:tcPr marL="91435" marR="91435"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 00001000 </a:t>
                      </a:r>
                    </a:p>
                  </a:txBody>
                  <a:tcPr marL="91435" marR="91435"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Add R1</a:t>
                      </a:r>
                      <a:r>
                        <a:rPr lang="en-US" altLang="zh-CN" sz="2000" baseline="0" dirty="0"/>
                        <a:t> #08</a:t>
                      </a:r>
                    </a:p>
                  </a:txBody>
                  <a:tcPr marL="91435" marR="91435"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R1&lt;=(R1)+8</a:t>
                      </a:r>
                    </a:p>
                  </a:txBody>
                  <a:tcPr marL="91435" marR="91435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649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0101</a:t>
                      </a:r>
                      <a:endParaRPr lang="zh-CN" altLang="en-US" sz="2000" dirty="0"/>
                    </a:p>
                  </a:txBody>
                  <a:tcPr marL="91435" marR="91435"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01</a:t>
                      </a:r>
                      <a:endParaRPr lang="zh-CN" altLang="en-US" sz="2000" dirty="0"/>
                    </a:p>
                  </a:txBody>
                  <a:tcPr marL="91435" marR="91435"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10</a:t>
                      </a:r>
                      <a:endParaRPr lang="zh-CN" altLang="en-US" sz="2000" dirty="0"/>
                    </a:p>
                  </a:txBody>
                  <a:tcPr marL="91435" marR="91435" marT="45725" marB="45725"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000" dirty="0" err="1"/>
                        <a:t>xxxxxxxx</a:t>
                      </a:r>
                      <a:endParaRPr lang="zh-CN" altLang="en-US" sz="2000" dirty="0"/>
                    </a:p>
                  </a:txBody>
                  <a:tcPr marL="91435" marR="91435"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Sub R1 R2</a:t>
                      </a:r>
                      <a:endParaRPr lang="zh-CN" altLang="en-US" sz="2000" dirty="0"/>
                    </a:p>
                  </a:txBody>
                  <a:tcPr marL="91435" marR="91435"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R1&lt;=(R1)-(R2)</a:t>
                      </a:r>
                      <a:endParaRPr lang="zh-CN" altLang="en-US" sz="2000" dirty="0"/>
                    </a:p>
                  </a:txBody>
                  <a:tcPr marL="91435" marR="91435" marT="45725" marB="457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649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0111</a:t>
                      </a:r>
                      <a:endParaRPr lang="zh-CN" altLang="en-US" sz="2000" dirty="0"/>
                    </a:p>
                  </a:txBody>
                  <a:tcPr marL="91435" marR="91435"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01</a:t>
                      </a:r>
                      <a:endParaRPr lang="zh-CN" altLang="en-US" sz="2000" dirty="0"/>
                    </a:p>
                  </a:txBody>
                  <a:tcPr marL="91435" marR="91435"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10</a:t>
                      </a:r>
                      <a:endParaRPr lang="zh-CN" altLang="en-US" sz="2000" dirty="0"/>
                    </a:p>
                  </a:txBody>
                  <a:tcPr marL="91435" marR="91435" marT="45725" marB="45725"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000" dirty="0" err="1"/>
                        <a:t>xxxxxxxx</a:t>
                      </a:r>
                      <a:endParaRPr lang="zh-CN" altLang="en-US" sz="2000" dirty="0"/>
                    </a:p>
                  </a:txBody>
                  <a:tcPr marL="91435" marR="91435"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And R1 R2</a:t>
                      </a:r>
                      <a:endParaRPr lang="zh-CN" altLang="en-US" sz="2000" dirty="0"/>
                    </a:p>
                  </a:txBody>
                  <a:tcPr marL="91435" marR="91435" marT="45725" marB="45725"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000" dirty="0"/>
                        <a:t>R1&lt;= (R1) </a:t>
                      </a:r>
                      <a:r>
                        <a:rPr lang="en-US" altLang="zh-CN" sz="2000" dirty="0" err="1"/>
                        <a:t>bit_and</a:t>
                      </a:r>
                      <a:r>
                        <a:rPr lang="en-US" altLang="zh-CN" sz="2000" dirty="0"/>
                        <a:t> (R2)</a:t>
                      </a:r>
                      <a:endParaRPr lang="zh-CN" altLang="en-US" sz="2000" dirty="0"/>
                    </a:p>
                  </a:txBody>
                  <a:tcPr marL="91435" marR="91435" marT="45725" marB="457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649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1001</a:t>
                      </a:r>
                      <a:endParaRPr lang="zh-CN" altLang="en-US" sz="2000" dirty="0"/>
                    </a:p>
                  </a:txBody>
                  <a:tcPr marL="91435" marR="91435"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01</a:t>
                      </a:r>
                      <a:endParaRPr lang="zh-CN" altLang="en-US" sz="2000" dirty="0"/>
                    </a:p>
                  </a:txBody>
                  <a:tcPr marL="91435" marR="91435"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10</a:t>
                      </a:r>
                      <a:endParaRPr lang="zh-CN" altLang="en-US" sz="2000" dirty="0"/>
                    </a:p>
                  </a:txBody>
                  <a:tcPr marL="91435" marR="91435" marT="45725" marB="45725"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000" dirty="0" err="1"/>
                        <a:t>xxxxxxxx</a:t>
                      </a:r>
                      <a:endParaRPr lang="zh-CN" altLang="en-US" sz="2000" dirty="0"/>
                    </a:p>
                  </a:txBody>
                  <a:tcPr marL="91435" marR="91435"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Or R1 R2</a:t>
                      </a:r>
                      <a:endParaRPr lang="zh-CN" altLang="en-US" sz="2000" dirty="0"/>
                    </a:p>
                  </a:txBody>
                  <a:tcPr marL="91435" marR="91435"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R1&lt;=(R1) </a:t>
                      </a:r>
                      <a:r>
                        <a:rPr lang="en-US" altLang="zh-CN" sz="2000" dirty="0" err="1"/>
                        <a:t>bit_or</a:t>
                      </a:r>
                      <a:r>
                        <a:rPr lang="en-US" altLang="zh-CN" sz="2000" dirty="0"/>
                        <a:t> (R2)</a:t>
                      </a:r>
                      <a:endParaRPr lang="zh-CN" altLang="en-US" sz="2000" dirty="0"/>
                    </a:p>
                  </a:txBody>
                  <a:tcPr marL="91435" marR="91435" marT="45725" marB="45725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649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1010</a:t>
                      </a:r>
                      <a:endParaRPr lang="zh-CN" altLang="en-US" sz="2000" dirty="0"/>
                    </a:p>
                  </a:txBody>
                  <a:tcPr marL="91435" marR="91435"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xx</a:t>
                      </a:r>
                      <a:endParaRPr lang="zh-CN" altLang="en-US" sz="2000" dirty="0"/>
                    </a:p>
                  </a:txBody>
                  <a:tcPr marL="91435" marR="91435"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xx</a:t>
                      </a:r>
                      <a:endParaRPr lang="zh-CN" altLang="en-US" sz="2000" dirty="0"/>
                    </a:p>
                  </a:txBody>
                  <a:tcPr marL="91435" marR="91435"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00000001</a:t>
                      </a:r>
                      <a:endParaRPr lang="zh-CN" altLang="en-US" sz="2000" dirty="0"/>
                    </a:p>
                  </a:txBody>
                  <a:tcPr marL="91435" marR="91435" marT="45725" marB="45725"/>
                </a:tc>
                <a:tc>
                  <a:txBody>
                    <a:bodyPr/>
                    <a:lstStyle/>
                    <a:p>
                      <a:r>
                        <a:rPr lang="en-US" altLang="zh-CN" sz="2000" dirty="0"/>
                        <a:t>       Jump #01</a:t>
                      </a:r>
                    </a:p>
                  </a:txBody>
                  <a:tcPr marL="91435" marR="91435" marT="45725" marB="45725"/>
                </a:tc>
                <a:tc>
                  <a:txBody>
                    <a:bodyPr/>
                    <a:lstStyle/>
                    <a:p>
                      <a:r>
                        <a:rPr lang="en-US" altLang="zh-CN" sz="2000" dirty="0"/>
                        <a:t>                PC&lt;= 1</a:t>
                      </a:r>
                    </a:p>
                  </a:txBody>
                  <a:tcPr marL="91435" marR="91435" marT="45725" marB="45725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文本框 4"/>
          <p:cNvSpPr txBox="1"/>
          <p:nvPr/>
        </p:nvSpPr>
        <p:spPr>
          <a:xfrm>
            <a:off x="2081213" y="5300663"/>
            <a:ext cx="9288462" cy="12001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285750" indent="-285750"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zh-CN" dirty="0">
                <a:latin typeface="+mn-lt"/>
                <a:ea typeface="+mn-ea"/>
              </a:rPr>
              <a:t>Opcode supports 16 instructions. So you can add other instructions, like shift, multiplication.</a:t>
            </a:r>
          </a:p>
          <a:p>
            <a:pPr marL="285750" indent="-285750"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zh-CN" dirty="0">
                <a:latin typeface="+mn-lt"/>
                <a:ea typeface="+mn-ea"/>
              </a:rPr>
              <a:t>Rd and </a:t>
            </a:r>
            <a:r>
              <a:rPr lang="en-US" altLang="zh-CN" dirty="0" err="1">
                <a:latin typeface="+mn-lt"/>
                <a:ea typeface="+mn-ea"/>
              </a:rPr>
              <a:t>Rs</a:t>
            </a:r>
            <a:r>
              <a:rPr lang="en-US" altLang="zh-CN" dirty="0">
                <a:latin typeface="+mn-lt"/>
                <a:ea typeface="+mn-ea"/>
              </a:rPr>
              <a:t> can be expressed in 2 bits that means you can operate 4 registers.</a:t>
            </a:r>
          </a:p>
          <a:p>
            <a:pPr marL="285750" indent="-285750"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zh-CN" dirty="0">
                <a:latin typeface="+mn-lt"/>
                <a:ea typeface="+mn-ea"/>
              </a:rPr>
              <a:t>Immediate data is expressed in 8 bits.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>
              <a:latin typeface="+mn-lt"/>
              <a:ea typeface="+mn-e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标题 1"/>
          <p:cNvSpPr>
            <a:spLocks noGrp="1" noChangeArrowheads="1"/>
          </p:cNvSpPr>
          <p:nvPr>
            <p:ph type="title"/>
          </p:nvPr>
        </p:nvSpPr>
        <p:spPr>
          <a:xfrm>
            <a:off x="412750" y="247650"/>
            <a:ext cx="7199313" cy="877888"/>
          </a:xfrm>
        </p:spPr>
        <p:txBody>
          <a:bodyPr/>
          <a:lstStyle/>
          <a:p>
            <a:r>
              <a:rPr lang="en-US" altLang="zh-CN" sz="5400" b="1">
                <a:solidFill>
                  <a:srgbClr val="00B0F0"/>
                </a:solidFill>
              </a:rPr>
              <a:t>Block design for Datapath</a:t>
            </a:r>
            <a:endParaRPr lang="zh-CN" altLang="en-US" sz="5400" b="1">
              <a:solidFill>
                <a:srgbClr val="00B0F0"/>
              </a:solidFill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945" y="1498046"/>
            <a:ext cx="12046109" cy="414899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>
          <a:xfrm>
            <a:off x="396875" y="333375"/>
            <a:ext cx="8485188" cy="1008063"/>
          </a:xfrm>
        </p:spPr>
        <p:txBody>
          <a:bodyPr/>
          <a:lstStyle/>
          <a:p>
            <a:r>
              <a:rPr lang="en-US" altLang="zh-CN" sz="5400" b="1">
                <a:solidFill>
                  <a:srgbClr val="00B0F0"/>
                </a:solidFill>
              </a:rPr>
              <a:t>Block design for Control_unit</a:t>
            </a:r>
            <a:endParaRPr lang="zh-CN" altLang="en-US" sz="5400" b="1">
              <a:solidFill>
                <a:srgbClr val="00B0F0"/>
              </a:solidFill>
            </a:endParaRPr>
          </a:p>
        </p:txBody>
      </p:sp>
      <p:sp>
        <p:nvSpPr>
          <p:cNvPr id="11267" name="文本框 3"/>
          <p:cNvSpPr txBox="1">
            <a:spLocks noChangeArrowheads="1"/>
          </p:cNvSpPr>
          <p:nvPr/>
        </p:nvSpPr>
        <p:spPr bwMode="auto">
          <a:xfrm>
            <a:off x="1906588" y="1341438"/>
            <a:ext cx="8281987" cy="1477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514350" indent="-1714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857250" indent="-1714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200150" indent="-1714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1543050" indent="-1714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000250" indent="-17145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457450" indent="-17145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2914650" indent="-17145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371850" indent="-17145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endParaRPr lang="en-US" altLang="zh-CN" sz="1800">
              <a:latin typeface="Arial" panose="020B0604020202020204" pitchFamily="34" charset="0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endParaRPr lang="en-US" altLang="zh-CN" sz="1800">
              <a:latin typeface="Arial" panose="020B0604020202020204" pitchFamily="34" charset="0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endParaRPr lang="en-US" altLang="zh-CN" sz="1800">
              <a:latin typeface="Arial" panose="020B0604020202020204" pitchFamily="34" charset="0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endParaRPr lang="en-US" altLang="zh-CN" sz="1800">
              <a:latin typeface="Arial" panose="020B0604020202020204" pitchFamily="34" charset="0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endParaRPr lang="zh-CN" altLang="en-US" sz="1800">
              <a:latin typeface="Arial" panose="020B0604020202020204" pitchFamily="34" charset="0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205" y="1684995"/>
            <a:ext cx="10764752" cy="410584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标题 1"/>
          <p:cNvSpPr>
            <a:spLocks noGrp="1" noChangeArrowheads="1"/>
          </p:cNvSpPr>
          <p:nvPr>
            <p:ph type="title"/>
          </p:nvPr>
        </p:nvSpPr>
        <p:spPr>
          <a:xfrm>
            <a:off x="357188" y="1389063"/>
            <a:ext cx="2487612" cy="2544762"/>
          </a:xfrm>
        </p:spPr>
        <p:txBody>
          <a:bodyPr/>
          <a:lstStyle/>
          <a:p>
            <a:pPr algn="ctr"/>
            <a:r>
              <a:rPr lang="en-US" altLang="zh-CN" sz="4000" b="1">
                <a:solidFill>
                  <a:srgbClr val="00B0F0"/>
                </a:solidFill>
              </a:rPr>
              <a:t>1. Create New Hardware </a:t>
            </a:r>
            <a:r>
              <a:rPr lang="en-US" altLang="zh-CN" sz="4000" b="1">
                <a:solidFill>
                  <a:srgbClr val="FF0000"/>
                </a:solidFill>
              </a:rPr>
              <a:t>Project</a:t>
            </a:r>
            <a:endParaRPr lang="zh-CN" altLang="en-US" sz="4000" b="1">
              <a:solidFill>
                <a:srgbClr val="00B0F0"/>
              </a:solidFill>
            </a:endParaRPr>
          </a:p>
        </p:txBody>
      </p:sp>
      <p:sp>
        <p:nvSpPr>
          <p:cNvPr id="12291" name="文本框 2"/>
          <p:cNvSpPr txBox="1">
            <a:spLocks noChangeArrowheads="1"/>
          </p:cNvSpPr>
          <p:nvPr/>
        </p:nvSpPr>
        <p:spPr bwMode="auto">
          <a:xfrm>
            <a:off x="3444875" y="1938338"/>
            <a:ext cx="7658100" cy="1446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r>
              <a:rPr lang="en-US" altLang="zh-CN" sz="4400"/>
              <a:t>Follow the steps of lab1.ppt to create New Hardware Project </a:t>
            </a:r>
            <a:endParaRPr lang="zh-CN" altLang="en-US" sz="4400"/>
          </a:p>
        </p:txBody>
      </p:sp>
    </p:spTree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标题 1"/>
          <p:cNvSpPr txBox="1">
            <a:spLocks noChangeArrowheads="1"/>
          </p:cNvSpPr>
          <p:nvPr/>
        </p:nvSpPr>
        <p:spPr bwMode="auto">
          <a:xfrm>
            <a:off x="444500" y="1390650"/>
            <a:ext cx="2298700" cy="2544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2. Create New </a:t>
            </a:r>
            <a:r>
              <a:rPr lang="en-US" altLang="zh-CN" sz="4000" b="1">
                <a:solidFill>
                  <a:srgbClr val="FF000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Source </a:t>
            </a: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File</a:t>
            </a:r>
            <a:b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</a:b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-step1</a:t>
            </a:r>
            <a:endParaRPr lang="zh-CN" altLang="en-US" sz="4000" b="1">
              <a:solidFill>
                <a:srgbClr val="00B0F0"/>
              </a:solidFill>
              <a:latin typeface="Calibri Light" panose="020F0302020204030204" pitchFamily="34" charset="0"/>
              <a:ea typeface="等线 Light" panose="02010600030101010101" pitchFamily="2" charset="-122"/>
            </a:endParaRPr>
          </a:p>
        </p:txBody>
      </p:sp>
      <p:pic>
        <p:nvPicPr>
          <p:cNvPr id="13315" name="图片 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70313" y="2662238"/>
            <a:ext cx="8421687" cy="3116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316" name="文本框 2"/>
          <p:cNvSpPr txBox="1">
            <a:spLocks noChangeArrowheads="1"/>
          </p:cNvSpPr>
          <p:nvPr/>
        </p:nvSpPr>
        <p:spPr bwMode="auto">
          <a:xfrm>
            <a:off x="3367087" y="1144838"/>
            <a:ext cx="8639425" cy="144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r>
              <a:rPr lang="en-US" altLang="zh-CN" sz="4400" dirty="0"/>
              <a:t>Follow the steps of lab2.ppt to </a:t>
            </a:r>
            <a:r>
              <a:rPr lang="en-US" altLang="zh-CN" sz="4400" dirty="0">
                <a:solidFill>
                  <a:srgbClr val="FF0000"/>
                </a:solidFill>
              </a:rPr>
              <a:t>create</a:t>
            </a:r>
            <a:r>
              <a:rPr lang="en-US" altLang="zh-CN" sz="4400" dirty="0"/>
              <a:t> files  in the code folder like this </a:t>
            </a:r>
            <a:endParaRPr lang="zh-CN" altLang="en-US" sz="4400" dirty="0"/>
          </a:p>
        </p:txBody>
      </p:sp>
    </p:spTree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6940" y="0"/>
            <a:ext cx="4114165" cy="6732905"/>
          </a:xfrm>
          <a:prstGeom prst="rect">
            <a:avLst/>
          </a:prstGeom>
        </p:spPr>
      </p:pic>
      <p:sp>
        <p:nvSpPr>
          <p:cNvPr id="14338" name="标题 1"/>
          <p:cNvSpPr txBox="1">
            <a:spLocks noChangeArrowheads="1"/>
          </p:cNvSpPr>
          <p:nvPr/>
        </p:nvSpPr>
        <p:spPr bwMode="auto">
          <a:xfrm>
            <a:off x="444500" y="1390650"/>
            <a:ext cx="2298700" cy="2544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2. Create New </a:t>
            </a:r>
            <a:r>
              <a:rPr lang="en-US" altLang="zh-CN" sz="4000" b="1">
                <a:solidFill>
                  <a:srgbClr val="FF000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Source </a:t>
            </a: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File</a:t>
            </a:r>
            <a:b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</a:b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-step2</a:t>
            </a:r>
            <a:endParaRPr lang="zh-CN" altLang="en-US" sz="4000" b="1">
              <a:solidFill>
                <a:srgbClr val="00B0F0"/>
              </a:solidFill>
              <a:latin typeface="Calibri Light" panose="020F0302020204030204" pitchFamily="34" charset="0"/>
              <a:ea typeface="等线 Light" panose="02010600030101010101" pitchFamily="2" charset="-122"/>
            </a:endParaRPr>
          </a:p>
        </p:txBody>
      </p:sp>
      <p:grpSp>
        <p:nvGrpSpPr>
          <p:cNvPr id="14339" name="组合 3"/>
          <p:cNvGrpSpPr/>
          <p:nvPr/>
        </p:nvGrpSpPr>
        <p:grpSpPr bwMode="auto">
          <a:xfrm>
            <a:off x="5957570" y="2122011"/>
            <a:ext cx="5094606" cy="4236085"/>
            <a:chOff x="6745859" y="2984976"/>
            <a:chExt cx="5094606" cy="4236085"/>
          </a:xfrm>
        </p:grpSpPr>
        <p:sp>
          <p:nvSpPr>
            <p:cNvPr id="6" name="矩形 5"/>
            <p:cNvSpPr/>
            <p:nvPr/>
          </p:nvSpPr>
          <p:spPr bwMode="auto">
            <a:xfrm>
              <a:off x="6746494" y="6189186"/>
              <a:ext cx="1885950" cy="1031875"/>
            </a:xfrm>
            <a:prstGeom prst="rect">
              <a:avLst/>
            </a:prstGeom>
            <a:noFill/>
            <a:ln w="635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14343" name="文本框 9"/>
            <p:cNvSpPr txBox="1">
              <a:spLocks noChangeArrowheads="1"/>
            </p:cNvSpPr>
            <p:nvPr/>
          </p:nvSpPr>
          <p:spPr bwMode="auto">
            <a:xfrm>
              <a:off x="8816277" y="3110071"/>
              <a:ext cx="3024188" cy="1016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9pPr>
            </a:lstStyle>
            <a:p>
              <a:r>
                <a:rPr lang="en-US" altLang="zh-CN" sz="2000" b="1" dirty="0">
                  <a:solidFill>
                    <a:srgbClr val="FF0000"/>
                  </a:solidFill>
                </a:rPr>
                <a:t>Refer to the next page to c</a:t>
              </a:r>
              <a:r>
                <a:rPr lang="en-US" altLang="zh-CN" sz="2000" b="1" dirty="0">
                  <a:solidFill>
                    <a:srgbClr val="FF0000"/>
                  </a:solidFill>
                  <a:sym typeface="+mn-ea"/>
                </a:rPr>
                <a:t>ombine data_path and control_unit in </a:t>
              </a:r>
              <a:r>
                <a:rPr lang="en-US" altLang="zh-CN" sz="2000" b="1" dirty="0" err="1">
                  <a:solidFill>
                    <a:srgbClr val="FF0000"/>
                  </a:solidFill>
                  <a:sym typeface="+mn-ea"/>
                </a:rPr>
                <a:t>cpu.v</a:t>
              </a:r>
              <a:endParaRPr lang="en-US" altLang="zh-CN" sz="2000" b="1" dirty="0">
                <a:solidFill>
                  <a:srgbClr val="FF0000"/>
                </a:solidFill>
              </a:endParaRPr>
            </a:p>
          </p:txBody>
        </p:sp>
        <p:sp>
          <p:nvSpPr>
            <p:cNvPr id="8" name="矩形 7"/>
            <p:cNvSpPr/>
            <p:nvPr/>
          </p:nvSpPr>
          <p:spPr bwMode="auto">
            <a:xfrm>
              <a:off x="6745859" y="2984976"/>
              <a:ext cx="1885950" cy="1490345"/>
            </a:xfrm>
            <a:prstGeom prst="rect">
              <a:avLst/>
            </a:prstGeom>
            <a:noFill/>
            <a:ln w="635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</p:grpSp>
    </p:spTree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标题 1"/>
          <p:cNvSpPr txBox="1">
            <a:spLocks noChangeArrowheads="1"/>
          </p:cNvSpPr>
          <p:nvPr/>
        </p:nvSpPr>
        <p:spPr bwMode="auto">
          <a:xfrm>
            <a:off x="230188" y="1916113"/>
            <a:ext cx="2298700" cy="2544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2. Create New </a:t>
            </a:r>
            <a:r>
              <a:rPr lang="en-US" altLang="zh-CN" sz="4000" b="1">
                <a:solidFill>
                  <a:srgbClr val="FF000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Source </a:t>
            </a: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File</a:t>
            </a:r>
            <a:b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</a:b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-step3</a:t>
            </a:r>
            <a:endParaRPr lang="zh-CN" altLang="en-US" sz="4000" b="1">
              <a:solidFill>
                <a:srgbClr val="00B0F0"/>
              </a:solidFill>
              <a:latin typeface="Calibri Light" panose="020F0302020204030204" pitchFamily="34" charset="0"/>
              <a:ea typeface="等线 Light" panose="02010600030101010101" pitchFamily="2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1315" y="1591169"/>
            <a:ext cx="9368855" cy="3675662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标题 1"/>
          <p:cNvSpPr txBox="1">
            <a:spLocks noChangeArrowheads="1"/>
          </p:cNvSpPr>
          <p:nvPr/>
        </p:nvSpPr>
        <p:spPr bwMode="auto">
          <a:xfrm>
            <a:off x="328613" y="1385888"/>
            <a:ext cx="2559050" cy="2543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3. Do </a:t>
            </a:r>
            <a:r>
              <a:rPr lang="en-US" altLang="zh-CN" sz="4000" b="1">
                <a:solidFill>
                  <a:srgbClr val="FF000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Synthesis </a:t>
            </a: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and get the circuit </a:t>
            </a:r>
            <a:endParaRPr lang="zh-CN" altLang="en-US" sz="4000" b="1">
              <a:solidFill>
                <a:srgbClr val="00B0F0"/>
              </a:solidFill>
              <a:latin typeface="Calibri Light" panose="020F0302020204030204" pitchFamily="34" charset="0"/>
              <a:ea typeface="等线 Light" panose="02010600030101010101" pitchFamily="2" charset="-122"/>
            </a:endParaRPr>
          </a:p>
        </p:txBody>
      </p:sp>
      <p:sp>
        <p:nvSpPr>
          <p:cNvPr id="16387" name="文本框 7"/>
          <p:cNvSpPr txBox="1">
            <a:spLocks noChangeArrowheads="1"/>
          </p:cNvSpPr>
          <p:nvPr/>
        </p:nvSpPr>
        <p:spPr bwMode="auto">
          <a:xfrm>
            <a:off x="3444875" y="1938338"/>
            <a:ext cx="7658100" cy="1446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r>
              <a:rPr lang="en-US" altLang="zh-CN" sz="4400" dirty="0"/>
              <a:t>Follow the steps of lab2.ppt to do Synthesis and get the circuit </a:t>
            </a:r>
            <a:endParaRPr lang="zh-CN" altLang="en-US" sz="4400" dirty="0"/>
          </a:p>
        </p:txBody>
      </p:sp>
    </p:spTree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/>
          <p:cNvSpPr/>
          <p:nvPr/>
        </p:nvSpPr>
        <p:spPr bwMode="auto">
          <a:xfrm>
            <a:off x="8428038" y="2959100"/>
            <a:ext cx="3587750" cy="1938992"/>
          </a:xfrm>
          <a:prstGeom prst="rect">
            <a:avLst/>
          </a:prstGeom>
          <a:solidFill>
            <a:schemeClr val="bg1"/>
          </a:solidFill>
        </p:spPr>
        <p:txBody>
          <a:bodyPr>
            <a:spAutoFit/>
          </a:bodyPr>
          <a:lstStyle/>
          <a:p>
            <a:pPr algn="ctr">
              <a:spcAft>
                <a:spcPts val="0"/>
              </a:spcAft>
              <a:defRPr/>
            </a:pPr>
            <a:r>
              <a:rPr lang="en-US" altLang="zh-CN" sz="2400" b="1" kern="100" dirty="0">
                <a:solidFill>
                  <a:srgbClr val="FF0000"/>
                </a:solidFill>
                <a:cs typeface="Times New Roman" panose="02020603050405020304" pitchFamily="18" charset="0"/>
              </a:rPr>
              <a:t>Complete the code </a:t>
            </a:r>
            <a:r>
              <a:rPr lang="en-US" altLang="zh-CN" sz="2400" b="1" kern="100" dirty="0">
                <a:solidFill>
                  <a:srgbClr val="FF0000"/>
                </a:solidFill>
                <a:cs typeface="Times New Roman" panose="02020603050405020304" pitchFamily="18" charset="0"/>
                <a:sym typeface="+mn-ea"/>
              </a:rPr>
              <a:t>in </a:t>
            </a:r>
            <a:r>
              <a:rPr lang="en-US" altLang="zh-CN" sz="2400" b="1" kern="100" dirty="0" err="1">
                <a:solidFill>
                  <a:srgbClr val="FF0000"/>
                </a:solidFill>
                <a:cs typeface="Times New Roman" panose="02020603050405020304" pitchFamily="18" charset="0"/>
                <a:sym typeface="+mn-ea"/>
              </a:rPr>
              <a:t>tb_cpu.v</a:t>
            </a:r>
            <a:r>
              <a:rPr lang="en-US" altLang="zh-CN" sz="2400" b="1" kern="100" dirty="0">
                <a:solidFill>
                  <a:srgbClr val="FF0000"/>
                </a:solidFill>
                <a:cs typeface="Times New Roman" panose="02020603050405020304" pitchFamily="18" charset="0"/>
                <a:sym typeface="+mn-ea"/>
              </a:rPr>
              <a:t> according to the equation above.</a:t>
            </a:r>
            <a:endParaRPr lang="en-US" altLang="zh-CN" sz="2400" b="1" kern="100" dirty="0">
              <a:solidFill>
                <a:srgbClr val="FF0000"/>
              </a:solidFill>
              <a:cs typeface="Times New Roman" panose="02020603050405020304" pitchFamily="18" charset="0"/>
            </a:endParaRPr>
          </a:p>
          <a:p>
            <a:pPr algn="ctr">
              <a:spcAft>
                <a:spcPts val="0"/>
              </a:spcAft>
              <a:defRPr/>
            </a:pPr>
            <a:r>
              <a:rPr lang="en-US" altLang="zh-CN" sz="2400" b="1" kern="100" dirty="0">
                <a:solidFill>
                  <a:srgbClr val="FF0000"/>
                </a:solidFill>
                <a:cs typeface="Times New Roman" panose="02020603050405020304" pitchFamily="18" charset="0"/>
              </a:rPr>
              <a:t>You can refer to previous test bench.</a:t>
            </a:r>
            <a:endParaRPr lang="zh-CN" altLang="zh-CN" sz="2400" b="1" kern="100" dirty="0">
              <a:solidFill>
                <a:srgbClr val="FF0000"/>
              </a:solidFill>
              <a:cs typeface="Times New Roman" panose="02020603050405020304" pitchFamily="18" charset="0"/>
            </a:endParaRPr>
          </a:p>
        </p:txBody>
      </p:sp>
      <p:sp>
        <p:nvSpPr>
          <p:cNvPr id="17412" name="标题 1"/>
          <p:cNvSpPr txBox="1">
            <a:spLocks noChangeArrowheads="1"/>
          </p:cNvSpPr>
          <p:nvPr/>
        </p:nvSpPr>
        <p:spPr bwMode="auto">
          <a:xfrm>
            <a:off x="328613" y="1385888"/>
            <a:ext cx="2559050" cy="2543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4. Create </a:t>
            </a:r>
            <a:r>
              <a:rPr lang="en-US" altLang="zh-CN" sz="4000" b="1">
                <a:solidFill>
                  <a:srgbClr val="FF000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Simulation </a:t>
            </a: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Source</a:t>
            </a:r>
          </a:p>
          <a:p>
            <a:pPr algn="ctr">
              <a:lnSpc>
                <a:spcPct val="90000"/>
              </a:lnSpc>
            </a:pP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File</a:t>
            </a:r>
            <a:b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</a:b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-step1</a:t>
            </a:r>
            <a:endParaRPr lang="zh-CN" altLang="en-US" sz="4000" b="1">
              <a:solidFill>
                <a:srgbClr val="00B0F0"/>
              </a:solidFill>
              <a:latin typeface="Calibri Light" panose="020F0302020204030204" pitchFamily="34" charset="0"/>
              <a:ea typeface="等线 Light" panose="02010600030101010101" pitchFamily="2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5505" y="0"/>
            <a:ext cx="3435985" cy="6728460"/>
          </a:xfrm>
          <a:prstGeom prst="rect">
            <a:avLst/>
          </a:prstGeom>
        </p:spPr>
      </p:pic>
      <p:sp>
        <p:nvSpPr>
          <p:cNvPr id="9" name="矩形 8"/>
          <p:cNvSpPr/>
          <p:nvPr/>
        </p:nvSpPr>
        <p:spPr bwMode="auto">
          <a:xfrm>
            <a:off x="5248910" y="2748915"/>
            <a:ext cx="2537460" cy="3348355"/>
          </a:xfrm>
          <a:prstGeom prst="rect">
            <a:avLst/>
          </a:prstGeom>
          <a:noFill/>
          <a:ln w="635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85D6AE1-CA2B-26B4-DBB7-40FEF36589D4}"/>
              </a:ext>
            </a:extLst>
          </p:cNvPr>
          <p:cNvSpPr/>
          <p:nvPr/>
        </p:nvSpPr>
        <p:spPr bwMode="auto">
          <a:xfrm>
            <a:off x="8428038" y="2287250"/>
            <a:ext cx="3587750" cy="461665"/>
          </a:xfrm>
          <a:prstGeom prst="rect">
            <a:avLst/>
          </a:prstGeom>
          <a:solidFill>
            <a:schemeClr val="bg1"/>
          </a:solidFill>
        </p:spPr>
        <p:txBody>
          <a:bodyPr>
            <a:spAutoFit/>
          </a:bodyPr>
          <a:lstStyle/>
          <a:p>
            <a:pPr algn="ctr">
              <a:spcAft>
                <a:spcPts val="0"/>
              </a:spcAft>
              <a:defRPr/>
            </a:pPr>
            <a:r>
              <a:rPr lang="en-US" altLang="zh-CN" sz="2400" b="1" kern="100" dirty="0">
                <a:solidFill>
                  <a:srgbClr val="FF0000"/>
                </a:solidFill>
                <a:cs typeface="Times New Roman" panose="02020603050405020304" pitchFamily="18" charset="0"/>
              </a:rPr>
              <a:t>[8-(2+1) ]|(2+1)+1</a:t>
            </a:r>
            <a:endParaRPr lang="zh-CN" altLang="zh-CN" sz="2400" b="1" kern="100" dirty="0">
              <a:solidFill>
                <a:srgbClr val="FF0000"/>
              </a:solidFill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标题 1"/>
          <p:cNvSpPr>
            <a:spLocks noGrp="1" noChangeArrowheads="1"/>
          </p:cNvSpPr>
          <p:nvPr>
            <p:ph type="title"/>
          </p:nvPr>
        </p:nvSpPr>
        <p:spPr>
          <a:xfrm>
            <a:off x="1155700" y="1074738"/>
            <a:ext cx="9877425" cy="1325562"/>
          </a:xfrm>
        </p:spPr>
        <p:txBody>
          <a:bodyPr/>
          <a:lstStyle/>
          <a:p>
            <a:pPr algn="ctr" eaLnBrk="1" hangingPunct="1"/>
            <a:r>
              <a:rPr lang="en-US" altLang="zh-CN" sz="5400" b="1">
                <a:solidFill>
                  <a:srgbClr val="00B0F0"/>
                </a:solidFill>
              </a:rPr>
              <a:t>Digital Logic Design and Application</a:t>
            </a:r>
            <a:endParaRPr lang="zh-CN" altLang="en-US" sz="5400" b="1">
              <a:solidFill>
                <a:srgbClr val="00B0F0"/>
              </a:solidFill>
            </a:endParaRPr>
          </a:p>
        </p:txBody>
      </p:sp>
      <p:sp>
        <p:nvSpPr>
          <p:cNvPr id="19459" name="文本框 3"/>
          <p:cNvSpPr txBox="1">
            <a:spLocks noChangeArrowheads="1"/>
          </p:cNvSpPr>
          <p:nvPr/>
        </p:nvSpPr>
        <p:spPr bwMode="auto">
          <a:xfrm>
            <a:off x="4249738" y="2562225"/>
            <a:ext cx="3552825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4000"/>
              <a:t>Lab Course 4</a:t>
            </a:r>
            <a:endParaRPr lang="zh-CN" altLang="en-US" sz="4000"/>
          </a:p>
        </p:txBody>
      </p:sp>
      <p:sp>
        <p:nvSpPr>
          <p:cNvPr id="3077" name="文本框 5"/>
          <p:cNvSpPr txBox="1">
            <a:spLocks noChangeArrowheads="1"/>
          </p:cNvSpPr>
          <p:nvPr/>
        </p:nvSpPr>
        <p:spPr bwMode="auto">
          <a:xfrm>
            <a:off x="3608388" y="3984625"/>
            <a:ext cx="4914900" cy="1477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sz="5400" b="1" i="1" dirty="0">
                <a:solidFill>
                  <a:srgbClr val="00B0F0"/>
                </a:solidFill>
                <a:latin typeface="+mj-lt"/>
                <a:ea typeface="+mj-ea"/>
                <a:cs typeface="+mj-cs"/>
              </a:rPr>
              <a:t>~~End~~</a:t>
            </a:r>
          </a:p>
          <a:p>
            <a:pPr algn="ctr" eaLnBrk="1" hangingPunct="1">
              <a:defRPr/>
            </a:pPr>
            <a:endParaRPr lang="zh-CN" altLang="en-US" sz="3600" i="1" dirty="0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MzI2YzU3ZDA3MDJlOWJjZjNjMWY2Mjg2M2ViNjVkMjcifQ=="/>
</p:tagLst>
</file>

<file path=ppt/theme/theme1.xml><?xml version="1.0" encoding="utf-8"?>
<a:theme xmlns:a="http://schemas.openxmlformats.org/drawingml/2006/main" name="模板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模板</Template>
  <TotalTime>4</TotalTime>
  <Words>549</Words>
  <Application>Microsoft Office PowerPoint</Application>
  <PresentationFormat>宽屏</PresentationFormat>
  <Paragraphs>159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5" baseType="lpstr">
      <vt:lpstr>Arial Unicode MS</vt:lpstr>
      <vt:lpstr>等线 Light</vt:lpstr>
      <vt:lpstr>宋体</vt:lpstr>
      <vt:lpstr>Arial</vt:lpstr>
      <vt:lpstr>Calibri</vt:lpstr>
      <vt:lpstr>Calibri Light</vt:lpstr>
      <vt:lpstr>Times New Roman</vt:lpstr>
      <vt:lpstr>Wingdings</vt:lpstr>
      <vt:lpstr>模板</vt:lpstr>
      <vt:lpstr>Digital Logic Design and Application</vt:lpstr>
      <vt:lpstr>Grading</vt:lpstr>
      <vt:lpstr>Note</vt:lpstr>
      <vt:lpstr>Content</vt:lpstr>
      <vt:lpstr>CPU Organization</vt:lpstr>
      <vt:lpstr>Top structure of our CPU</vt:lpstr>
      <vt:lpstr>Instruction Set</vt:lpstr>
      <vt:lpstr>Block design for Datapath</vt:lpstr>
      <vt:lpstr>Block design for Control_unit</vt:lpstr>
      <vt:lpstr>1. Create New Hardware Project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Digital Logic Design and Application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Digital Logic Design and Application</dc:title>
  <dc:creator>李志文</dc:creator>
  <cp:lastModifiedBy>Erith 张</cp:lastModifiedBy>
  <cp:revision>364</cp:revision>
  <dcterms:created xsi:type="dcterms:W3CDTF">2017-04-08T01:53:00Z</dcterms:created>
  <dcterms:modified xsi:type="dcterms:W3CDTF">2024-04-02T10:00:08Z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2052-12.1.0.16417</vt:lpwstr>
  </property>
  <property fmtid="{D5CDD505-2E9C-101B-9397-08002B2CF9AE}" pid="3" name="ICV">
    <vt:lpwstr>5B045F60415541E2A80E9E25708DF2AC_12</vt:lpwstr>
  </property>
</Properties>
</file>