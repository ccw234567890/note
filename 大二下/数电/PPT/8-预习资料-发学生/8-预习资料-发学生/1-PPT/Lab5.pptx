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543" r:id="rId4"/>
    <p:sldId id="507" r:id="rId5"/>
    <p:sldId id="260" r:id="rId6"/>
    <p:sldId id="541" r:id="rId7"/>
    <p:sldId id="525" r:id="rId8"/>
    <p:sldId id="522" r:id="rId9"/>
    <p:sldId id="528" r:id="rId10"/>
    <p:sldId id="539" r:id="rId11"/>
    <p:sldId id="546" r:id="rId12"/>
    <p:sldId id="548" r:id="rId13"/>
    <p:sldId id="549" r:id="rId14"/>
    <p:sldId id="550" r:id="rId15"/>
    <p:sldId id="551" r:id="rId16"/>
    <p:sldId id="552" r:id="rId17"/>
    <p:sldId id="553" r:id="rId18"/>
    <p:sldId id="554" r:id="rId19"/>
    <p:sldId id="523" r:id="rId20"/>
    <p:sldId id="544" r:id="rId21"/>
    <p:sldId id="547" r:id="rId22"/>
    <p:sldId id="582" r:id="rId23"/>
    <p:sldId id="259" r:id="rId24"/>
    <p:sldId id="583" r:id="rId25"/>
    <p:sldId id="584" r:id="rId26"/>
    <p:sldId id="585" r:id="rId27"/>
    <p:sldId id="542" r:id="rId28"/>
    <p:sldId id="496" r:id="rId29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66" autoAdjust="0"/>
    <p:restoredTop sz="94660" autoAdjust="0"/>
  </p:normalViewPr>
  <p:slideViewPr>
    <p:cSldViewPr snapToGrid="0">
      <p:cViewPr varScale="1">
        <p:scale>
          <a:sx n="119" d="100"/>
          <a:sy n="119" d="100"/>
        </p:scale>
        <p:origin x="192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DB40E-D768-47E9-9B2D-0FBB3587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457A8-18B8-4F3C-A843-A86C2E13CDC2}" type="datetimeFigureOut">
              <a:rPr lang="zh-CN" altLang="en-US"/>
              <a:pPr>
                <a:defRPr/>
              </a:pPr>
              <a:t>2024/4/3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B7A14-EBBB-41E5-8211-6487E388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75D63-5D46-4811-81A7-7BCCDC70E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CC971-BA1C-4294-A327-A49FEC5C85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177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C433B-9BB1-4798-A81B-FF411F260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4B5F5-0E3E-451E-8253-584614E2D4F6}" type="datetimeFigureOut">
              <a:rPr lang="zh-CN" altLang="en-US"/>
              <a:pPr>
                <a:defRPr/>
              </a:pPr>
              <a:t>2024/4/3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ED093-FDD4-4DE0-B097-A99AE0F8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27804-DFA6-48C0-9EFE-DC2AC85B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B5D04-28D5-44A7-BF10-085CA85695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85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3388D-D073-4284-9A91-F371FFD5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2AEC7-5920-4788-8A83-EBAADEE36867}" type="datetimeFigureOut">
              <a:rPr lang="zh-CN" altLang="en-US"/>
              <a:pPr>
                <a:defRPr/>
              </a:pPr>
              <a:t>2024/4/3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8B638-6420-4A0B-88CA-44C72201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FC5C3-B3FC-4EDD-8371-A5D88D7F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22321-EAD9-4D86-909A-AA39C9BC5B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70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5F94803-1990-49ED-BE08-6BB9EB792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D737AD-5F16-457E-9AD0-443E9F005590}" type="datetimeFigureOut">
              <a:rPr lang="zh-CN" altLang="en-US"/>
              <a:pPr>
                <a:defRPr/>
              </a:pPr>
              <a:t>2024/4/3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F098E6-ACDE-4F6A-8FBC-497D5639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7F07C9-1918-46F3-BEB5-D20F52AD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560F3-3EB8-492A-829C-79C42295F7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118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C9EAF5E-3C11-4DEB-BDEA-E00356ED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31E4A-ABC1-49F3-B5C5-518502982545}" type="datetimeFigureOut">
              <a:rPr lang="zh-CN" altLang="en-US"/>
              <a:pPr>
                <a:defRPr/>
              </a:pPr>
              <a:t>2024/4/3</a:t>
            </a:fld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FA98C6C-44C4-4FBE-AAA1-FE2ADA1A7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B1DB9F-A53A-4896-83DF-6AA761583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860C30-7EC9-44CA-9B13-BC6AD18EFB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328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155928E-CA7C-4675-A77B-FBBD9123C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4F2247-4DD0-48D9-8574-01F56E8E9658}" type="datetimeFigureOut">
              <a:rPr lang="zh-CN" altLang="en-US"/>
              <a:pPr>
                <a:defRPr/>
              </a:pPr>
              <a:t>2024/4/3</a:t>
            </a:fld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61314C3-8F59-4588-BF17-50A9CE80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ADD9AD-832E-454C-999F-36BB5354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DDA6A-BFFF-49A2-AAE9-E959A99FFA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73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A89F033-0CE8-4266-8EEA-FD6735640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C2C10-BBF9-45B0-B329-D9AEBB642ED6}" type="datetimeFigureOut">
              <a:rPr lang="zh-CN" altLang="en-US"/>
              <a:pPr>
                <a:defRPr/>
              </a:pPr>
              <a:t>2024/4/3</a:t>
            </a:fld>
            <a:endParaRPr lang="zh-CN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FF37990-BFBF-43DE-969B-F66F2D305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2379438-32D3-4408-BB24-C3AAB725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B88FD-8739-4933-B0D2-ABFAFE61A8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516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4F7ACC4-BA67-4A74-9671-0295D731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785AE-A659-4EE6-9D17-3DE054A057C8}" type="datetimeFigureOut">
              <a:rPr lang="zh-CN" altLang="en-US"/>
              <a:pPr>
                <a:defRPr/>
              </a:pPr>
              <a:t>2024/4/3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3114508-FDC5-4D9A-A0F0-F7BA5E64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8ADAF3F-C194-419A-A877-722149C4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FE3EB-864B-4DCD-BA0C-21484F0F93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950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B574EC-F41A-4009-B482-E50A73FA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D32A0-F880-4EBA-BB11-567901438151}" type="datetimeFigureOut">
              <a:rPr lang="zh-CN" altLang="en-US"/>
              <a:pPr>
                <a:defRPr/>
              </a:pPr>
              <a:t>2024/4/3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BEABF5A-28BC-4A4D-8B0A-D96C4A14A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0B16B6-A577-4542-9DEC-35927ABF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71D8C-E8D2-412C-A0AA-79CC339E82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655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CCAD4-7CC8-49A0-8CED-1315A67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FE14C-3F8F-4273-BE9E-E9CE963D9646}" type="datetimeFigureOut">
              <a:rPr lang="zh-CN" altLang="en-US"/>
              <a:pPr>
                <a:defRPr/>
              </a:pPr>
              <a:t>2024/4/3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C1AE2-298E-4196-A0E3-225440FD5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2C402-DE7B-4386-9C93-1BC330A9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3DEF9-271C-411E-987E-DB61555471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81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31127-31B4-4F34-9FBE-26B5FD11A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09755B-9B07-40E2-8153-A5BFFB462179}" type="datetimeFigureOut">
              <a:rPr lang="zh-CN" altLang="en-US"/>
              <a:pPr>
                <a:defRPr/>
              </a:pPr>
              <a:t>2024/4/3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F5E90-5E1D-46BA-AB36-20C589310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2A8C7-B9B6-4479-9F0C-5AC97F62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BF107-F0D5-47C1-AAAA-771B1A3138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170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B2502-82C2-43BB-BBBB-B0D82D44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1C4E0-A6B9-4627-8E1F-4C49E82540E1}" type="datetimeFigureOut">
              <a:rPr lang="zh-CN" altLang="en-US"/>
              <a:pPr>
                <a:defRPr/>
              </a:pPr>
              <a:t>2024/4/3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C77E3-532D-429A-8A24-870F250F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B4FE7-3911-45E3-8A35-84D89B898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AEB4B-E68B-4485-9FDE-5AC44B8A00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08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F85AEF1-CD90-45C6-A630-31497CA5EE6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5BBC19C-DDDC-4A56-A2C0-EE85A4AD33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E8EEA-68B8-4B23-AB61-3A0306A24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8C8B1A8-715E-4B66-A1E5-FB65CAAF23E4}" type="datetimeFigureOut">
              <a:rPr lang="zh-CN" altLang="en-US"/>
              <a:pPr>
                <a:defRPr/>
              </a:pPr>
              <a:t>2024/4/3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2A0D8-3371-487B-A0DC-8B05C8380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60AA1-6793-48E4-B039-6D6C84BD7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F7BE0D2-536A-4585-B7C9-0BFF26026E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31" name="Picture 4" descr="UESTC logo.jpg">
            <a:extLst>
              <a:ext uri="{FF2B5EF4-FFF2-40B4-BE49-F238E27FC236}">
                <a16:creationId xmlns:a16="http://schemas.microsoft.com/office/drawing/2014/main" id="{22C0A9A8-6123-4C88-BA91-A0330D47E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0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>
            <a:extLst>
              <a:ext uri="{FF2B5EF4-FFF2-40B4-BE49-F238E27FC236}">
                <a16:creationId xmlns:a16="http://schemas.microsoft.com/office/drawing/2014/main" id="{0F24FDFA-3F0F-4847-9D69-8D33D97B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2051" name="文本框 3">
            <a:extLst>
              <a:ext uri="{FF2B5EF4-FFF2-40B4-BE49-F238E27FC236}">
                <a16:creationId xmlns:a16="http://schemas.microsoft.com/office/drawing/2014/main" id="{6F51EB86-E098-423D-95BE-62451DB64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925" y="2559050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 dirty="0"/>
              <a:t>Lab Course 5</a:t>
            </a:r>
            <a:endParaRPr lang="zh-CN" altLang="en-US" sz="4000" dirty="0"/>
          </a:p>
        </p:txBody>
      </p:sp>
      <p:sp>
        <p:nvSpPr>
          <p:cNvPr id="7" name="文本框 5">
            <a:extLst>
              <a:ext uri="{FF2B5EF4-FFF2-40B4-BE49-F238E27FC236}">
                <a16:creationId xmlns:a16="http://schemas.microsoft.com/office/drawing/2014/main" id="{A057A1A6-235F-4740-B419-CB2BA333A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2275" y="3590926"/>
            <a:ext cx="5170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Lecturer:    </a:t>
            </a:r>
            <a:endParaRPr lang="zh-CN" altLang="en-US" sz="3600" dirty="0"/>
          </a:p>
        </p:txBody>
      </p:sp>
      <p:sp>
        <p:nvSpPr>
          <p:cNvPr id="8" name="文本框 6">
            <a:extLst>
              <a:ext uri="{FF2B5EF4-FFF2-40B4-BE49-F238E27FC236}">
                <a16:creationId xmlns:a16="http://schemas.microsoft.com/office/drawing/2014/main" id="{D69D30A9-0780-4B95-A125-F70ABBCD2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233" y="4237039"/>
            <a:ext cx="457484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TA:</a:t>
            </a:r>
            <a:endParaRPr lang="zh-CN" altLang="en-US" sz="3200" dirty="0"/>
          </a:p>
        </p:txBody>
      </p:sp>
      <p:sp>
        <p:nvSpPr>
          <p:cNvPr id="9" name="文本框 3">
            <a:extLst>
              <a:ext uri="{FF2B5EF4-FFF2-40B4-BE49-F238E27FC236}">
                <a16:creationId xmlns:a16="http://schemas.microsoft.com/office/drawing/2014/main" id="{875781EB-8905-4475-83A5-17355F4DC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309" y="4883152"/>
            <a:ext cx="4225924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Lab Room: </a:t>
            </a:r>
            <a:r>
              <a:rPr lang="zh-CN" altLang="en-US" sz="3600" dirty="0"/>
              <a:t> </a:t>
            </a:r>
            <a:r>
              <a:rPr lang="en-US" altLang="zh-CN" sz="3600" dirty="0"/>
              <a:t> </a:t>
            </a:r>
            <a:br>
              <a:rPr lang="en-US" altLang="zh-CN" sz="3200" dirty="0"/>
            </a:br>
            <a:r>
              <a:rPr lang="en-US" altLang="zh-CN" sz="3200" dirty="0"/>
              <a:t>                        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>
            <a:extLst>
              <a:ext uri="{FF2B5EF4-FFF2-40B4-BE49-F238E27FC236}">
                <a16:creationId xmlns:a16="http://schemas.microsoft.com/office/drawing/2014/main" id="{D0EC8022-4117-4A13-B1C5-31C6DA2E9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2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Fundamental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3075" name="内容占位符 2">
            <a:extLst>
              <a:ext uri="{FF2B5EF4-FFF2-40B4-BE49-F238E27FC236}">
                <a16:creationId xmlns:a16="http://schemas.microsoft.com/office/drawing/2014/main" id="{47C26024-D769-48B7-8D3C-7502324D8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5263" y="1168400"/>
            <a:ext cx="10726737" cy="5472113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Calibri Light" panose="020F0302020204030204" pitchFamily="34" charset="0"/>
              <a:buAutoNum type="arabicPeriod"/>
              <a:defRPr/>
            </a:pPr>
            <a:r>
              <a:rPr lang="en-US" altLang="zh-CN" sz="3600" dirty="0"/>
              <a:t>Digital Logic + Computer Architecture</a:t>
            </a:r>
          </a:p>
          <a:p>
            <a:pPr marL="742950" indent="-742950" eaLnBrk="1" hangingPunct="1">
              <a:lnSpc>
                <a:spcPct val="100000"/>
              </a:lnSpc>
              <a:buFont typeface="Calibri Light" panose="020F0302020204030204" pitchFamily="34" charset="0"/>
              <a:buAutoNum type="arabicPeriod"/>
              <a:defRPr/>
            </a:pPr>
            <a:r>
              <a:rPr lang="en-US" altLang="zh-CN" sz="3600" dirty="0"/>
              <a:t>Verilog Language</a:t>
            </a:r>
          </a:p>
          <a:p>
            <a:pPr marL="742950" indent="-742950" eaLnBrk="1" hangingPunct="1">
              <a:lnSpc>
                <a:spcPct val="100000"/>
              </a:lnSpc>
              <a:buFont typeface="Calibri Light" panose="020F0302020204030204" pitchFamily="34" charset="0"/>
              <a:buAutoNum type="arabicPeriod"/>
              <a:defRPr/>
            </a:pPr>
            <a:r>
              <a:rPr lang="en-US" altLang="zh-CN" sz="3600" dirty="0"/>
              <a:t>Tools </a:t>
            </a:r>
          </a:p>
          <a:p>
            <a:pPr marL="808038" lvl="1" indent="450850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EDA software: 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Vivado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2017.1</a:t>
            </a:r>
          </a:p>
          <a:p>
            <a:pPr marL="808038" lvl="1" indent="450850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Evaluation board:  EES331</a:t>
            </a:r>
          </a:p>
          <a:p>
            <a:pPr marL="742950" indent="-742950" eaLnBrk="1" hangingPunct="1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CN" sz="3600" dirty="0"/>
              <a:t>Lab report submitted</a:t>
            </a:r>
          </a:p>
          <a:p>
            <a:pPr marL="714375" lvl="1" eaLnBrk="1" hangingPunct="1"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e-file name:  report no. + student code + name  (</a:t>
            </a:r>
            <a:r>
              <a:rPr lang="en-US" altLang="zh-CN" sz="2400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eg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: 1_20xxxxxx_Alex)</a:t>
            </a:r>
          </a:p>
          <a:p>
            <a:pPr marL="714375" lvl="1" eaLnBrk="1" hangingPunct="1"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send to email: same as the homework</a:t>
            </a:r>
          </a:p>
          <a:p>
            <a:pPr marL="714375" lvl="1" eaLnBrk="1" hangingPunct="1"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cut-off time: report1 : before lab3 </a:t>
            </a:r>
            <a:r>
              <a:rPr lang="zh-CN" altLang="en-US" sz="2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（</a:t>
            </a:r>
            <a:r>
              <a:rPr lang="en-US" altLang="zh-CN" sz="2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before 14, May</a:t>
            </a:r>
            <a:r>
              <a:rPr lang="zh-CN" altLang="en-US" sz="2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）</a:t>
            </a:r>
            <a:endParaRPr lang="en-US" altLang="zh-CN" sz="20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714375" lvl="1" eaLnBrk="1" hangingPunct="1"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               report2 : 1 week after lab5</a:t>
            </a:r>
            <a:r>
              <a:rPr lang="zh-CN" altLang="en-US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before 10, May </a:t>
            </a:r>
            <a:r>
              <a:rPr lang="zh-CN" altLang="en-US" sz="20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）</a:t>
            </a:r>
            <a:endParaRPr lang="en-US" altLang="zh-CN" sz="24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808038" lvl="1" indent="450850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endParaRPr lang="zh-CN" altLang="en-US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6828EDD8-A970-459F-B6A4-DA6B515B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252413"/>
            <a:ext cx="7886700" cy="1325562"/>
          </a:xfrm>
        </p:spPr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Grading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9925F6-3B68-4D05-80ED-CFFA66174DCC}"/>
              </a:ext>
            </a:extLst>
          </p:cNvPr>
          <p:cNvSpPr txBox="1"/>
          <p:nvPr/>
        </p:nvSpPr>
        <p:spPr>
          <a:xfrm>
            <a:off x="795338" y="1404938"/>
            <a:ext cx="11396662" cy="5267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Assessment</a:t>
            </a:r>
          </a:p>
          <a:p>
            <a:pPr algn="ctr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0000"/>
                </a:solidFill>
                <a:latin typeface="+mn-lt"/>
                <a:ea typeface="+mn-ea"/>
              </a:rPr>
              <a:t>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Lab1 10% + Lab2 20% + Lab3 20% + Lab4 20% +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Lab5 10%</a:t>
            </a:r>
            <a:r>
              <a:rPr lang="zh-CN" altLang="en-US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Report1 5% +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Repor2 15%</a:t>
            </a:r>
          </a:p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And for each lab: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Pre-Lab preparation and Performance in laboratory (65%)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Laboratory experimental reports (35%)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80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25C85F6F-0567-46CE-86A3-B5E5137F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Note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780C1799-C532-42E5-BA20-355E16DEA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925" y="2022475"/>
            <a:ext cx="9734550" cy="2657475"/>
          </a:xfrm>
        </p:spPr>
        <p:txBody>
          <a:bodyPr/>
          <a:lstStyle/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Please save the </a:t>
            </a:r>
            <a:r>
              <a:rPr lang="en-US" altLang="zh-CN" sz="32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screenshots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of the code, simulation result, etc.</a:t>
            </a:r>
          </a:p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You will need them to write the Lab_report.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2D3CB4E-E369-4D4C-85CE-C70CB393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Content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5516314F-8529-4DAD-A69B-A189EF010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1529" y="1626128"/>
            <a:ext cx="9938872" cy="4711700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3200" dirty="0"/>
              <a:t>EDA tools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3200" dirty="0"/>
              <a:t>Datapath Design 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3200" dirty="0"/>
              <a:t>Controller Design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3200" dirty="0"/>
              <a:t>CPU</a:t>
            </a:r>
            <a:r>
              <a:rPr lang="zh-CN" altLang="en-US" sz="3200" dirty="0"/>
              <a:t> </a:t>
            </a:r>
            <a:r>
              <a:rPr lang="en-US" altLang="zh-CN" sz="3200" dirty="0"/>
              <a:t>Integration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3200" dirty="0"/>
              <a:t>CPU </a:t>
            </a:r>
            <a:r>
              <a:rPr lang="en-US" altLang="zh-CN" sz="3200" dirty="0">
                <a:sym typeface="+mn-ea"/>
              </a:rPr>
              <a:t>Verification and</a:t>
            </a:r>
            <a:r>
              <a:rPr lang="en-US" altLang="zh-CN" sz="3200" dirty="0"/>
              <a:t> Improvement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Enlarge your own instruction set (for example: add several instructions) and modify the 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datapath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&amp; controller modules based on the new instruction set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Compose a  better testbench and do verification again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Describe your work as clearly as possible in your lab report2</a:t>
            </a:r>
            <a:endParaRPr lang="zh-CN" altLang="en-US" sz="20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>
            <a:extLst>
              <a:ext uri="{FF2B5EF4-FFF2-40B4-BE49-F238E27FC236}">
                <a16:creationId xmlns:a16="http://schemas.microsoft.com/office/drawing/2014/main" id="{D0F2C8AC-51AE-4A72-8A0A-1B2E5ABFF26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15" name="标题 1">
            <a:extLst>
              <a:ext uri="{FF2B5EF4-FFF2-40B4-BE49-F238E27FC236}">
                <a16:creationId xmlns:a16="http://schemas.microsoft.com/office/drawing/2014/main" id="{E3E74ED3-65A4-41EB-B0D5-B853211D8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075" y="0"/>
            <a:ext cx="10515600" cy="1325563"/>
          </a:xfrm>
        </p:spPr>
        <p:txBody>
          <a:bodyPr/>
          <a:lstStyle/>
          <a:p>
            <a:r>
              <a:rPr lang="en-US" altLang="zh-CN" sz="5400" b="1" dirty="0">
                <a:solidFill>
                  <a:srgbClr val="00B0F0"/>
                </a:solidFill>
              </a:rPr>
              <a:t>Instruction Set</a:t>
            </a:r>
            <a:endParaRPr lang="zh-CN" altLang="en-US" sz="5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303558E-1B56-4E17-B77B-A564B9A5D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904225"/>
              </p:ext>
            </p:extLst>
          </p:nvPr>
        </p:nvGraphicFramePr>
        <p:xfrm>
          <a:off x="817699" y="969700"/>
          <a:ext cx="10979582" cy="449523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7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2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57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371">
                  <a:extLst>
                    <a:ext uri="{9D8B030D-6E8A-4147-A177-3AD203B41FA5}">
                      <a16:colId xmlns:a16="http://schemas.microsoft.com/office/drawing/2014/main" val="2311138592"/>
                    </a:ext>
                  </a:extLst>
                </a:gridCol>
              </a:tblGrid>
              <a:tr h="5036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Opcode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Rd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Rs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Imme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assembly</a:t>
                      </a:r>
                      <a:endParaRPr lang="zh-CN" altLang="en-US" sz="2400" dirty="0"/>
                    </a:p>
                  </a:txBody>
                  <a:tcPr marL="91439" marR="91439" marT="45725" marB="45725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function</a:t>
                      </a:r>
                      <a:endParaRPr lang="zh-CN" altLang="en-US" sz="2400" dirty="0"/>
                    </a:p>
                  </a:txBody>
                  <a:tcPr marL="91439" marR="91439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marL="91439" marR="91439" marT="45725" marB="45725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0001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10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00000010</a:t>
                      </a:r>
                    </a:p>
                    <a:p>
                      <a:pPr algn="ctr"/>
                      <a:r>
                        <a:rPr lang="en-US" altLang="zh-CN" sz="2000" dirty="0" err="1">
                          <a:solidFill>
                            <a:srgbClr val="00B050"/>
                          </a:solidFill>
                        </a:rPr>
                        <a:t>xxxxxxxx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Mov</a:t>
                      </a:r>
                      <a:r>
                        <a:rPr lang="en-US" altLang="zh-CN" sz="2000" dirty="0"/>
                        <a:t> R1 #02</a:t>
                      </a:r>
                    </a:p>
                    <a:p>
                      <a:pPr algn="ctr"/>
                      <a:r>
                        <a:rPr lang="en-US" altLang="zh-CN" sz="2000" dirty="0" err="1">
                          <a:solidFill>
                            <a:srgbClr val="00B050"/>
                          </a:solidFill>
                        </a:rPr>
                        <a:t>Mov</a:t>
                      </a:r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 R2 R1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 2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R2&lt;=(R1)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0010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0011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10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 00001000 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>
                          <a:solidFill>
                            <a:srgbClr val="00B050"/>
                          </a:solidFill>
                        </a:rPr>
                        <a:t>xxxxxxxx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Add R1</a:t>
                      </a:r>
                      <a:r>
                        <a:rPr lang="en-US" altLang="zh-CN" sz="2000" baseline="0" dirty="0"/>
                        <a:t> #08</a:t>
                      </a:r>
                    </a:p>
                    <a:p>
                      <a:pPr algn="ctr"/>
                      <a:r>
                        <a:rPr lang="en-US" altLang="zh-CN" sz="2000" baseline="0" dirty="0">
                          <a:solidFill>
                            <a:srgbClr val="00B050"/>
                          </a:solidFill>
                        </a:rPr>
                        <a:t>Add R1 R2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R1&lt;=(R1)+8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R1&lt;=(R1)+(R2)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Sub R1 R2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R1&lt;=(R1)-(R2)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20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0110</a:t>
                      </a:r>
                    </a:p>
                    <a:p>
                      <a:pPr algn="ctr"/>
                      <a:r>
                        <a:rPr lang="en-US" altLang="zh-CN" sz="2000" dirty="0"/>
                        <a:t>0111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20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20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</a:p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00000011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And R1 #03</a:t>
                      </a:r>
                      <a:endParaRPr lang="zh-CN" altLang="en-US" sz="20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000" dirty="0"/>
                        <a:t>And R1 R2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R3&lt;= (R3) </a:t>
                      </a:r>
                      <a:r>
                        <a:rPr lang="en-US" altLang="zh-CN" sz="2000" kern="120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bit_and</a:t>
                      </a:r>
                      <a:r>
                        <a:rPr lang="en-US" altLang="zh-CN" sz="20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(3)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R1&lt;= (R1) </a:t>
                      </a:r>
                      <a:r>
                        <a:rPr lang="en-US" altLang="zh-CN" sz="2000" dirty="0" err="1"/>
                        <a:t>bit_and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Or R1 R2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 </a:t>
                      </a:r>
                      <a:r>
                        <a:rPr lang="en-US" altLang="zh-CN" sz="2000" dirty="0" err="1"/>
                        <a:t>bit_or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Jump #01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         PC&lt;= 1</a:t>
                      </a: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D5FE8A9-B7B3-4476-8B64-91B7792E5499}"/>
              </a:ext>
            </a:extLst>
          </p:cNvPr>
          <p:cNvSpPr txBox="1"/>
          <p:nvPr/>
        </p:nvSpPr>
        <p:spPr>
          <a:xfrm>
            <a:off x="2508819" y="5710205"/>
            <a:ext cx="9288462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Opcode supports 16 instructions. So you can add other instructions, like shift, multiplication.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Rd and </a:t>
            </a:r>
            <a:r>
              <a:rPr lang="en-US" altLang="zh-CN" dirty="0" err="1">
                <a:latin typeface="+mn-lt"/>
                <a:ea typeface="+mn-ea"/>
              </a:rPr>
              <a:t>Rs</a:t>
            </a:r>
            <a:r>
              <a:rPr lang="en-US" altLang="zh-CN" dirty="0">
                <a:latin typeface="+mn-lt"/>
                <a:ea typeface="+mn-ea"/>
              </a:rPr>
              <a:t> can be expressed in 2 bits that means you can operate 4 registers.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Immediate data is expressed in 8 bits.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F3F11-F003-4152-8370-EFFF4D11A7B0}"/>
              </a:ext>
            </a:extLst>
          </p:cNvPr>
          <p:cNvSpPr/>
          <p:nvPr/>
        </p:nvSpPr>
        <p:spPr bwMode="auto">
          <a:xfrm>
            <a:off x="854075" y="2244464"/>
            <a:ext cx="10943206" cy="40004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8C3468-79DD-4E23-974F-5561F01EC62A}"/>
              </a:ext>
            </a:extLst>
          </p:cNvPr>
          <p:cNvSpPr/>
          <p:nvPr/>
        </p:nvSpPr>
        <p:spPr bwMode="auto">
          <a:xfrm>
            <a:off x="854075" y="3014139"/>
            <a:ext cx="10943206" cy="40004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1485A8-AB38-4C81-95F3-AC0702CE6727}"/>
              </a:ext>
            </a:extLst>
          </p:cNvPr>
          <p:cNvSpPr/>
          <p:nvPr/>
        </p:nvSpPr>
        <p:spPr bwMode="auto">
          <a:xfrm>
            <a:off x="854075" y="3910810"/>
            <a:ext cx="10943206" cy="40004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00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357188" y="1389063"/>
            <a:ext cx="2487612" cy="2544762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sp>
        <p:nvSpPr>
          <p:cNvPr id="18435" name="文本框 2"/>
          <p:cNvSpPr txBox="1">
            <a:spLocks noChangeArrowheads="1"/>
          </p:cNvSpPr>
          <p:nvPr/>
        </p:nvSpPr>
        <p:spPr bwMode="auto">
          <a:xfrm>
            <a:off x="3444875" y="1938338"/>
            <a:ext cx="76581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Follow the steps of lab1.ppt to create New Hardware Project. 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1C27FE2F-C671-48E3-B403-027CD7076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166062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3316" name="文本框 2">
            <a:extLst>
              <a:ext uri="{FF2B5EF4-FFF2-40B4-BE49-F238E27FC236}">
                <a16:creationId xmlns:a16="http://schemas.microsoft.com/office/drawing/2014/main" id="{922E25C6-2FE9-4476-8399-A4372681B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6653" y="849976"/>
            <a:ext cx="875898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400" dirty="0"/>
              <a:t>Follow the steps of lab4.ppt to create files  in the code folder like this </a:t>
            </a:r>
            <a:endParaRPr lang="zh-CN" altLang="en-US" sz="4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5DAA65-4AAD-B38C-BDA1-A10B7EC7A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241" y="2437650"/>
            <a:ext cx="7363853" cy="361047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FC2B80F-4B08-AAF7-ED44-7ECE1FDE8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33" y="628650"/>
            <a:ext cx="4375214" cy="5347034"/>
          </a:xfrm>
          <a:prstGeom prst="rect">
            <a:avLst/>
          </a:prstGeom>
        </p:spPr>
      </p:pic>
      <p:sp>
        <p:nvSpPr>
          <p:cNvPr id="14338" name="标题 1">
            <a:extLst>
              <a:ext uri="{FF2B5EF4-FFF2-40B4-BE49-F238E27FC236}">
                <a16:creationId xmlns:a16="http://schemas.microsoft.com/office/drawing/2014/main" id="{67687C5E-ACCD-41D8-BDF4-87E483606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14339" name="组合 3">
            <a:extLst>
              <a:ext uri="{FF2B5EF4-FFF2-40B4-BE49-F238E27FC236}">
                <a16:creationId xmlns:a16="http://schemas.microsoft.com/office/drawing/2014/main" id="{F9E36E2E-4139-4262-B20D-5477B1C05414}"/>
              </a:ext>
            </a:extLst>
          </p:cNvPr>
          <p:cNvGrpSpPr>
            <a:grpSpLocks/>
          </p:cNvGrpSpPr>
          <p:nvPr/>
        </p:nvGrpSpPr>
        <p:grpSpPr bwMode="auto">
          <a:xfrm>
            <a:off x="5126422" y="1166415"/>
            <a:ext cx="4671262" cy="4637464"/>
            <a:chOff x="6984418" y="1647031"/>
            <a:chExt cx="4671262" cy="4637464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29F247B-4030-4974-B842-EA78F744D8AA}"/>
                </a:ext>
              </a:extLst>
            </p:cNvPr>
            <p:cNvSpPr/>
            <p:nvPr/>
          </p:nvSpPr>
          <p:spPr bwMode="auto">
            <a:xfrm>
              <a:off x="6984418" y="4874795"/>
              <a:ext cx="2219325" cy="1409700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B19F6D4-22B1-4788-8783-0AC4BE88985E}"/>
                </a:ext>
              </a:extLst>
            </p:cNvPr>
            <p:cNvSpPr/>
            <p:nvPr/>
          </p:nvSpPr>
          <p:spPr bwMode="auto">
            <a:xfrm>
              <a:off x="6984418" y="2907369"/>
              <a:ext cx="1885950" cy="1409699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343" name="文本框 9">
              <a:extLst>
                <a:ext uri="{FF2B5EF4-FFF2-40B4-BE49-F238E27FC236}">
                  <a16:creationId xmlns:a16="http://schemas.microsoft.com/office/drawing/2014/main" id="{FFD5E2BD-6276-46AA-B975-21777C682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31492" y="1647031"/>
              <a:ext cx="3024188" cy="10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000" b="1" dirty="0">
                  <a:solidFill>
                    <a:srgbClr val="FF0000"/>
                  </a:solidFill>
                </a:rPr>
                <a:t>Refer to the next page to c</a:t>
              </a:r>
              <a:r>
                <a:rPr lang="en-US" altLang="zh-CN" sz="2000" b="1" dirty="0">
                  <a:solidFill>
                    <a:srgbClr val="FF0000"/>
                  </a:solidFill>
                  <a:sym typeface="+mn-ea"/>
                </a:rPr>
                <a:t>ombine cpu and rom in </a:t>
              </a:r>
              <a:r>
                <a:rPr lang="en-US" altLang="zh-CN" sz="2000" b="1" dirty="0" err="1">
                  <a:solidFill>
                    <a:srgbClr val="FF0000"/>
                  </a:solidFill>
                  <a:sym typeface="+mn-ea"/>
                </a:rPr>
                <a:t>top_cpu.v</a:t>
              </a:r>
              <a:endParaRPr lang="en-US" altLang="zh-CN" sz="2000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DB0A2687-E21A-473E-A064-AC6A3BEBA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1916113"/>
            <a:ext cx="22987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15380" name="组合 15379">
            <a:extLst>
              <a:ext uri="{FF2B5EF4-FFF2-40B4-BE49-F238E27FC236}">
                <a16:creationId xmlns:a16="http://schemas.microsoft.com/office/drawing/2014/main" id="{A7626661-0706-EA53-8D71-6EB4142C090D}"/>
              </a:ext>
            </a:extLst>
          </p:cNvPr>
          <p:cNvGrpSpPr/>
          <p:nvPr/>
        </p:nvGrpSpPr>
        <p:grpSpPr>
          <a:xfrm>
            <a:off x="3700566" y="114215"/>
            <a:ext cx="6432884" cy="2912255"/>
            <a:chOff x="3700566" y="114215"/>
            <a:chExt cx="6432884" cy="2912255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ECA0A6B-061B-BE60-8468-9C203D7CAB5C}"/>
                </a:ext>
              </a:extLst>
            </p:cNvPr>
            <p:cNvGrpSpPr/>
            <p:nvPr/>
          </p:nvGrpSpPr>
          <p:grpSpPr>
            <a:xfrm>
              <a:off x="3700566" y="392614"/>
              <a:ext cx="6432884" cy="2633856"/>
              <a:chOff x="3700566" y="561472"/>
              <a:chExt cx="6432884" cy="2318085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8CC1198-7502-5274-1537-73DA0707F03F}"/>
                  </a:ext>
                </a:extLst>
              </p:cNvPr>
              <p:cNvSpPr/>
              <p:nvPr/>
            </p:nvSpPr>
            <p:spPr>
              <a:xfrm>
                <a:off x="3700566" y="561472"/>
                <a:ext cx="6432884" cy="231808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6905A0F-B6AF-0CA5-8884-DE3674293DA7}"/>
                  </a:ext>
                </a:extLst>
              </p:cNvPr>
              <p:cNvSpPr/>
              <p:nvPr/>
            </p:nvSpPr>
            <p:spPr>
              <a:xfrm>
                <a:off x="4610955" y="561473"/>
                <a:ext cx="4612105" cy="224526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0ADC29D-F013-5D7D-CBA5-A59FF97BF9D5}"/>
                </a:ext>
              </a:extLst>
            </p:cNvPr>
            <p:cNvSpPr/>
            <p:nvPr/>
          </p:nvSpPr>
          <p:spPr>
            <a:xfrm>
              <a:off x="7513364" y="886324"/>
              <a:ext cx="1080586" cy="166837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/>
                <a:t>CPU</a:t>
              </a:r>
              <a:endParaRPr lang="zh-CN" altLang="en-US" b="1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DB05D82-44D4-080E-7BFA-C83ED101D2E0}"/>
                </a:ext>
              </a:extLst>
            </p:cNvPr>
            <p:cNvSpPr/>
            <p:nvPr/>
          </p:nvSpPr>
          <p:spPr>
            <a:xfrm>
              <a:off x="5189264" y="886324"/>
              <a:ext cx="1080586" cy="166837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/>
                <a:t>ROM</a:t>
              </a:r>
              <a:endParaRPr lang="zh-CN" altLang="en-US" b="1" dirty="0"/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DB9D5317-2A85-BE40-49EA-93CE83D8C1E9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8053657" y="448809"/>
              <a:ext cx="0" cy="43751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D0D6FD4E-B70C-9A4D-AF9D-094C3AD49998}"/>
                </a:ext>
              </a:extLst>
            </p:cNvPr>
            <p:cNvCxnSpPr>
              <a:cxnSpLocks/>
            </p:cNvCxnSpPr>
            <p:nvPr/>
          </p:nvCxnSpPr>
          <p:spPr>
            <a:xfrm>
              <a:off x="3705328" y="462751"/>
              <a:ext cx="436023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4F3047F3-6BF6-C799-2F60-8ECF4308BA3E}"/>
                </a:ext>
              </a:extLst>
            </p:cNvPr>
            <p:cNvCxnSpPr>
              <a:cxnSpLocks/>
            </p:cNvCxnSpPr>
            <p:nvPr/>
          </p:nvCxnSpPr>
          <p:spPr>
            <a:xfrm>
              <a:off x="5739351" y="462751"/>
              <a:ext cx="0" cy="42357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20A2747-2092-CEDE-FB3D-50ACD423E9D3}"/>
                </a:ext>
              </a:extLst>
            </p:cNvPr>
            <p:cNvSpPr txBox="1"/>
            <p:nvPr/>
          </p:nvSpPr>
          <p:spPr>
            <a:xfrm>
              <a:off x="4101857" y="114215"/>
              <a:ext cx="5186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err="1">
                  <a:solidFill>
                    <a:schemeClr val="accent1">
                      <a:lumMod val="75000"/>
                    </a:schemeClr>
                  </a:solidFill>
                </a:rPr>
                <a:t>clk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19357462-2BFA-F49C-AD11-64CF35462569}"/>
                </a:ext>
              </a:extLst>
            </p:cNvPr>
            <p:cNvCxnSpPr>
              <a:cxnSpLocks/>
            </p:cNvCxnSpPr>
            <p:nvPr/>
          </p:nvCxnSpPr>
          <p:spPr>
            <a:xfrm>
              <a:off x="3700566" y="715494"/>
              <a:ext cx="46433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49BABC50-CCD3-E8EC-7950-83688A85C61D}"/>
                </a:ext>
              </a:extLst>
            </p:cNvPr>
            <p:cNvCxnSpPr>
              <a:cxnSpLocks/>
            </p:cNvCxnSpPr>
            <p:nvPr/>
          </p:nvCxnSpPr>
          <p:spPr>
            <a:xfrm>
              <a:off x="5944139" y="715494"/>
              <a:ext cx="0" cy="1708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EFC752E9-F3E4-952C-824D-20525E120F6F}"/>
                </a:ext>
              </a:extLst>
            </p:cNvPr>
            <p:cNvCxnSpPr>
              <a:cxnSpLocks/>
            </p:cNvCxnSpPr>
            <p:nvPr/>
          </p:nvCxnSpPr>
          <p:spPr>
            <a:xfrm>
              <a:off x="8330151" y="715494"/>
              <a:ext cx="0" cy="1708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2D5F46DF-5051-7364-F1E7-9FF59691D4BF}"/>
                </a:ext>
              </a:extLst>
            </p:cNvPr>
            <p:cNvSpPr txBox="1"/>
            <p:nvPr/>
          </p:nvSpPr>
          <p:spPr>
            <a:xfrm>
              <a:off x="4111407" y="383084"/>
              <a:ext cx="5186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err="1">
                  <a:solidFill>
                    <a:schemeClr val="accent1">
                      <a:lumMod val="75000"/>
                    </a:schemeClr>
                  </a:solidFill>
                </a:rPr>
                <a:t>rst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0A6A3B6D-3812-EF0D-3AB4-F2F38141B77C}"/>
                </a:ext>
              </a:extLst>
            </p:cNvPr>
            <p:cNvGrpSpPr/>
            <p:nvPr/>
          </p:nvGrpSpPr>
          <p:grpSpPr>
            <a:xfrm>
              <a:off x="6269850" y="1162050"/>
              <a:ext cx="1243514" cy="92075"/>
              <a:chOff x="6269850" y="1162050"/>
              <a:chExt cx="1243514" cy="92075"/>
            </a:xfrm>
          </p:grpSpPr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3283F931-5A40-3CE7-00EA-30F69A06DB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9850" y="1206500"/>
                <a:ext cx="1243514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E3BC554D-F19F-35E5-70EF-E064CC16B8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72161" y="1162050"/>
                <a:ext cx="79746" cy="920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7AC0E0F-702B-75CE-D5AA-EC74DC892F52}"/>
                </a:ext>
              </a:extLst>
            </p:cNvPr>
            <p:cNvSpPr txBox="1"/>
            <p:nvPr/>
          </p:nvSpPr>
          <p:spPr>
            <a:xfrm>
              <a:off x="6547095" y="957998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16</a:t>
              </a:r>
              <a:endParaRPr lang="zh-CN" altLang="en-US" sz="1100" dirty="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DD59EFEC-5A9E-FE22-456E-601F05FD4B81}"/>
                </a:ext>
              </a:extLst>
            </p:cNvPr>
            <p:cNvSpPr txBox="1"/>
            <p:nvPr/>
          </p:nvSpPr>
          <p:spPr>
            <a:xfrm>
              <a:off x="6840460" y="962384"/>
              <a:ext cx="34496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ins</a:t>
              </a:r>
              <a:endParaRPr lang="zh-CN" altLang="en-US" sz="1100" dirty="0"/>
            </a:p>
          </p:txBody>
        </p: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F572DA2C-55AA-758A-F27F-71416AD57E4F}"/>
                </a:ext>
              </a:extLst>
            </p:cNvPr>
            <p:cNvCxnSpPr>
              <a:cxnSpLocks/>
            </p:cNvCxnSpPr>
            <p:nvPr/>
          </p:nvCxnSpPr>
          <p:spPr>
            <a:xfrm>
              <a:off x="6262497" y="1445497"/>
              <a:ext cx="1243514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74B22CC-EE73-5057-B777-5186DEF905A7}"/>
                </a:ext>
              </a:extLst>
            </p:cNvPr>
            <p:cNvSpPr txBox="1"/>
            <p:nvPr/>
          </p:nvSpPr>
          <p:spPr>
            <a:xfrm>
              <a:off x="6480413" y="1212687"/>
              <a:ext cx="8996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en_ram_out</a:t>
              </a:r>
              <a:endParaRPr lang="zh-CN" altLang="en-US" sz="1100" dirty="0"/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A0BF925D-9C01-8840-4367-5E061E88C7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2497" y="1852642"/>
              <a:ext cx="1250867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5D8759DF-6260-0D69-57E3-433B8C3ACEF3}"/>
                </a:ext>
              </a:extLst>
            </p:cNvPr>
            <p:cNvSpPr txBox="1"/>
            <p:nvPr/>
          </p:nvSpPr>
          <p:spPr>
            <a:xfrm>
              <a:off x="6835945" y="1621891"/>
              <a:ext cx="4491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addr</a:t>
              </a:r>
              <a:endParaRPr lang="zh-CN" altLang="en-US" sz="1100" dirty="0"/>
            </a:p>
          </p:txBody>
        </p:sp>
        <p:sp>
          <p:nvSpPr>
            <p:cNvPr id="15372" name="文本框 15371">
              <a:extLst>
                <a:ext uri="{FF2B5EF4-FFF2-40B4-BE49-F238E27FC236}">
                  <a16:creationId xmlns:a16="http://schemas.microsoft.com/office/drawing/2014/main" id="{AF59F2CC-4A1E-7AE2-A192-D8A8F6E40BCE}"/>
                </a:ext>
              </a:extLst>
            </p:cNvPr>
            <p:cNvSpPr txBox="1"/>
            <p:nvPr/>
          </p:nvSpPr>
          <p:spPr>
            <a:xfrm>
              <a:off x="6547566" y="1611405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16</a:t>
              </a:r>
              <a:endParaRPr lang="zh-CN" altLang="en-US" sz="1100" dirty="0"/>
            </a:p>
          </p:txBody>
        </p:sp>
        <p:cxnSp>
          <p:nvCxnSpPr>
            <p:cNvPr id="15373" name="直接连接符 15372">
              <a:extLst>
                <a:ext uri="{FF2B5EF4-FFF2-40B4-BE49-F238E27FC236}">
                  <a16:creationId xmlns:a16="http://schemas.microsoft.com/office/drawing/2014/main" id="{E0B0D81E-3940-5262-B36F-6AC497BB70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1690" y="1806302"/>
              <a:ext cx="79746" cy="920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74" name="直接箭头连接符 15373">
              <a:extLst>
                <a:ext uri="{FF2B5EF4-FFF2-40B4-BE49-F238E27FC236}">
                  <a16:creationId xmlns:a16="http://schemas.microsoft.com/office/drawing/2014/main" id="{680007EB-5983-2C8D-1077-AB2596826B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2497" y="2119342"/>
              <a:ext cx="1250867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375" name="文本框 15374">
              <a:extLst>
                <a:ext uri="{FF2B5EF4-FFF2-40B4-BE49-F238E27FC236}">
                  <a16:creationId xmlns:a16="http://schemas.microsoft.com/office/drawing/2014/main" id="{E4090149-03CC-14BD-DDBC-202228E65517}"/>
                </a:ext>
              </a:extLst>
            </p:cNvPr>
            <p:cNvSpPr txBox="1"/>
            <p:nvPr/>
          </p:nvSpPr>
          <p:spPr>
            <a:xfrm>
              <a:off x="6513514" y="1886140"/>
              <a:ext cx="8050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en_ram_in</a:t>
              </a:r>
              <a:endParaRPr lang="zh-CN" altLang="en-US" sz="1100" dirty="0"/>
            </a:p>
          </p:txBody>
        </p:sp>
        <p:sp>
          <p:nvSpPr>
            <p:cNvPr id="15379" name="文本框 15378">
              <a:extLst>
                <a:ext uri="{FF2B5EF4-FFF2-40B4-BE49-F238E27FC236}">
                  <a16:creationId xmlns:a16="http://schemas.microsoft.com/office/drawing/2014/main" id="{625718BC-3297-7874-2C7A-46950D896B11}"/>
                </a:ext>
              </a:extLst>
            </p:cNvPr>
            <p:cNvSpPr txBox="1"/>
            <p:nvPr/>
          </p:nvSpPr>
          <p:spPr>
            <a:xfrm>
              <a:off x="6202651" y="2500102"/>
              <a:ext cx="14551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err="1">
                  <a:solidFill>
                    <a:schemeClr val="accent1">
                      <a:lumMod val="75000"/>
                    </a:schemeClr>
                  </a:solidFill>
                </a:rPr>
                <a:t>system_top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pic>
        <p:nvPicPr>
          <p:cNvPr id="15382" name="图片 15381">
            <a:extLst>
              <a:ext uri="{FF2B5EF4-FFF2-40B4-BE49-F238E27FC236}">
                <a16:creationId xmlns:a16="http://schemas.microsoft.com/office/drawing/2014/main" id="{423D2DCA-78F7-99C5-E486-BC4803886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289" y="3158064"/>
            <a:ext cx="9020294" cy="29693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DB0A2687-E21A-473E-A064-AC6A3BEBA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1916113"/>
            <a:ext cx="22987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86F8319-77AA-8230-8238-E3961168CD8F}"/>
              </a:ext>
            </a:extLst>
          </p:cNvPr>
          <p:cNvGrpSpPr/>
          <p:nvPr/>
        </p:nvGrpSpPr>
        <p:grpSpPr>
          <a:xfrm>
            <a:off x="2855101" y="382843"/>
            <a:ext cx="6481798" cy="5915851"/>
            <a:chOff x="2646160" y="382843"/>
            <a:chExt cx="6481798" cy="5915851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EDDB752-6421-EEBF-19E4-2C3A277635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01"/>
            <a:stretch/>
          </p:blipFill>
          <p:spPr>
            <a:xfrm>
              <a:off x="2646160" y="382843"/>
              <a:ext cx="5037487" cy="5915851"/>
            </a:xfrm>
            <a:prstGeom prst="rect">
              <a:avLst/>
            </a:prstGeom>
          </p:spPr>
        </p:pic>
        <p:sp>
          <p:nvSpPr>
            <p:cNvPr id="6" name="文本框 9">
              <a:extLst>
                <a:ext uri="{FF2B5EF4-FFF2-40B4-BE49-F238E27FC236}">
                  <a16:creationId xmlns:a16="http://schemas.microsoft.com/office/drawing/2014/main" id="{779F466A-38E2-CF3F-F12D-18BFA059B5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7508" y="1242344"/>
              <a:ext cx="3710450" cy="10156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000" b="1" dirty="0">
                  <a:solidFill>
                    <a:srgbClr val="FF0000"/>
                  </a:solidFill>
                </a:rPr>
                <a:t>A ROM (Read-only memory), with instructions editable in design phase.</a:t>
              </a:r>
            </a:p>
          </p:txBody>
        </p:sp>
        <p:sp>
          <p:nvSpPr>
            <p:cNvPr id="2" name="文本框 9">
              <a:extLst>
                <a:ext uri="{FF2B5EF4-FFF2-40B4-BE49-F238E27FC236}">
                  <a16:creationId xmlns:a16="http://schemas.microsoft.com/office/drawing/2014/main" id="{70FEBDAE-246C-78FC-4762-898C2AEB6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7508" y="2462464"/>
              <a:ext cx="3710450" cy="13234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000" b="1" dirty="0">
                  <a:solidFill>
                    <a:srgbClr val="FF0000"/>
                  </a:solidFill>
                </a:rPr>
                <a:t>Design your program according to the equation below. </a:t>
              </a:r>
            </a:p>
            <a:p>
              <a:r>
                <a:rPr lang="en-US" altLang="zh-CN" sz="2000" b="1" dirty="0">
                  <a:solidFill>
                    <a:srgbClr val="FF0000"/>
                  </a:solidFill>
                </a:rPr>
                <a:t>Be aware that data exceeding the defined address is unknown.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BD7369E-FD8D-3599-9887-397AE9A43E3B}"/>
                </a:ext>
              </a:extLst>
            </p:cNvPr>
            <p:cNvSpPr/>
            <p:nvPr/>
          </p:nvSpPr>
          <p:spPr bwMode="auto">
            <a:xfrm>
              <a:off x="5686926" y="4580633"/>
              <a:ext cx="2984083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[8-(2+1) ]|(2+1)+1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9652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8969AF8-D0A1-D223-06F2-E5799E3EF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2" y="1385888"/>
            <a:ext cx="3040229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Create the ILA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IP core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(Integrated  Logic </a:t>
            </a:r>
            <a:r>
              <a:rPr lang="en-US" altLang="zh-CN" sz="4000" b="1" dirty="0" err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Analyser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)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aphicFrame>
        <p:nvGraphicFramePr>
          <p:cNvPr id="5" name="对象 2">
            <a:extLst>
              <a:ext uri="{FF2B5EF4-FFF2-40B4-BE49-F238E27FC236}">
                <a16:creationId xmlns:a16="http://schemas.microsoft.com/office/drawing/2014/main" id="{7D610CFB-B0A9-3D0E-2A52-D4D076A02C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185566"/>
              </p:ext>
            </p:extLst>
          </p:nvPr>
        </p:nvGraphicFramePr>
        <p:xfrm>
          <a:off x="3560763" y="1685925"/>
          <a:ext cx="6777037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712335" imgH="3298825" progId="Visio.Drawing.15">
                  <p:embed/>
                </p:oleObj>
              </mc:Choice>
              <mc:Fallback>
                <p:oleObj name="Visio" r:id="rId2" imgW="4712335" imgH="3298825" progId="Visio.Drawing.15">
                  <p:embed/>
                  <p:pic>
                    <p:nvPicPr>
                      <p:cNvPr id="6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0763" y="1685925"/>
                        <a:ext cx="6777037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74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8969AF8-D0A1-D223-06F2-E5799E3EF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2" y="1385888"/>
            <a:ext cx="3040229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Create the ILA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IP core </a:t>
            </a:r>
            <a:endParaRPr lang="en-US" altLang="zh-CN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  <a:p>
            <a:pPr algn="ctr">
              <a:lnSpc>
                <a:spcPct val="90000"/>
              </a:lnSpc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Step-1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8098DCD-ACAF-488E-2086-8ED1E68DB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305" y="1300697"/>
            <a:ext cx="2580832" cy="425660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5770B3D-6FD9-ACA7-B9B1-DB44A79B31EB}"/>
              </a:ext>
            </a:extLst>
          </p:cNvPr>
          <p:cNvSpPr/>
          <p:nvPr/>
        </p:nvSpPr>
        <p:spPr>
          <a:xfrm>
            <a:off x="5205249" y="2798908"/>
            <a:ext cx="1166383" cy="4156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C20D8E-CAF6-025C-4D35-A5BE91705D9F}"/>
              </a:ext>
            </a:extLst>
          </p:cNvPr>
          <p:cNvSpPr/>
          <p:nvPr/>
        </p:nvSpPr>
        <p:spPr bwMode="auto">
          <a:xfrm>
            <a:off x="6940699" y="2798908"/>
            <a:ext cx="249872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 Left-click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592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8969AF8-D0A1-D223-06F2-E5799E3EF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2" y="1385888"/>
            <a:ext cx="3040229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Create the ILA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IP core </a:t>
            </a:r>
            <a:endParaRPr lang="en-US" altLang="zh-CN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  <a:p>
            <a:pPr algn="ctr">
              <a:lnSpc>
                <a:spcPct val="90000"/>
              </a:lnSpc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Step-2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8098DCD-ACAF-488E-2086-8ED1E68DB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305" y="1300697"/>
            <a:ext cx="2580832" cy="425660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5770B3D-6FD9-ACA7-B9B1-DB44A79B31EB}"/>
              </a:ext>
            </a:extLst>
          </p:cNvPr>
          <p:cNvSpPr/>
          <p:nvPr/>
        </p:nvSpPr>
        <p:spPr>
          <a:xfrm>
            <a:off x="5205249" y="2798908"/>
            <a:ext cx="1166383" cy="4156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C20D8E-CAF6-025C-4D35-A5BE91705D9F}"/>
              </a:ext>
            </a:extLst>
          </p:cNvPr>
          <p:cNvSpPr/>
          <p:nvPr/>
        </p:nvSpPr>
        <p:spPr bwMode="auto">
          <a:xfrm>
            <a:off x="6940699" y="2798908"/>
            <a:ext cx="249872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 Left-click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27C8DB-CC4A-D287-574C-139438B2C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367" y="423862"/>
            <a:ext cx="7077075" cy="601027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1B784B3-0710-46D4-FBD4-961C70117FA8}"/>
              </a:ext>
            </a:extLst>
          </p:cNvPr>
          <p:cNvSpPr/>
          <p:nvPr/>
        </p:nvSpPr>
        <p:spPr>
          <a:xfrm>
            <a:off x="4480438" y="1946388"/>
            <a:ext cx="1166383" cy="4156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C4D278-4143-8BEA-C535-EE728F132E82}"/>
              </a:ext>
            </a:extLst>
          </p:cNvPr>
          <p:cNvSpPr/>
          <p:nvPr/>
        </p:nvSpPr>
        <p:spPr>
          <a:xfrm>
            <a:off x="4678360" y="4737089"/>
            <a:ext cx="2888305" cy="4156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FCDDD9-C442-4E5B-0171-03F78297F429}"/>
              </a:ext>
            </a:extLst>
          </p:cNvPr>
          <p:cNvSpPr/>
          <p:nvPr/>
        </p:nvSpPr>
        <p:spPr bwMode="auto">
          <a:xfrm>
            <a:off x="4359379" y="1183005"/>
            <a:ext cx="4620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nput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name to search IP cores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EF0972-D015-9201-B17B-157ECF36D0AC}"/>
              </a:ext>
            </a:extLst>
          </p:cNvPr>
          <p:cNvSpPr/>
          <p:nvPr/>
        </p:nvSpPr>
        <p:spPr bwMode="auto">
          <a:xfrm>
            <a:off x="4698444" y="5233873"/>
            <a:ext cx="249872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 Double click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387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CA76B7E-82D0-4A8D-BD75-E6FB528B2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553" y="566531"/>
            <a:ext cx="7939365" cy="5253789"/>
          </a:xfrm>
          <a:prstGeom prst="rect">
            <a:avLst/>
          </a:prstGeom>
        </p:spPr>
      </p:pic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3.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ADD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IP CORE</a:t>
            </a:r>
          </a:p>
          <a:p>
            <a:pPr lvl="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-step2-2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 pitchFamily="34" charset="0"/>
              <a:ea typeface="等线 Light" panose="02010600030101010101" pitchFamily="2" charset="-122"/>
              <a:cs typeface="+mn-cs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6B28925-EC28-697A-0CFD-1AF93F8F58D6}"/>
              </a:ext>
            </a:extLst>
          </p:cNvPr>
          <p:cNvGrpSpPr/>
          <p:nvPr/>
        </p:nvGrpSpPr>
        <p:grpSpPr>
          <a:xfrm>
            <a:off x="6096000" y="821112"/>
            <a:ext cx="4308339" cy="2371268"/>
            <a:chOff x="6096570" y="1037680"/>
            <a:chExt cx="4308339" cy="2371268"/>
          </a:xfrm>
        </p:grpSpPr>
        <p:sp>
          <p:nvSpPr>
            <p:cNvPr id="5" name="矩形 4"/>
            <p:cNvSpPr/>
            <p:nvPr/>
          </p:nvSpPr>
          <p:spPr>
            <a:xfrm>
              <a:off x="6383045" y="1499345"/>
              <a:ext cx="737191" cy="28506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6383045" y="2774942"/>
              <a:ext cx="1873188" cy="6340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 bwMode="auto">
            <a:xfrm>
              <a:off x="6096570" y="1037680"/>
              <a:ext cx="3985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1. Module’s name</a:t>
              </a:r>
              <a:endPara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7502833" y="2351649"/>
              <a:ext cx="290207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. Input parameter</a:t>
              </a:r>
              <a:endPara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7F8E442-A660-DDEA-5628-AE547E961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663" y="227675"/>
            <a:ext cx="7544853" cy="3315163"/>
          </a:xfrm>
          <a:prstGeom prst="rect">
            <a:avLst/>
          </a:prstGeom>
        </p:spPr>
      </p:pic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3.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ADD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IP CORE</a:t>
            </a:r>
          </a:p>
          <a:p>
            <a:pPr lvl="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-step2-3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 pitchFamily="34" charset="0"/>
              <a:ea typeface="等线 Light" panose="02010600030101010101" pitchFamily="2" charset="-122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EC8E1E5-4EA6-9682-61FF-C6D5A51BC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663" y="3542838"/>
            <a:ext cx="7649643" cy="257210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4A90159-CFCF-769C-83AD-3D859E8D1A03}"/>
              </a:ext>
            </a:extLst>
          </p:cNvPr>
          <p:cNvSpPr/>
          <p:nvPr/>
        </p:nvSpPr>
        <p:spPr>
          <a:xfrm>
            <a:off x="4008241" y="4553993"/>
            <a:ext cx="1999525" cy="14778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6B28925-EC28-697A-0CFD-1AF93F8F58D6}"/>
              </a:ext>
            </a:extLst>
          </p:cNvPr>
          <p:cNvGrpSpPr/>
          <p:nvPr/>
        </p:nvGrpSpPr>
        <p:grpSpPr>
          <a:xfrm>
            <a:off x="4008242" y="1251250"/>
            <a:ext cx="5121923" cy="2291587"/>
            <a:chOff x="4008812" y="1467818"/>
            <a:chExt cx="5121923" cy="2291587"/>
          </a:xfrm>
        </p:grpSpPr>
        <p:sp>
          <p:nvSpPr>
            <p:cNvPr id="8" name="矩形 7"/>
            <p:cNvSpPr/>
            <p:nvPr/>
          </p:nvSpPr>
          <p:spPr bwMode="auto">
            <a:xfrm>
              <a:off x="6228659" y="3260021"/>
              <a:ext cx="290207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. Input parameter</a:t>
              </a:r>
              <a:endPara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008812" y="1467818"/>
              <a:ext cx="1999525" cy="229158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53133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51F8F45-1262-0385-9698-22E0681DB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294" y="815006"/>
            <a:ext cx="8240275" cy="4791744"/>
          </a:xfrm>
          <a:prstGeom prst="rect">
            <a:avLst/>
          </a:prstGeom>
        </p:spPr>
      </p:pic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3.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ADD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IP CORE</a:t>
            </a:r>
          </a:p>
          <a:p>
            <a:pPr lvl="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-step2-4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 pitchFamily="34" charset="0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27430" y="5141495"/>
            <a:ext cx="834191" cy="4652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9B44B9-245D-1C04-4962-158AB4AD0684}"/>
              </a:ext>
            </a:extLst>
          </p:cNvPr>
          <p:cNvSpPr/>
          <p:nvPr/>
        </p:nvSpPr>
        <p:spPr bwMode="auto">
          <a:xfrm>
            <a:off x="8501554" y="5606750"/>
            <a:ext cx="17974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 Left click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193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3.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ADD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IP CORE</a:t>
            </a:r>
          </a:p>
          <a:p>
            <a:pPr lvl="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-step2-5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 pitchFamily="34" charset="0"/>
              <a:ea typeface="等线 Light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F04901F-D8A2-0F43-36CD-E2FA41E7CF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3"/>
          <a:stretch/>
        </p:blipFill>
        <p:spPr>
          <a:xfrm>
            <a:off x="2887663" y="385763"/>
            <a:ext cx="5259620" cy="593482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537199" y="2314029"/>
            <a:ext cx="2938367" cy="29237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9B44B9-245D-1C04-4962-158AB4AD0684}"/>
              </a:ext>
            </a:extLst>
          </p:cNvPr>
          <p:cNvSpPr/>
          <p:nvPr/>
        </p:nvSpPr>
        <p:spPr bwMode="auto">
          <a:xfrm>
            <a:off x="6475566" y="1852364"/>
            <a:ext cx="46335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Ensure these signals are connected to probes.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We need to pay attention to the signals q0, q1, q2, and q3.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98BAA5-89CF-6322-260F-094512EBE7EE}"/>
              </a:ext>
            </a:extLst>
          </p:cNvPr>
          <p:cNvSpPr/>
          <p:nvPr/>
        </p:nvSpPr>
        <p:spPr>
          <a:xfrm>
            <a:off x="4708274" y="316787"/>
            <a:ext cx="1106990" cy="3248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E11AA8-5158-95ED-57CD-FBC26F6F8C27}"/>
              </a:ext>
            </a:extLst>
          </p:cNvPr>
          <p:cNvSpPr txBox="1"/>
          <p:nvPr/>
        </p:nvSpPr>
        <p:spPr>
          <a:xfrm>
            <a:off x="4640137" y="-29735"/>
            <a:ext cx="1243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r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eg_group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13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FDD0AFCA-F8DA-47B1-BCA3-DD5DBEF10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6387" name="文本框 7">
            <a:extLst>
              <a:ext uri="{FF2B5EF4-FFF2-40B4-BE49-F238E27FC236}">
                <a16:creationId xmlns:a16="http://schemas.microsoft.com/office/drawing/2014/main" id="{072D1DD4-E8B7-4CE7-8D4B-C833018C5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75" y="1938338"/>
            <a:ext cx="76581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400"/>
              <a:t>Follow the steps of lab1.ppt to do Synthesis and get the circuit </a:t>
            </a:r>
            <a:endParaRPr lang="zh-CN" altLang="en-US" sz="440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68F8F2EB-A927-43C6-80A9-D155B126C15D}"/>
              </a:ext>
            </a:extLst>
          </p:cNvPr>
          <p:cNvSpPr/>
          <p:nvPr/>
        </p:nvSpPr>
        <p:spPr bwMode="auto">
          <a:xfrm>
            <a:off x="6158036" y="2657475"/>
            <a:ext cx="3978693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Add </a:t>
            </a:r>
            <a:r>
              <a:rPr lang="en-US" altLang="zh-CN" sz="2400" b="1" kern="1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tb_top_cpu.v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 to the project as simulation source</a:t>
            </a:r>
          </a:p>
        </p:txBody>
      </p:sp>
      <p:sp>
        <p:nvSpPr>
          <p:cNvPr id="17412" name="标题 1">
            <a:extLst>
              <a:ext uri="{FF2B5EF4-FFF2-40B4-BE49-F238E27FC236}">
                <a16:creationId xmlns:a16="http://schemas.microsoft.com/office/drawing/2014/main" id="{8F4F17F2-7CF0-4475-A538-FABB142C1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lnSpc>
                <a:spcPct val="90000"/>
              </a:lnSpc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0067ACB-F725-EA24-9725-32C064C4BB2D}"/>
              </a:ext>
            </a:extLst>
          </p:cNvPr>
          <p:cNvGrpSpPr/>
          <p:nvPr/>
        </p:nvGrpSpPr>
        <p:grpSpPr>
          <a:xfrm>
            <a:off x="6140924" y="1251922"/>
            <a:ext cx="3995806" cy="628738"/>
            <a:chOff x="6095999" y="1071519"/>
            <a:chExt cx="5353797" cy="62873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842714C4-72FE-E32A-3478-538D680FF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5999" y="1071519"/>
              <a:ext cx="5353797" cy="628738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40EB483-8EC8-462E-80B8-76C4C7FE533E}"/>
                </a:ext>
              </a:extLst>
            </p:cNvPr>
            <p:cNvSpPr/>
            <p:nvPr/>
          </p:nvSpPr>
          <p:spPr bwMode="auto">
            <a:xfrm>
              <a:off x="6158036" y="1381878"/>
              <a:ext cx="4227094" cy="318379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CECD1B96-76D9-E6CC-42CC-B4DD23DFC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212" y="1251922"/>
            <a:ext cx="2772162" cy="522042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B793C23-4FFB-0C01-CA7C-A91E20FD0DDE}"/>
              </a:ext>
            </a:extLst>
          </p:cNvPr>
          <p:cNvSpPr/>
          <p:nvPr/>
        </p:nvSpPr>
        <p:spPr bwMode="auto">
          <a:xfrm>
            <a:off x="6158036" y="4445690"/>
            <a:ext cx="397869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Define </a:t>
            </a:r>
            <a:r>
              <a:rPr lang="en-US" altLang="zh-CN" sz="2400" b="1" kern="1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clk</a:t>
            </a:r>
            <a:endParaRPr lang="en-US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90BA7E-ACB6-547E-7317-DA2B6258EAA9}"/>
              </a:ext>
            </a:extLst>
          </p:cNvPr>
          <p:cNvSpPr/>
          <p:nvPr/>
        </p:nvSpPr>
        <p:spPr bwMode="auto">
          <a:xfrm>
            <a:off x="6158035" y="5432280"/>
            <a:ext cx="397869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Define </a:t>
            </a:r>
            <a:r>
              <a:rPr lang="en-US" altLang="zh-CN" sz="2400" b="1" kern="1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rst</a:t>
            </a:r>
            <a:endParaRPr lang="en-US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D52124-C047-1347-F77F-EADFBA84AB10}"/>
              </a:ext>
            </a:extLst>
          </p:cNvPr>
          <p:cNvSpPr/>
          <p:nvPr/>
        </p:nvSpPr>
        <p:spPr bwMode="auto">
          <a:xfrm>
            <a:off x="3786827" y="4445690"/>
            <a:ext cx="1956247" cy="743931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B9E695-344E-35D6-EEF2-A1AFAC7A4C52}"/>
              </a:ext>
            </a:extLst>
          </p:cNvPr>
          <p:cNvSpPr/>
          <p:nvPr/>
        </p:nvSpPr>
        <p:spPr bwMode="auto">
          <a:xfrm>
            <a:off x="3786826" y="5360090"/>
            <a:ext cx="1956247" cy="743931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9FBAD9D-B917-8072-1E2A-82554671C8DA}"/>
              </a:ext>
            </a:extLst>
          </p:cNvPr>
          <p:cNvSpPr txBox="1"/>
          <p:nvPr/>
        </p:nvSpPr>
        <p:spPr>
          <a:xfrm>
            <a:off x="322332" y="1751514"/>
            <a:ext cx="3126721" cy="2544762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5.  Create the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</a:t>
            </a:r>
            <a:endParaRPr lang="zh-CN" altLang="en-US" sz="4000" b="1" dirty="0">
              <a:solidFill>
                <a:srgbClr val="FF000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74C780-047E-EDAE-E02B-A8D6D2F382D3}"/>
              </a:ext>
            </a:extLst>
          </p:cNvPr>
          <p:cNvSpPr/>
          <p:nvPr/>
        </p:nvSpPr>
        <p:spPr>
          <a:xfrm>
            <a:off x="3292510" y="699147"/>
            <a:ext cx="6354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Copy contents in PINS_SET.txt to this window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2272CA-88E9-C62C-02C8-0D06AD9A2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650" y="1585138"/>
            <a:ext cx="7891971" cy="389626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029D1FD-B169-23B3-2549-BC26351E562F}"/>
              </a:ext>
            </a:extLst>
          </p:cNvPr>
          <p:cNvSpPr/>
          <p:nvPr/>
        </p:nvSpPr>
        <p:spPr bwMode="auto">
          <a:xfrm>
            <a:off x="6738145" y="2535161"/>
            <a:ext cx="3058998" cy="1538817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254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10"/>
          <p:cNvSpPr txBox="1"/>
          <p:nvPr/>
        </p:nvSpPr>
        <p:spPr>
          <a:xfrm>
            <a:off x="0" y="4746625"/>
            <a:ext cx="4106863" cy="21256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59395" name="标题 1"/>
          <p:cNvSpPr txBox="1"/>
          <p:nvPr/>
        </p:nvSpPr>
        <p:spPr>
          <a:xfrm>
            <a:off x="625475" y="1081088"/>
            <a:ext cx="2887663" cy="27368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6.Connect  FPGA Target Board With Computer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4746625"/>
            <a:ext cx="4106863" cy="19380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 Put all  switch(17 ) to ON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2.Connect J3(2) and USB port of computer with USB cable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3.Power on with switch (7)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4.system reset  L18(13)</a:t>
            </a:r>
          </a:p>
        </p:txBody>
      </p:sp>
      <p:pic>
        <p:nvPicPr>
          <p:cNvPr id="5939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428" y="14605"/>
            <a:ext cx="808513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398" name="矩形 4"/>
          <p:cNvSpPr/>
          <p:nvPr/>
        </p:nvSpPr>
        <p:spPr>
          <a:xfrm>
            <a:off x="5421313" y="5086350"/>
            <a:ext cx="895350" cy="1771650"/>
          </a:xfrm>
          <a:prstGeom prst="rect">
            <a:avLst/>
          </a:prstGeom>
          <a:noFill/>
          <a:ln w="1016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/>
            <a:endParaRPr lang="zh-CN" altLang="en-US" sz="1600" b="1" dirty="0">
              <a:latin typeface="Calibri" panose="020F0502020204030204" pitchFamily="34" charset="0"/>
            </a:endParaRPr>
          </a:p>
        </p:txBody>
      </p:sp>
      <p:sp>
        <p:nvSpPr>
          <p:cNvPr id="59399" name="矩形 4"/>
          <p:cNvSpPr/>
          <p:nvPr/>
        </p:nvSpPr>
        <p:spPr>
          <a:xfrm>
            <a:off x="6807200" y="0"/>
            <a:ext cx="897255" cy="1510030"/>
          </a:xfrm>
          <a:prstGeom prst="rect">
            <a:avLst/>
          </a:prstGeom>
          <a:noFill/>
          <a:ln w="1016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/>
            <a:endParaRPr lang="zh-CN" altLang="en-US" sz="1600" b="1" dirty="0">
              <a:latin typeface="Calibri" panose="020F0502020204030204" pitchFamily="34" charset="0"/>
            </a:endParaRPr>
          </a:p>
        </p:txBody>
      </p:sp>
      <p:sp>
        <p:nvSpPr>
          <p:cNvPr id="59400" name="矩形 4"/>
          <p:cNvSpPr/>
          <p:nvPr/>
        </p:nvSpPr>
        <p:spPr>
          <a:xfrm>
            <a:off x="10086975" y="0"/>
            <a:ext cx="896938" cy="1204913"/>
          </a:xfrm>
          <a:prstGeom prst="rect">
            <a:avLst/>
          </a:prstGeom>
          <a:noFill/>
          <a:ln w="1016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/>
            <a:endParaRPr lang="zh-CN" altLang="en-US" sz="1600" b="1" dirty="0">
              <a:latin typeface="Calibri" panose="020F0502020204030204" pitchFamily="34" charset="0"/>
            </a:endParaRPr>
          </a:p>
        </p:txBody>
      </p:sp>
      <p:sp>
        <p:nvSpPr>
          <p:cNvPr id="2" name="矩形 4"/>
          <p:cNvSpPr/>
          <p:nvPr/>
        </p:nvSpPr>
        <p:spPr>
          <a:xfrm>
            <a:off x="10147935" y="5866130"/>
            <a:ext cx="1859280" cy="591185"/>
          </a:xfrm>
          <a:prstGeom prst="rect">
            <a:avLst/>
          </a:prstGeom>
          <a:noFill/>
          <a:ln w="1016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/>
            <a:endParaRPr lang="zh-CN" altLang="en-US" sz="16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25475" y="1081087"/>
            <a:ext cx="3216193" cy="375216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program device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3" name="文本框 7"/>
          <p:cNvSpPr txBox="1">
            <a:spLocks noChangeArrowheads="1"/>
          </p:cNvSpPr>
          <p:nvPr/>
        </p:nvSpPr>
        <p:spPr bwMode="auto">
          <a:xfrm>
            <a:off x="4533900" y="2413350"/>
            <a:ext cx="76581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Follow the steps of lab1.ppt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7F45C700-BE19-632C-B9D8-4D41D6955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320" y="473335"/>
            <a:ext cx="9383764" cy="5614549"/>
          </a:xfrm>
          <a:prstGeom prst="rect">
            <a:avLst/>
          </a:prstGeom>
        </p:spPr>
      </p:pic>
      <p:sp>
        <p:nvSpPr>
          <p:cNvPr id="2" name="标题 1"/>
          <p:cNvSpPr txBox="1"/>
          <p:nvPr/>
        </p:nvSpPr>
        <p:spPr>
          <a:xfrm>
            <a:off x="-158381" y="1508147"/>
            <a:ext cx="2978687" cy="2695718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 Run </a:t>
            </a:r>
            <a:r>
              <a:rPr lang="en-US" altLang="zh-CN" sz="4000" b="1" dirty="0" err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ila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to see the data in the registers</a:t>
            </a:r>
          </a:p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20306" y="1994659"/>
            <a:ext cx="1733550" cy="1619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EF73595-302C-785C-8FDB-93894022A56C}"/>
              </a:ext>
            </a:extLst>
          </p:cNvPr>
          <p:cNvGrpSpPr/>
          <p:nvPr/>
        </p:nvGrpSpPr>
        <p:grpSpPr>
          <a:xfrm>
            <a:off x="2859344" y="558299"/>
            <a:ext cx="7480956" cy="4020201"/>
            <a:chOff x="2619647" y="1010531"/>
            <a:chExt cx="7480956" cy="4020201"/>
          </a:xfrm>
        </p:grpSpPr>
        <p:sp>
          <p:nvSpPr>
            <p:cNvPr id="7" name="矩形 6"/>
            <p:cNvSpPr/>
            <p:nvPr/>
          </p:nvSpPr>
          <p:spPr>
            <a:xfrm>
              <a:off x="4814705" y="1640700"/>
              <a:ext cx="209129" cy="1688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5502882" y="1863937"/>
              <a:ext cx="1460326" cy="19491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6630789" y="4857783"/>
              <a:ext cx="332419" cy="17294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5622255" y="1010531"/>
              <a:ext cx="3985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. Add signals</a:t>
              </a:r>
              <a:endPara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2619647" y="2573281"/>
              <a:ext cx="3985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1. Select the </a:t>
              </a:r>
              <a:r>
                <a:rPr kumimoji="0" lang="en-US" altLang="zh-CN" sz="2400" b="1" i="0" u="none" strike="noStrike" kern="1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ila</a:t>
              </a:r>
              <a:endPara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5440928" y="3814832"/>
              <a:ext cx="3985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en-US" altLang="zh-CN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. Select all</a:t>
              </a:r>
              <a:endPara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6115483" y="4278266"/>
              <a:ext cx="39851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. Click ok</a:t>
              </a:r>
              <a:endPara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150852" y="1456712"/>
            <a:ext cx="2978687" cy="2695718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 Run </a:t>
            </a:r>
            <a:r>
              <a:rPr lang="en-US" altLang="zh-CN" sz="3600" b="1" dirty="0" err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ila</a:t>
            </a:r>
            <a:r>
              <a:rPr lang="en-US" altLang="zh-CN" sz="36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to see the data in the registers</a:t>
            </a:r>
          </a:p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E38E897-781E-3600-5B7F-C1321E2CAAFC}"/>
              </a:ext>
            </a:extLst>
          </p:cNvPr>
          <p:cNvGrpSpPr/>
          <p:nvPr/>
        </p:nvGrpSpPr>
        <p:grpSpPr>
          <a:xfrm>
            <a:off x="2688534" y="170714"/>
            <a:ext cx="8389513" cy="6179688"/>
            <a:chOff x="2800828" y="339156"/>
            <a:chExt cx="8389513" cy="6179688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B92ABB2-88B2-9E71-7387-44A7C9951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00828" y="339156"/>
              <a:ext cx="8389513" cy="6179688"/>
            </a:xfrm>
            <a:prstGeom prst="rect">
              <a:avLst/>
            </a:prstGeom>
          </p:spPr>
        </p:pic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CBA954A-0B92-DD00-FE5C-FE49D38E1CE1}"/>
                </a:ext>
              </a:extLst>
            </p:cNvPr>
            <p:cNvGrpSpPr/>
            <p:nvPr/>
          </p:nvGrpSpPr>
          <p:grpSpPr>
            <a:xfrm>
              <a:off x="5284843" y="3409941"/>
              <a:ext cx="3999809" cy="3108903"/>
              <a:chOff x="5284843" y="3409941"/>
              <a:chExt cx="3999809" cy="3108903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7373861" y="3553769"/>
                <a:ext cx="263525" cy="17272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7775346" y="5066519"/>
                <a:ext cx="1308964" cy="143154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8883967" y="6336329"/>
                <a:ext cx="400685" cy="182515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 bwMode="auto">
              <a:xfrm>
                <a:off x="7429715" y="4876691"/>
                <a:ext cx="608330" cy="46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0" lang="zh-CN" altLang="zh-CN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 bwMode="auto">
              <a:xfrm>
                <a:off x="6995584" y="3409941"/>
                <a:ext cx="608330" cy="46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0" lang="zh-CN" altLang="zh-CN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 bwMode="auto">
              <a:xfrm>
                <a:off x="8676322" y="5962914"/>
                <a:ext cx="608330" cy="46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0" lang="zh-CN" altLang="zh-CN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 bwMode="auto">
              <a:xfrm>
                <a:off x="5284843" y="3694913"/>
                <a:ext cx="2569404" cy="46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Add Trigger Signal </a:t>
                </a:r>
                <a:endParaRPr kumimoji="0" lang="zh-CN" altLang="zh-CN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BB027EB-5C54-56E1-E602-466712C26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750" y="1218817"/>
            <a:ext cx="9307286" cy="5124833"/>
          </a:xfrm>
          <a:prstGeom prst="rect">
            <a:avLst/>
          </a:prstGeom>
        </p:spPr>
      </p:pic>
      <p:sp>
        <p:nvSpPr>
          <p:cNvPr id="2" name="标题 1"/>
          <p:cNvSpPr txBox="1"/>
          <p:nvPr/>
        </p:nvSpPr>
        <p:spPr>
          <a:xfrm>
            <a:off x="-47080" y="747395"/>
            <a:ext cx="2576830" cy="398081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9. Run </a:t>
            </a:r>
            <a:r>
              <a:rPr lang="en-US" altLang="zh-CN" sz="3600" b="1" dirty="0" err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ila</a:t>
            </a:r>
            <a:r>
              <a:rPr lang="en-US" altLang="zh-CN" sz="36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to see the data in the registers</a:t>
            </a:r>
          </a:p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11464E6-F147-6309-5333-AED7A18A9DF9}"/>
              </a:ext>
            </a:extLst>
          </p:cNvPr>
          <p:cNvGrpSpPr/>
          <p:nvPr/>
        </p:nvGrpSpPr>
        <p:grpSpPr>
          <a:xfrm>
            <a:off x="3225931" y="1405003"/>
            <a:ext cx="8654415" cy="4234180"/>
            <a:chOff x="3091815" y="1017270"/>
            <a:chExt cx="8654415" cy="4234180"/>
          </a:xfrm>
        </p:grpSpPr>
        <p:sp>
          <p:nvSpPr>
            <p:cNvPr id="4" name="矩形 3"/>
            <p:cNvSpPr/>
            <p:nvPr/>
          </p:nvSpPr>
          <p:spPr>
            <a:xfrm flipV="1">
              <a:off x="7142480" y="5055235"/>
              <a:ext cx="4302760" cy="19621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 bwMode="auto">
            <a:xfrm>
              <a:off x="7390765" y="4530725"/>
              <a:ext cx="4355465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1. Set Trigger Condition </a:t>
              </a:r>
              <a:endPara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 flipV="1">
              <a:off x="3564128" y="1437110"/>
              <a:ext cx="307340" cy="19621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 bwMode="auto">
            <a:xfrm>
              <a:off x="3091815" y="1017270"/>
              <a:ext cx="2464435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en-US" altLang="zh-CN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.Start Trigger</a:t>
              </a:r>
              <a:endPara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矩形 14"/>
          <p:cNvSpPr/>
          <p:nvPr/>
        </p:nvSpPr>
        <p:spPr bwMode="auto">
          <a:xfrm>
            <a:off x="2838728" y="354716"/>
            <a:ext cx="6925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.Press and hold the reset button on the board !!!!!!</a:t>
            </a:r>
            <a:endParaRPr kumimoji="0" lang="zh-CN" altLang="en-US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020B6D-6B02-C972-4A41-A33FD329C8F9}"/>
              </a:ext>
            </a:extLst>
          </p:cNvPr>
          <p:cNvSpPr/>
          <p:nvPr/>
        </p:nvSpPr>
        <p:spPr bwMode="auto">
          <a:xfrm>
            <a:off x="6026897" y="1405003"/>
            <a:ext cx="43554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4.Release the reset button!!!!!!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标题 1">
            <a:extLst>
              <a:ext uri="{FF2B5EF4-FFF2-40B4-BE49-F238E27FC236}">
                <a16:creationId xmlns:a16="http://schemas.microsoft.com/office/drawing/2014/main" id="{E3E74ED3-65A4-41EB-B0D5-B853211D8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25" y="0"/>
            <a:ext cx="10515600" cy="1325563"/>
          </a:xfrm>
        </p:spPr>
        <p:txBody>
          <a:bodyPr/>
          <a:lstStyle/>
          <a:p>
            <a:r>
              <a:rPr lang="en-US" altLang="zh-CN" sz="5400" b="1" dirty="0">
                <a:solidFill>
                  <a:srgbClr val="00B0F0"/>
                </a:solidFill>
              </a:rPr>
              <a:t>Some other ideas for Instruction Set</a:t>
            </a:r>
            <a:endParaRPr lang="zh-CN" altLang="en-US" sz="540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7FF4AD1-F437-4877-ADB6-B71934CDD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289" y="1626128"/>
            <a:ext cx="9790112" cy="4711700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Memory access instructions</a:t>
            </a:r>
          </a:p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en-US" altLang="zh-CN" sz="3600" dirty="0"/>
              <a:t>                </a:t>
            </a:r>
            <a:r>
              <a:rPr lang="zh-CN" altLang="en-US" sz="3600" dirty="0"/>
              <a:t> </a:t>
            </a:r>
            <a:r>
              <a:rPr lang="en-US" altLang="zh-CN" sz="3600" dirty="0" err="1"/>
              <a:t>Ldr</a:t>
            </a:r>
            <a:r>
              <a:rPr lang="en-US" altLang="zh-CN" sz="3600" dirty="0"/>
              <a:t>,</a:t>
            </a:r>
            <a:r>
              <a:rPr lang="zh-CN" altLang="en-US" sz="3600" dirty="0"/>
              <a:t> </a:t>
            </a:r>
            <a:r>
              <a:rPr lang="en-US" altLang="zh-CN" sz="3600" dirty="0"/>
              <a:t>Str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 startAt="2"/>
              <a:defRPr/>
            </a:pPr>
            <a:r>
              <a:rPr lang="en-US" altLang="zh-CN" sz="4000" dirty="0"/>
              <a:t>Conditional branch instructions</a:t>
            </a:r>
          </a:p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en-US" altLang="zh-CN" sz="3600" dirty="0"/>
              <a:t>                 </a:t>
            </a:r>
            <a:r>
              <a:rPr lang="en-US" altLang="zh-CN" sz="3600" dirty="0" err="1"/>
              <a:t>Jz</a:t>
            </a:r>
            <a:r>
              <a:rPr lang="en-US" altLang="zh-CN" sz="3600" dirty="0"/>
              <a:t>, </a:t>
            </a:r>
            <a:r>
              <a:rPr lang="en-US" altLang="zh-CN" sz="3600" dirty="0" err="1"/>
              <a:t>Jnc</a:t>
            </a:r>
            <a:r>
              <a:rPr lang="en-US" altLang="zh-CN" sz="3600" dirty="0"/>
              <a:t>, …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 startAt="3"/>
              <a:defRPr/>
            </a:pPr>
            <a:r>
              <a:rPr lang="en-US" altLang="zh-CN" sz="4000" dirty="0"/>
              <a:t>Other data operation instructions</a:t>
            </a:r>
          </a:p>
          <a:p>
            <a:pPr marL="1155700" lvl="1" indent="830263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3300" dirty="0"/>
              <a:t> </a:t>
            </a:r>
            <a:r>
              <a:rPr lang="en-US" altLang="zh-CN" sz="3300" dirty="0" err="1"/>
              <a:t>Xor</a:t>
            </a:r>
            <a:r>
              <a:rPr lang="en-US" altLang="zh-CN" sz="3300" dirty="0"/>
              <a:t>,</a:t>
            </a:r>
            <a:r>
              <a:rPr lang="zh-CN" altLang="en-US" sz="3300" dirty="0"/>
              <a:t> </a:t>
            </a:r>
            <a:r>
              <a:rPr lang="en-US" altLang="zh-CN" sz="3300" dirty="0" err="1"/>
              <a:t>Cmp</a:t>
            </a:r>
            <a:r>
              <a:rPr lang="en-US" altLang="zh-CN" sz="3300" dirty="0"/>
              <a:t>…..</a:t>
            </a:r>
          </a:p>
          <a:p>
            <a:pPr marL="1155700" lvl="1" indent="830263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3300" dirty="0"/>
              <a:t> Acc (add 1 to N)</a:t>
            </a:r>
            <a:endParaRPr lang="zh-CN" altLang="en-US" sz="20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1325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>
            <a:extLst>
              <a:ext uri="{FF2B5EF4-FFF2-40B4-BE49-F238E27FC236}">
                <a16:creationId xmlns:a16="http://schemas.microsoft.com/office/drawing/2014/main" id="{CEA3DC5B-4B3D-4BA6-840C-4B16BC41A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65539" name="文本框 3">
            <a:extLst>
              <a:ext uri="{FF2B5EF4-FFF2-40B4-BE49-F238E27FC236}">
                <a16:creationId xmlns:a16="http://schemas.microsoft.com/office/drawing/2014/main" id="{29F7C19D-5BC7-4AFF-AFB6-04A7B2443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 dirty="0"/>
              <a:t>Lab Course 5</a:t>
            </a:r>
            <a:endParaRPr lang="zh-CN" altLang="en-US" sz="4000" dirty="0"/>
          </a:p>
        </p:txBody>
      </p:sp>
      <p:sp>
        <p:nvSpPr>
          <p:cNvPr id="3077" name="文本框 5">
            <a:extLst>
              <a:ext uri="{FF2B5EF4-FFF2-40B4-BE49-F238E27FC236}">
                <a16:creationId xmlns:a16="http://schemas.microsoft.com/office/drawing/2014/main" id="{DF48B4B2-C725-4628-B844-84EF9D6FB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388" y="3984625"/>
            <a:ext cx="49149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5400" b="1" i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~~End~~</a:t>
            </a:r>
          </a:p>
          <a:p>
            <a:pPr algn="ctr" eaLnBrk="1" hangingPunct="1">
              <a:defRPr/>
            </a:pPr>
            <a:endParaRPr lang="zh-CN" altLang="en-US" sz="36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artus13.1 安装说明.pptx" id="{7DAF6241-A34C-48AD-B255-5E0B72393853}" vid="{554FF0A6-F414-48E1-910B-50D72A6927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3800</TotalTime>
  <Words>937</Words>
  <Application>Microsoft Office PowerPoint</Application>
  <PresentationFormat>宽屏</PresentationFormat>
  <Paragraphs>198</Paragraphs>
  <Slides>28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 Unicode MS</vt:lpstr>
      <vt:lpstr>Arial</vt:lpstr>
      <vt:lpstr>Calibri</vt:lpstr>
      <vt:lpstr>Calibri Light</vt:lpstr>
      <vt:lpstr>Times New Roman</vt:lpstr>
      <vt:lpstr>Wingdings</vt:lpstr>
      <vt:lpstr>模板</vt:lpstr>
      <vt:lpstr>Visio</vt:lpstr>
      <vt:lpstr>Digital Logic Design and Application</vt:lpstr>
      <vt:lpstr>Fundamental</vt:lpstr>
      <vt:lpstr>Grading</vt:lpstr>
      <vt:lpstr>Note</vt:lpstr>
      <vt:lpstr>Content</vt:lpstr>
      <vt:lpstr>Instruction Set</vt:lpstr>
      <vt:lpstr>1. Create New Hardware 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Some other ideas for Instruction Set</vt:lpstr>
      <vt:lpstr>Digital Logic Design and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 and Application</dc:title>
  <dc:creator>李志文</dc:creator>
  <cp:lastModifiedBy>Erith 张</cp:lastModifiedBy>
  <cp:revision>339</cp:revision>
  <dcterms:created xsi:type="dcterms:W3CDTF">2017-04-08T01:53:17Z</dcterms:created>
  <dcterms:modified xsi:type="dcterms:W3CDTF">2024-04-03T08:14:31Z</dcterms:modified>
</cp:coreProperties>
</file>