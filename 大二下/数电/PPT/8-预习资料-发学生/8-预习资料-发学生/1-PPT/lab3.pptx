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553" r:id="rId3"/>
    <p:sldId id="554" r:id="rId4"/>
    <p:sldId id="541" r:id="rId5"/>
    <p:sldId id="520" r:id="rId6"/>
    <p:sldId id="260" r:id="rId7"/>
    <p:sldId id="546" r:id="rId8"/>
    <p:sldId id="619" r:id="rId9"/>
    <p:sldId id="543" r:id="rId10"/>
    <p:sldId id="547" r:id="rId11"/>
    <p:sldId id="552" r:id="rId12"/>
    <p:sldId id="538" r:id="rId13"/>
    <p:sldId id="536" r:id="rId14"/>
    <p:sldId id="537" r:id="rId15"/>
    <p:sldId id="525" r:id="rId16"/>
    <p:sldId id="522" r:id="rId17"/>
    <p:sldId id="549" r:id="rId18"/>
    <p:sldId id="528" r:id="rId19"/>
    <p:sldId id="539" r:id="rId20"/>
    <p:sldId id="523" r:id="rId21"/>
    <p:sldId id="535" r:id="rId22"/>
    <p:sldId id="545" r:id="rId23"/>
    <p:sldId id="524" r:id="rId24"/>
    <p:sldId id="496" r:id="rId25"/>
  </p:sldIdLst>
  <p:sldSz cx="12192000" cy="6858000"/>
  <p:notesSz cx="6858000" cy="9144000"/>
  <p:custDataLst>
    <p:tags r:id="rId29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7065"/>
    <p:restoredTop sz="94660"/>
  </p:normalViewPr>
  <p:slideViewPr>
    <p:cSldViewPr snapToGrid="0" showGuides="1">
      <p:cViewPr varScale="1">
        <p:scale>
          <a:sx n="119" d="100"/>
          <a:sy n="119" d="100"/>
        </p:scale>
        <p:origin x="15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4D27946-2ED1-4C26-9CB0-8B264EB38C5F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4D27946-2ED1-4C26-9CB0-8B264EB38C5F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4D27946-2ED1-4C26-9CB0-8B264EB38C5F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4D27946-2ED1-4C26-9CB0-8B264EB38C5F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7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7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4D27946-2ED1-4C26-9CB0-8B264EB38C5F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46223" y="200376"/>
            <a:ext cx="6641756" cy="55751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4D27946-2ED1-4C26-9CB0-8B264EB38C5F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4D27946-2ED1-4C26-9CB0-8B264EB38C5F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4D27946-2ED1-4C26-9CB0-8B264EB38C5F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4D27946-2ED1-4C26-9CB0-8B264EB38C5F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4D27946-2ED1-4C26-9CB0-8B264EB38C5F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5" y="365125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4D27946-2ED1-4C26-9CB0-8B264EB38C5F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4D27946-2ED1-4C26-9CB0-8B264EB38C5F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4D27946-2ED1-4C26-9CB0-8B264EB38C5F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  <p:pic>
        <p:nvPicPr>
          <p:cNvPr id="1031" name="Picture 4" descr="UESTC logo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64863" y="0"/>
            <a:ext cx="1219200" cy="112871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标题 1"/>
          <p:cNvSpPr>
            <a:spLocks noGrp="1"/>
          </p:cNvSpPr>
          <p:nvPr>
            <p:ph type="title"/>
          </p:nvPr>
        </p:nvSpPr>
        <p:spPr>
          <a:xfrm>
            <a:off x="1155700" y="1074738"/>
            <a:ext cx="9877425" cy="1325562"/>
          </a:xfrm>
          <a:ln/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en-US" altLang="zh-CN" sz="5400" b="1" dirty="0">
                <a:solidFill>
                  <a:srgbClr val="00B0F0"/>
                </a:solidFill>
              </a:rPr>
              <a:t>Digital Logic Design and Application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sp>
        <p:nvSpPr>
          <p:cNvPr id="2051" name="文本框 3"/>
          <p:cNvSpPr txBox="1"/>
          <p:nvPr/>
        </p:nvSpPr>
        <p:spPr>
          <a:xfrm>
            <a:off x="4249738" y="2562225"/>
            <a:ext cx="3552825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en-US" altLang="zh-CN" sz="4000" dirty="0">
                <a:latin typeface="Calibri" panose="020F0502020204030204" pitchFamily="34" charset="0"/>
              </a:rPr>
              <a:t>Lab Course 3</a:t>
            </a:r>
            <a:endParaRPr lang="zh-CN" altLang="en-US" sz="4000" dirty="0">
              <a:latin typeface="Calibri" panose="020F0502020204030204" pitchFamily="34" charset="0"/>
            </a:endParaRPr>
          </a:p>
        </p:txBody>
      </p:sp>
      <p:sp>
        <p:nvSpPr>
          <p:cNvPr id="2052" name="文本框 5"/>
          <p:cNvSpPr txBox="1"/>
          <p:nvPr/>
        </p:nvSpPr>
        <p:spPr>
          <a:xfrm>
            <a:off x="4232275" y="3590925"/>
            <a:ext cx="5170488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600" dirty="0">
                <a:latin typeface="Calibri" panose="020F0502020204030204" pitchFamily="34" charset="0"/>
              </a:rPr>
              <a:t>Lecturer:</a:t>
            </a:r>
            <a:endParaRPr lang="zh-CN" altLang="en-US" sz="3600" dirty="0">
              <a:latin typeface="Calibri" panose="020F0502020204030204" pitchFamily="34" charset="0"/>
            </a:endParaRPr>
          </a:p>
        </p:txBody>
      </p:sp>
      <p:sp>
        <p:nvSpPr>
          <p:cNvPr id="2053" name="文本框 6"/>
          <p:cNvSpPr txBox="1"/>
          <p:nvPr/>
        </p:nvSpPr>
        <p:spPr>
          <a:xfrm>
            <a:off x="4216400" y="4237038"/>
            <a:ext cx="6459538" cy="647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600" dirty="0">
                <a:latin typeface="Calibri" panose="020F0502020204030204" pitchFamily="34" charset="0"/>
              </a:rPr>
              <a:t>TA:</a:t>
            </a:r>
            <a:endParaRPr lang="zh-CN" altLang="en-US" sz="3200" dirty="0">
              <a:latin typeface="Calibri" panose="020F0502020204030204" pitchFamily="34" charset="0"/>
            </a:endParaRPr>
          </a:p>
        </p:txBody>
      </p:sp>
      <p:sp>
        <p:nvSpPr>
          <p:cNvPr id="2054" name="文本框 3"/>
          <p:cNvSpPr txBox="1"/>
          <p:nvPr/>
        </p:nvSpPr>
        <p:spPr>
          <a:xfrm>
            <a:off x="4244975" y="4883150"/>
            <a:ext cx="4225925" cy="1138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600" dirty="0">
                <a:latin typeface="Calibri" panose="020F0502020204030204" pitchFamily="34" charset="0"/>
              </a:rPr>
              <a:t>Lab Room:</a:t>
            </a:r>
            <a:br>
              <a:rPr lang="en-US" altLang="zh-CN" sz="3200" dirty="0">
                <a:latin typeface="Calibri" panose="020F0502020204030204" pitchFamily="34" charset="0"/>
              </a:rPr>
            </a:br>
            <a:r>
              <a:rPr lang="en-US" altLang="zh-CN" sz="3200" dirty="0">
                <a:latin typeface="Calibri" panose="020F0502020204030204" pitchFamily="34" charset="0"/>
              </a:rPr>
              <a:t>                         </a:t>
            </a:r>
            <a:endParaRPr lang="zh-CN" altLang="en-US" sz="3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标题 1"/>
          <p:cNvSpPr>
            <a:spLocks noGrp="1"/>
          </p:cNvSpPr>
          <p:nvPr>
            <p:ph type="title"/>
          </p:nvPr>
        </p:nvSpPr>
        <p:spPr>
          <a:xfrm>
            <a:off x="874713" y="252413"/>
            <a:ext cx="7886700" cy="1325562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5400" b="1" dirty="0">
                <a:solidFill>
                  <a:srgbClr val="00B0F0"/>
                </a:solidFill>
              </a:rPr>
              <a:t>Grading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95338" y="1404938"/>
            <a:ext cx="11396663" cy="5267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eaLnBrk="1" hangingPunct="1">
              <a:lnSpc>
                <a:spcPct val="150000"/>
              </a:lnSpc>
              <a:spcBef>
                <a:spcPts val="750"/>
              </a:spcBef>
              <a:buClrTx/>
              <a:buSzTx/>
              <a:buFontTx/>
              <a:buNone/>
              <a:defRPr/>
            </a:pPr>
            <a:r>
              <a:rPr kumimoji="0" lang="en-US" altLang="zh-CN" sz="4400" kern="1200" cap="none" spc="0" normalizeH="0" baseline="0" noProof="0" dirty="0">
                <a:latin typeface="+mn-lt"/>
                <a:ea typeface="+mn-ea"/>
                <a:cs typeface="+mn-cs"/>
              </a:rPr>
              <a:t>Assessment</a:t>
            </a:r>
            <a:endParaRPr kumimoji="0" lang="en-US" altLang="zh-CN" sz="4400" kern="1200" cap="none" spc="0" normalizeH="0" baseline="0" noProof="0" dirty="0">
              <a:latin typeface="+mn-lt"/>
              <a:ea typeface="+mn-ea"/>
              <a:cs typeface="+mn-cs"/>
            </a:endParaRPr>
          </a:p>
          <a:p>
            <a:pPr marR="0" algn="ctr" defTabSz="914400" eaLnBrk="1" fontAlgn="auto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1200" cap="none" spc="0" normalizeH="0" baseline="0" noProof="0" dirty="0"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kern="100" cap="none" spc="0" normalizeH="0" baseline="0" noProof="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Lab1 10% + Lab2 20% + </a:t>
            </a:r>
            <a:r>
              <a:rPr kumimoji="0" lang="en-US" altLang="zh-CN" sz="2400" b="1" kern="100" cap="none" spc="0" normalizeH="0" baseline="0" noProof="0" dirty="0">
                <a:solidFill>
                  <a:srgbClr val="FF0000"/>
                </a:solidFill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Lab3 20% </a:t>
            </a:r>
            <a:r>
              <a:rPr kumimoji="0" lang="en-US" altLang="zh-CN" sz="2400" b="1" kern="100" cap="none" spc="0" normalizeH="0" baseline="0" noProof="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+ Lab4 20% + Lab5 10%</a:t>
            </a:r>
            <a:r>
              <a:rPr kumimoji="0" lang="zh-CN" altLang="en-US" sz="2400" b="1" kern="100" cap="none" spc="0" normalizeH="0" baseline="0" noProof="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kumimoji="0" lang="en-US" altLang="zh-CN" sz="2400" b="1" kern="100" cap="none" spc="0" normalizeH="0" baseline="0" noProof="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+ </a:t>
            </a:r>
            <a:r>
              <a:rPr kumimoji="0" lang="en-US" altLang="zh-CN" sz="2400" b="1" kern="100" cap="none" spc="0" normalizeH="0" baseline="0" noProof="0" dirty="0">
                <a:solidFill>
                  <a:srgbClr val="FF0000"/>
                </a:solidFill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Report1 5% </a:t>
            </a:r>
            <a:r>
              <a:rPr kumimoji="0" lang="en-US" altLang="zh-CN" sz="2400" b="1" kern="100" cap="none" spc="0" normalizeH="0" baseline="0" noProof="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+ Repor2 15%</a:t>
            </a:r>
            <a:endParaRPr kumimoji="0" lang="en-US" altLang="zh-CN" sz="2400" b="1" kern="100" cap="none" spc="0" normalizeH="0" baseline="0" noProof="0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R="0" defTabSz="685800" eaLnBrk="1" hangingPunct="1">
              <a:lnSpc>
                <a:spcPct val="150000"/>
              </a:lnSpc>
              <a:spcBef>
                <a:spcPts val="750"/>
              </a:spcBef>
              <a:buClrTx/>
              <a:buSzTx/>
              <a:buFontTx/>
              <a:buNone/>
              <a:defRPr/>
            </a:pPr>
            <a:r>
              <a:rPr kumimoji="0" lang="en-US" altLang="zh-CN" sz="4400" kern="1200" cap="none" spc="0" normalizeH="0" baseline="0" noProof="0" dirty="0">
                <a:latin typeface="+mn-lt"/>
                <a:ea typeface="+mn-ea"/>
                <a:cs typeface="+mn-cs"/>
              </a:rPr>
              <a:t>And for each lab:</a:t>
            </a:r>
            <a:endParaRPr kumimoji="0" lang="en-US" altLang="zh-CN" sz="4400" kern="120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1435100" marR="0" lvl="1" indent="-5524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Pre-Lab preparation and Performance in laboratory (65%)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435100" marR="0" lvl="1" indent="-5524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Laboratory experimental reports (35%)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960438" y="309563"/>
            <a:ext cx="7886700" cy="827087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5400" b="1" dirty="0">
                <a:solidFill>
                  <a:srgbClr val="00B0F0"/>
                </a:solidFill>
              </a:rPr>
              <a:t>Requirements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sp>
        <p:nvSpPr>
          <p:cNvPr id="4099" name="内容占位符 3"/>
          <p:cNvSpPr>
            <a:spLocks noGrp="1"/>
          </p:cNvSpPr>
          <p:nvPr>
            <p:ph idx="1" hasCustomPrompt="1"/>
          </p:nvPr>
        </p:nvSpPr>
        <p:spPr>
          <a:xfrm>
            <a:off x="914400" y="1589088"/>
            <a:ext cx="10614025" cy="3810000"/>
          </a:xfrm>
          <a:ln/>
        </p:spPr>
        <p:txBody>
          <a:bodyPr vert="horz" wrap="square" lIns="91440" tIns="45720" rIns="91440" bIns="45720" anchor="t" anchorCtr="0">
            <a:spAutoFit/>
          </a:bodyPr>
          <a:p>
            <a:pPr marL="0" indent="0" eaLnBrk="1" hangingPunct="1">
              <a:buNone/>
            </a:pPr>
            <a:r>
              <a:rPr lang="en-US" altLang="zh-CN" sz="3200" dirty="0"/>
              <a:t>1.  Understand the </a:t>
            </a:r>
            <a:r>
              <a:rPr lang="en-US" altLang="zh-CN" sz="3200" dirty="0">
                <a:solidFill>
                  <a:srgbClr val="FF0000"/>
                </a:solidFill>
              </a:rPr>
              <a:t>function of the control unit </a:t>
            </a:r>
            <a:r>
              <a:rPr lang="en-US" altLang="zh-CN" sz="3200" dirty="0"/>
              <a:t>in CPU.</a:t>
            </a:r>
            <a:endParaRPr lang="en-US" altLang="zh-CN" sz="3200" dirty="0"/>
          </a:p>
          <a:p>
            <a:pPr marL="0" indent="0" eaLnBrk="1" hangingPunct="1">
              <a:buNone/>
            </a:pPr>
            <a:endParaRPr lang="en-US" altLang="zh-CN" sz="3200" dirty="0"/>
          </a:p>
          <a:p>
            <a:pPr marL="0" indent="0" eaLnBrk="1" hangingPunct="1">
              <a:buNone/>
            </a:pPr>
            <a:r>
              <a:rPr lang="en-US" altLang="zh-CN" sz="3200" dirty="0"/>
              <a:t>2. Consider about the controller’s </a:t>
            </a:r>
            <a:r>
              <a:rPr lang="en-US" altLang="zh-CN" sz="3200" dirty="0">
                <a:solidFill>
                  <a:srgbClr val="FF0000"/>
                </a:solidFill>
              </a:rPr>
              <a:t>STG</a:t>
            </a:r>
            <a:r>
              <a:rPr lang="en-US" altLang="zh-CN" sz="3200" dirty="0"/>
              <a:t> according to the ISA.</a:t>
            </a:r>
            <a:endParaRPr lang="en-US" altLang="zh-CN" sz="3200" dirty="0"/>
          </a:p>
          <a:p>
            <a:pPr marL="0" indent="0" eaLnBrk="1" hangingPunct="1">
              <a:buNone/>
            </a:pPr>
            <a:endParaRPr lang="en-US" altLang="zh-CN" sz="3200" dirty="0"/>
          </a:p>
          <a:p>
            <a:pPr marL="0" indent="0" eaLnBrk="1" hangingPunct="1">
              <a:buNone/>
            </a:pPr>
            <a:r>
              <a:rPr lang="en-US" altLang="zh-CN" sz="3200" dirty="0"/>
              <a:t>3. Finish the </a:t>
            </a:r>
            <a:r>
              <a:rPr lang="en-US" altLang="zh-CN" sz="3200" dirty="0">
                <a:solidFill>
                  <a:srgbClr val="FF0000"/>
                </a:solidFill>
              </a:rPr>
              <a:t>state_transition module </a:t>
            </a:r>
            <a:r>
              <a:rPr lang="en-US" altLang="zh-CN" sz="3200" dirty="0"/>
              <a:t>based on the </a:t>
            </a:r>
            <a:r>
              <a:rPr lang="en-US" altLang="zh-CN" sz="3200" dirty="0">
                <a:sym typeface="+mn-ea"/>
              </a:rPr>
              <a:t>given codes </a:t>
            </a:r>
            <a:r>
              <a:rPr lang="en-US" altLang="zh-CN" sz="3200" dirty="0"/>
              <a:t>.                                 </a:t>
            </a:r>
            <a:endParaRPr lang="en-US" altLang="zh-CN" sz="3200" dirty="0"/>
          </a:p>
          <a:p>
            <a:pPr marL="0" indent="0" eaLnBrk="1" hangingPunct="1">
              <a:buNone/>
            </a:pPr>
            <a:endParaRPr lang="en-US" altLang="zh-CN" sz="3200" dirty="0"/>
          </a:p>
          <a:p>
            <a:pPr marL="0" indent="0" eaLnBrk="1" hangingPunct="1">
              <a:buNone/>
            </a:pPr>
            <a:r>
              <a:rPr lang="en-US" altLang="zh-CN" sz="3200" dirty="0"/>
              <a:t>4. </a:t>
            </a:r>
            <a:r>
              <a:rPr lang="en-US" altLang="zh-CN" sz="3200" dirty="0">
                <a:solidFill>
                  <a:srgbClr val="FF0000"/>
                </a:solidFill>
              </a:rPr>
              <a:t>Simulate</a:t>
            </a:r>
            <a:r>
              <a:rPr lang="en-US" altLang="zh-CN" sz="3200" dirty="0"/>
              <a:t> and check the results.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5400" b="1" dirty="0">
                <a:solidFill>
                  <a:srgbClr val="00B0F0"/>
                </a:solidFill>
              </a:rPr>
              <a:t>Note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sp>
        <p:nvSpPr>
          <p:cNvPr id="5123" name="内容占位符 2"/>
          <p:cNvSpPr>
            <a:spLocks noGrp="1"/>
          </p:cNvSpPr>
          <p:nvPr>
            <p:ph idx="1" hasCustomPrompt="1"/>
          </p:nvPr>
        </p:nvSpPr>
        <p:spPr>
          <a:xfrm>
            <a:off x="1304925" y="2022475"/>
            <a:ext cx="9734550" cy="2657475"/>
          </a:xfrm>
          <a:ln/>
        </p:spPr>
        <p:txBody>
          <a:bodyPr vert="horz" wrap="square" lIns="91440" tIns="45720" rIns="91440" bIns="45720" anchor="t" anchorCtr="0"/>
          <a:p>
            <a:pPr marL="180975" lvl="1" indent="0" eaLnBrk="1" hangingPunct="1">
              <a:lnSpc>
                <a:spcPct val="150000"/>
              </a:lnSpc>
              <a:spcBef>
                <a:spcPct val="25000"/>
              </a:spcBef>
              <a:buNone/>
            </a:pPr>
            <a:r>
              <a:rPr lang="en-US" altLang="zh-CN" sz="3200" dirty="0">
                <a:latin typeface="Arial Unicode MS" pitchFamily="34" charset="-122"/>
                <a:ea typeface="Arial Unicode MS" pitchFamily="34" charset="-122"/>
              </a:rPr>
              <a:t>Please save the </a:t>
            </a:r>
            <a:r>
              <a:rPr lang="en-US" altLang="zh-CN" sz="32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</a:rPr>
              <a:t>screenshots</a:t>
            </a:r>
            <a:r>
              <a:rPr lang="en-US" altLang="zh-CN" sz="3200" dirty="0">
                <a:latin typeface="Arial Unicode MS" pitchFamily="34" charset="-122"/>
                <a:ea typeface="Arial Unicode MS" pitchFamily="34" charset="-122"/>
              </a:rPr>
              <a:t> of the code, simulation result, etc.</a:t>
            </a:r>
            <a:endParaRPr lang="en-US" altLang="zh-CN" sz="3200" dirty="0">
              <a:latin typeface="Arial Unicode MS" pitchFamily="34" charset="-122"/>
              <a:ea typeface="Arial Unicode MS" pitchFamily="34" charset="-122"/>
            </a:endParaRPr>
          </a:p>
          <a:p>
            <a:pPr marL="180975" lvl="1" indent="0" eaLnBrk="1" hangingPunct="1">
              <a:lnSpc>
                <a:spcPct val="150000"/>
              </a:lnSpc>
              <a:spcBef>
                <a:spcPct val="25000"/>
              </a:spcBef>
              <a:buNone/>
            </a:pPr>
            <a:r>
              <a:rPr lang="en-US" altLang="zh-CN" sz="3200" dirty="0">
                <a:latin typeface="Arial Unicode MS" pitchFamily="34" charset="-122"/>
                <a:ea typeface="Arial Unicode MS" pitchFamily="34" charset="-122"/>
              </a:rPr>
              <a:t>You will need them to write the Lab_report.</a:t>
            </a:r>
            <a:endParaRPr lang="en-US" altLang="zh-CN" sz="3200" dirty="0">
              <a:latin typeface="Arial Unicode MS" pitchFamily="34" charset="-122"/>
              <a:ea typeface="Arial Unicode MS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标题 1"/>
          <p:cNvSpPr>
            <a:spLocks noGrp="1"/>
          </p:cNvSpPr>
          <p:nvPr>
            <p:ph type="title"/>
          </p:nvPr>
        </p:nvSpPr>
        <p:spPr>
          <a:xfrm>
            <a:off x="822325" y="0"/>
            <a:ext cx="10515600" cy="132556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5400" b="1" dirty="0">
                <a:solidFill>
                  <a:srgbClr val="00B0F0"/>
                </a:solidFill>
              </a:rPr>
              <a:t>Content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sp>
        <p:nvSpPr>
          <p:cNvPr id="7171" name="内容占位符 2"/>
          <p:cNvSpPr>
            <a:spLocks noGrp="1"/>
          </p:cNvSpPr>
          <p:nvPr>
            <p:ph idx="1" hasCustomPrompt="1"/>
          </p:nvPr>
        </p:nvSpPr>
        <p:spPr>
          <a:xfrm>
            <a:off x="2166938" y="1325563"/>
            <a:ext cx="10025063" cy="47117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0" indent="-742950" algn="l" defTabSz="685800" rtl="0" eaLnBrk="1" fontAlgn="base" latinLnBrk="0" hangingPunct="1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EDA tools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0" indent="-742950" algn="l" defTabSz="685800" rtl="0" eaLnBrk="1" fontAlgn="base" latinLnBrk="0" hangingPunct="1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4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Datapath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Design</a:t>
            </a: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0" indent="-742950" algn="l" defTabSz="685800" rtl="0" eaLnBrk="1" fontAlgn="base" latinLnBrk="0" hangingPunct="1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Controller Design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67130" marR="0" lvl="1" indent="-624205" algn="l" defTabSz="6858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Understand the STG for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control_unit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;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1167130" marR="0" lvl="1" indent="-624205" algn="l" defTabSz="6858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Design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state_transition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component;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1167130" marR="0" lvl="1" indent="-624205" algn="l" defTabSz="6858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Coding, Synthesis and simulate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state_transition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component;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742950" marR="0" lvl="0" indent="-742950" algn="l" defTabSz="685800" rtl="0" eaLnBrk="1" fontAlgn="base" latinLnBrk="0" hangingPunct="1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CPU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Integration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0" indent="-742950" algn="l" defTabSz="685800" rtl="0" eaLnBrk="1" fontAlgn="base" latinLnBrk="0" hangingPunct="1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CPU 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Verification and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Improvement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0" indent="-742950" algn="l" defTabSz="685800" rtl="0" eaLnBrk="1" fontAlgn="base" latinLnBrk="0" hangingPunct="1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l" defTabSz="685800" rtl="0" eaLnBrk="1" fontAlgn="base" latinLnBrk="0" hangingPunct="1">
              <a:lnSpc>
                <a:spcPct val="15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171450" marR="0" lvl="0" indent="-171450" algn="l" defTabSz="685800" rtl="0" eaLnBrk="1" fontAlgn="base" latinLnBrk="0" hangingPunct="1">
              <a:lnSpc>
                <a:spcPct val="15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8"/>
          <p:cNvSpPr/>
          <p:nvPr/>
        </p:nvSpPr>
        <p:spPr>
          <a:xfrm rot="-5400000">
            <a:off x="9339263" y="1398588"/>
            <a:ext cx="1841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Calibri" panose="020F0502020204030204" pitchFamily="34" charset="0"/>
            </a:endParaRPr>
          </a:p>
        </p:txBody>
      </p:sp>
      <p:sp>
        <p:nvSpPr>
          <p:cNvPr id="7171" name="标题 1"/>
          <p:cNvSpPr>
            <a:spLocks noGrp="1"/>
          </p:cNvSpPr>
          <p:nvPr>
            <p:ph type="title"/>
          </p:nvPr>
        </p:nvSpPr>
        <p:spPr>
          <a:xfrm>
            <a:off x="690563" y="-11112"/>
            <a:ext cx="10515600" cy="1325562"/>
          </a:xfrm>
          <a:ln/>
        </p:spPr>
        <p:txBody>
          <a:bodyPr vert="horz" wrap="square" lIns="91440" tIns="45720" rIns="91440" bIns="45720" anchor="ctr" anchorCtr="0"/>
          <a:p>
            <a:r>
              <a:rPr lang="en-GB" altLang="en-US" sz="5400" b="1" dirty="0">
                <a:solidFill>
                  <a:srgbClr val="00B0F0"/>
                </a:solidFill>
              </a:rPr>
              <a:t>CPU Organization</a:t>
            </a:r>
            <a:endParaRPr lang="zh-CN" altLang="en-US" sz="5400" dirty="0"/>
          </a:p>
        </p:txBody>
      </p:sp>
      <p:grpSp>
        <p:nvGrpSpPr>
          <p:cNvPr id="7172" name="组合 4"/>
          <p:cNvGrpSpPr/>
          <p:nvPr/>
        </p:nvGrpSpPr>
        <p:grpSpPr>
          <a:xfrm>
            <a:off x="2244725" y="1271588"/>
            <a:ext cx="8281988" cy="5221287"/>
            <a:chOff x="301625" y="993775"/>
            <a:chExt cx="8281988" cy="5221288"/>
          </a:xfrm>
        </p:grpSpPr>
        <p:sp>
          <p:nvSpPr>
            <p:cNvPr id="7173" name="Oval 37"/>
            <p:cNvSpPr/>
            <p:nvPr/>
          </p:nvSpPr>
          <p:spPr>
            <a:xfrm>
              <a:off x="301625" y="1943100"/>
              <a:ext cx="2200275" cy="219075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4" name="Text Box 41"/>
            <p:cNvSpPr txBox="1"/>
            <p:nvPr/>
          </p:nvSpPr>
          <p:spPr>
            <a:xfrm>
              <a:off x="1068388" y="1898650"/>
              <a:ext cx="668337" cy="4032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>
              <a:spAutoFit/>
            </a:bodyPr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GB" altLang="en-US" sz="1800" b="1" dirty="0">
                  <a:latin typeface="Arial" panose="020B0604020202020204" pitchFamily="34" charset="0"/>
                  <a:ea typeface="宋体" panose="02010600030101010101" pitchFamily="2" charset="-122"/>
                </a:rPr>
                <a:t>CPU</a:t>
              </a:r>
              <a:endParaRPr lang="en-GB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5" name="Line 45"/>
            <p:cNvSpPr/>
            <p:nvPr/>
          </p:nvSpPr>
          <p:spPr>
            <a:xfrm flipV="1">
              <a:off x="1150938" y="998538"/>
              <a:ext cx="6076950" cy="13509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6" name="Line 46"/>
            <p:cNvSpPr/>
            <p:nvPr/>
          </p:nvSpPr>
          <p:spPr>
            <a:xfrm>
              <a:off x="1466850" y="3159125"/>
              <a:ext cx="5895975" cy="444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7" name="Oval 48"/>
            <p:cNvSpPr/>
            <p:nvPr/>
          </p:nvSpPr>
          <p:spPr>
            <a:xfrm>
              <a:off x="927100" y="3159125"/>
              <a:ext cx="944563" cy="900113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8" name="Text Box 49"/>
            <p:cNvSpPr txBox="1"/>
            <p:nvPr/>
          </p:nvSpPr>
          <p:spPr>
            <a:xfrm>
              <a:off x="887413" y="3338513"/>
              <a:ext cx="1028700" cy="58737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Control</a:t>
              </a: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Unit</a:t>
              </a:r>
              <a:endPara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9" name="Oval 52"/>
            <p:cNvSpPr/>
            <p:nvPr/>
          </p:nvSpPr>
          <p:spPr>
            <a:xfrm>
              <a:off x="623888" y="2349500"/>
              <a:ext cx="977900" cy="944563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0" name="Text Box 54"/>
            <p:cNvSpPr txBox="1"/>
            <p:nvPr/>
          </p:nvSpPr>
          <p:spPr>
            <a:xfrm>
              <a:off x="611188" y="2652713"/>
              <a:ext cx="1081087" cy="33972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Datapath</a:t>
              </a: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1" name="Oval 35" descr="50%"/>
            <p:cNvSpPr/>
            <p:nvPr/>
          </p:nvSpPr>
          <p:spPr>
            <a:xfrm>
              <a:off x="3806825" y="3294063"/>
              <a:ext cx="3151188" cy="2921000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2" name="Oval 40"/>
            <p:cNvSpPr/>
            <p:nvPr/>
          </p:nvSpPr>
          <p:spPr>
            <a:xfrm>
              <a:off x="4414838" y="3808413"/>
              <a:ext cx="1901825" cy="1330325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3" name="Text Box 44"/>
            <p:cNvSpPr txBox="1"/>
            <p:nvPr/>
          </p:nvSpPr>
          <p:spPr>
            <a:xfrm>
              <a:off x="4605338" y="4211638"/>
              <a:ext cx="1665287" cy="6485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>
              <a:spAutoFit/>
            </a:bodyPr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GB" altLang="en-US" sz="1800" b="1" dirty="0">
                  <a:latin typeface="Arial" panose="020B0604020202020204" pitchFamily="34" charset="0"/>
                  <a:ea typeface="宋体" panose="02010600030101010101" pitchFamily="2" charset="-122"/>
                </a:rPr>
                <a:t>state_</a:t>
              </a:r>
              <a:endParaRPr lang="en-GB" altLang="en-US" sz="18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GB" altLang="en-US" sz="1800" b="1" dirty="0">
                  <a:latin typeface="Arial" panose="020B0604020202020204" pitchFamily="34" charset="0"/>
                  <a:ea typeface="宋体" panose="02010600030101010101" pitchFamily="2" charset="-122"/>
                </a:rPr>
                <a:t>transition</a:t>
              </a:r>
              <a:endParaRPr lang="en-GB" altLang="en-US" sz="18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4" name="Text Box 55"/>
            <p:cNvSpPr txBox="1"/>
            <p:nvPr/>
          </p:nvSpPr>
          <p:spPr>
            <a:xfrm>
              <a:off x="4702175" y="3429000"/>
              <a:ext cx="1514475" cy="3714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50000"/>
                </a:spcBef>
                <a:buNone/>
              </a:pPr>
              <a:r>
                <a:rPr lang="en-US" altLang="zh-CN" sz="1800" b="1" dirty="0">
                  <a:latin typeface="Arial" panose="020B0604020202020204" pitchFamily="34" charset="0"/>
                  <a:ea typeface="宋体" panose="02010600030101010101" pitchFamily="2" charset="-122"/>
                </a:rPr>
                <a:t>Control Unit</a:t>
              </a:r>
              <a:endPara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5" name="Oval 20" descr="50%"/>
            <p:cNvSpPr/>
            <p:nvPr/>
          </p:nvSpPr>
          <p:spPr>
            <a:xfrm>
              <a:off x="6303963" y="993775"/>
              <a:ext cx="2279650" cy="220503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en-GB" altLang="en-US" sz="16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6" name="Oval 21"/>
            <p:cNvSpPr/>
            <p:nvPr/>
          </p:nvSpPr>
          <p:spPr>
            <a:xfrm>
              <a:off x="6385346" y="1728788"/>
              <a:ext cx="1053306" cy="99060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7" name="Oval 23"/>
            <p:cNvSpPr/>
            <p:nvPr/>
          </p:nvSpPr>
          <p:spPr>
            <a:xfrm>
              <a:off x="7410450" y="1382712"/>
              <a:ext cx="987425" cy="103663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8" name="Text Box 27"/>
            <p:cNvSpPr txBox="1"/>
            <p:nvPr/>
          </p:nvSpPr>
          <p:spPr>
            <a:xfrm>
              <a:off x="7292975" y="1665010"/>
              <a:ext cx="1169988" cy="55617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>
              <a:spAutoFit/>
            </a:bodyPr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GB" altLang="en-US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ALU </a:t>
              </a:r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&amp;</a:t>
              </a: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1400" b="1" dirty="0">
                  <a:latin typeface="Arial" panose="020B0604020202020204" pitchFamily="34" charset="0"/>
                  <a:ea typeface="宋体" panose="02010600030101010101" pitchFamily="2" charset="-122"/>
                </a:rPr>
                <a:t> ALU MUX</a:t>
              </a:r>
              <a:endParaRPr lang="en-GB" altLang="en-US" sz="14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9" name="Text Box 34"/>
            <p:cNvSpPr txBox="1"/>
            <p:nvPr/>
          </p:nvSpPr>
          <p:spPr>
            <a:xfrm>
              <a:off x="6381961" y="2079625"/>
              <a:ext cx="1117600" cy="339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>
              <a:spAutoFit/>
            </a:bodyPr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GB" altLang="en-US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  <a:endParaRPr lang="en-GB" altLang="en-US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90" name="Text Box 46"/>
            <p:cNvSpPr txBox="1"/>
            <p:nvPr/>
          </p:nvSpPr>
          <p:spPr>
            <a:xfrm>
              <a:off x="6888163" y="1047750"/>
              <a:ext cx="1169987" cy="3714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Arial" panose="020B0604020202020204" pitchFamily="34" charset="0"/>
                  <a:ea typeface="宋体" panose="02010600030101010101" pitchFamily="2" charset="-122"/>
                </a:rPr>
                <a:t>Datapath</a:t>
              </a:r>
              <a:endPara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91" name="Line 45"/>
            <p:cNvSpPr/>
            <p:nvPr/>
          </p:nvSpPr>
          <p:spPr>
            <a:xfrm>
              <a:off x="1466850" y="3159125"/>
              <a:ext cx="4095750" cy="1349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2" name="Line 45"/>
            <p:cNvSpPr/>
            <p:nvPr/>
          </p:nvSpPr>
          <p:spPr>
            <a:xfrm>
              <a:off x="1331913" y="4059238"/>
              <a:ext cx="3105150" cy="18907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3" name="Oval 21"/>
            <p:cNvSpPr/>
            <p:nvPr/>
          </p:nvSpPr>
          <p:spPr>
            <a:xfrm>
              <a:off x="7292975" y="2427318"/>
              <a:ext cx="765175" cy="631825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94" name="Text Box 27"/>
            <p:cNvSpPr txBox="1"/>
            <p:nvPr/>
          </p:nvSpPr>
          <p:spPr>
            <a:xfrm>
              <a:off x="7433633" y="2603651"/>
              <a:ext cx="466725" cy="339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>
              <a:spAutoFit/>
            </a:bodyPr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GB" altLang="en-US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PC</a:t>
              </a:r>
              <a:endParaRPr lang="en-GB" altLang="en-US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95" name="Oval 40"/>
            <p:cNvSpPr/>
            <p:nvPr/>
          </p:nvSpPr>
          <p:spPr>
            <a:xfrm>
              <a:off x="4554538" y="5081588"/>
              <a:ext cx="1574800" cy="1025525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96" name="矩形 1"/>
            <p:cNvSpPr/>
            <p:nvPr/>
          </p:nvSpPr>
          <p:spPr>
            <a:xfrm>
              <a:off x="5051425" y="5438775"/>
              <a:ext cx="415925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GB" altLang="en-US" sz="1800" b="1" dirty="0">
                  <a:latin typeface="Arial" panose="020B0604020202020204" pitchFamily="34" charset="0"/>
                  <a:ea typeface="宋体" panose="02010600030101010101" pitchFamily="2" charset="-122"/>
                </a:rPr>
                <a:t>IR</a:t>
              </a: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xfrm>
            <a:off x="331788" y="0"/>
            <a:ext cx="4291012" cy="1325563"/>
          </a:xfrm>
          <a:ln/>
        </p:spPr>
        <p:txBody>
          <a:bodyPr vert="horz" wrap="square" lIns="91440" tIns="45720" rIns="91440" bIns="45720" anchor="ctr" anchorCtr="0"/>
          <a:p>
            <a:r>
              <a:rPr lang="en-US" altLang="zh-CN" sz="5400" b="1" dirty="0">
                <a:solidFill>
                  <a:srgbClr val="00B0F0"/>
                </a:solidFill>
              </a:rPr>
              <a:t>data_path.v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216650" y="2600325"/>
            <a:ext cx="5399088" cy="26336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411913" y="3259138"/>
            <a:ext cx="1287463" cy="1730375"/>
          </a:xfrm>
          <a:prstGeom prst="rect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reg_group1 </a:t>
            </a:r>
            <a:endParaRPr kumimoji="0" lang="en-US" altLang="zh-CN" sz="18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197" name="文本框 4"/>
          <p:cNvSpPr txBox="1"/>
          <p:nvPr/>
        </p:nvSpPr>
        <p:spPr>
          <a:xfrm>
            <a:off x="7839075" y="2743200"/>
            <a:ext cx="244157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module data_path</a:t>
            </a:r>
            <a:endParaRPr lang="en-US" altLang="zh-CN" sz="18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右箭头 5"/>
          <p:cNvSpPr/>
          <p:nvPr/>
        </p:nvSpPr>
        <p:spPr>
          <a:xfrm>
            <a:off x="5068888" y="3411538"/>
            <a:ext cx="665163" cy="3476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199" name="文本框 8"/>
          <p:cNvSpPr txBox="1"/>
          <p:nvPr/>
        </p:nvSpPr>
        <p:spPr>
          <a:xfrm>
            <a:off x="4013200" y="1925638"/>
            <a:ext cx="1755775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register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.v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00" name="文本框 9"/>
          <p:cNvSpPr txBox="1"/>
          <p:nvPr/>
        </p:nvSpPr>
        <p:spPr>
          <a:xfrm>
            <a:off x="3946525" y="2349500"/>
            <a:ext cx="2149475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  <a:ea typeface="宋体" panose="02010600030101010101" pitchFamily="2" charset="-122"/>
              </a:rPr>
              <a:t>module 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register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01" name="文本框 10"/>
          <p:cNvSpPr txBox="1"/>
          <p:nvPr/>
        </p:nvSpPr>
        <p:spPr>
          <a:xfrm>
            <a:off x="7859713" y="2035175"/>
            <a:ext cx="2149475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data_path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.v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791450" y="3259138"/>
            <a:ext cx="1138238" cy="1730375"/>
          </a:xfrm>
          <a:prstGeom prst="rect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alu_mux1 </a:t>
            </a:r>
            <a:endParaRPr kumimoji="0" lang="en-US" altLang="zh-CN" sz="18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059863" y="3263900"/>
            <a:ext cx="1128713" cy="1730375"/>
          </a:xfrm>
          <a:prstGeom prst="rect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alu1</a:t>
            </a:r>
            <a:endParaRPr kumimoji="0" lang="en-US" altLang="zh-CN" sz="18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318750" y="3271838"/>
            <a:ext cx="1168400" cy="1728788"/>
          </a:xfrm>
          <a:prstGeom prst="rect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pc1</a:t>
            </a:r>
            <a:endParaRPr kumimoji="0" lang="en-US" altLang="zh-CN" sz="18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205" name="文本框 8"/>
          <p:cNvSpPr txBox="1"/>
          <p:nvPr/>
        </p:nvSpPr>
        <p:spPr>
          <a:xfrm>
            <a:off x="1241425" y="1925638"/>
            <a:ext cx="23622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reg_group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.v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06" name="文本框 9"/>
          <p:cNvSpPr txBox="1"/>
          <p:nvPr/>
        </p:nvSpPr>
        <p:spPr>
          <a:xfrm>
            <a:off x="1730375" y="2349500"/>
            <a:ext cx="2325688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  <a:ea typeface="宋体" panose="02010600030101010101" pitchFamily="2" charset="-122"/>
              </a:rPr>
              <a:t>module 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reg_group </a:t>
            </a:r>
            <a:endParaRPr lang="en-US" altLang="zh-CN" sz="18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07" name="文本框 10"/>
          <p:cNvSpPr txBox="1"/>
          <p:nvPr/>
        </p:nvSpPr>
        <p:spPr>
          <a:xfrm>
            <a:off x="1252538" y="2644775"/>
            <a:ext cx="23622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alu_mux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.v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08" name="文本框 11"/>
          <p:cNvSpPr txBox="1"/>
          <p:nvPr/>
        </p:nvSpPr>
        <p:spPr>
          <a:xfrm>
            <a:off x="1741488" y="3068638"/>
            <a:ext cx="2325687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  <a:ea typeface="宋体" panose="02010600030101010101" pitchFamily="2" charset="-122"/>
              </a:rPr>
              <a:t>module 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alu_mux </a:t>
            </a:r>
            <a:endParaRPr lang="en-US" altLang="zh-CN" sz="18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09" name="文本框 18"/>
          <p:cNvSpPr txBox="1"/>
          <p:nvPr/>
        </p:nvSpPr>
        <p:spPr>
          <a:xfrm>
            <a:off x="1241425" y="3463925"/>
            <a:ext cx="23622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alu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.v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10" name="文本框 19"/>
          <p:cNvSpPr txBox="1"/>
          <p:nvPr/>
        </p:nvSpPr>
        <p:spPr>
          <a:xfrm>
            <a:off x="1730375" y="3887788"/>
            <a:ext cx="2325688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  <a:ea typeface="宋体" panose="02010600030101010101" pitchFamily="2" charset="-122"/>
              </a:rPr>
              <a:t>module 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</a:t>
            </a:r>
            <a:endParaRPr lang="en-US" altLang="zh-CN" sz="18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11" name="文本框 20"/>
          <p:cNvSpPr txBox="1"/>
          <p:nvPr/>
        </p:nvSpPr>
        <p:spPr>
          <a:xfrm>
            <a:off x="1241425" y="4221163"/>
            <a:ext cx="2362200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.v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12" name="文本框 21"/>
          <p:cNvSpPr txBox="1"/>
          <p:nvPr/>
        </p:nvSpPr>
        <p:spPr>
          <a:xfrm>
            <a:off x="1730375" y="4645025"/>
            <a:ext cx="2325688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  <a:ea typeface="宋体" panose="02010600030101010101" pitchFamily="2" charset="-122"/>
              </a:rPr>
              <a:t>module 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endParaRPr lang="en-US" altLang="zh-CN" sz="18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文本框 8"/>
          <p:cNvSpPr txBox="1">
            <a:spLocks noChangeArrowheads="1"/>
          </p:cNvSpPr>
          <p:nvPr/>
        </p:nvSpPr>
        <p:spPr bwMode="auto">
          <a:xfrm>
            <a:off x="6543675" y="4481513"/>
            <a:ext cx="1023938" cy="307975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  <a:miter lim="800000"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register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.v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8675688" y="788988"/>
            <a:ext cx="2989263" cy="5597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alu_mux 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alu_mux1 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endParaRPr kumimoji="0" lang="zh-CN" altLang="en-US" sz="1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. rst	          (rst)</a:t>
            </a:r>
            <a:endParaRPr kumimoji="0" lang="en-US" altLang="zh-CN" sz="1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. en_in        (en_in )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endParaRPr kumimoji="0" lang="zh-CN" altLang="en-US" sz="1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rd_q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(rd_q) ,     </a:t>
            </a:r>
            <a:endParaRPr kumimoji="0" lang="en-US" altLang="zh-CN" sz="1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. rs_q           (rs_q),</a:t>
            </a:r>
            <a:endParaRPr kumimoji="0" lang="en-US" altLang="zh-CN" sz="1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. offset        (offset),</a:t>
            </a:r>
            <a:endParaRPr kumimoji="0" lang="en-US" altLang="zh-CN" sz="1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.alu_in_sel (alu_in_sel),</a:t>
            </a:r>
            <a:endParaRPr kumimoji="0" lang="en-US" altLang="zh-CN" sz="1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.alu_a          (alu_a ),</a:t>
            </a:r>
            <a:endParaRPr kumimoji="0" lang="en-US" altLang="zh-CN" sz="1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.alu_b          (alu_b)</a:t>
            </a:r>
            <a:endParaRPr kumimoji="0" lang="en-US" altLang="zh-CN" sz="1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zh-CN" altLang="en-US" sz="1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alu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alu1 (			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.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alu_a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(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alu_a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),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.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alu_b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(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alu_b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),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……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	</a:t>
            </a:r>
            <a:endParaRPr kumimoji="0" lang="en-US" altLang="zh-CN" sz="1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51488" y="781050"/>
            <a:ext cx="2301875" cy="29638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220" name="文本框 1"/>
          <p:cNvSpPr txBox="1"/>
          <p:nvPr/>
        </p:nvSpPr>
        <p:spPr>
          <a:xfrm>
            <a:off x="5551488" y="804863"/>
            <a:ext cx="2339975" cy="2862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  <a:ea typeface="宋体" panose="02010600030101010101" pitchFamily="2" charset="-122"/>
              </a:rPr>
              <a:t>module alu_mux (</a:t>
            </a:r>
            <a:endParaRPr lang="en-US" altLang="zh-CN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  <a:ea typeface="宋体" panose="02010600030101010101" pitchFamily="2" charset="-122"/>
              </a:rPr>
              <a:t>    rst, </a:t>
            </a:r>
            <a:endParaRPr lang="en-US" altLang="zh-CN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  <a:ea typeface="宋体" panose="02010600030101010101" pitchFamily="2" charset="-122"/>
              </a:rPr>
              <a:t>    en_in,</a:t>
            </a:r>
            <a:endParaRPr lang="en-US" altLang="zh-CN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  <a:ea typeface="宋体" panose="02010600030101010101" pitchFamily="2" charset="-122"/>
              </a:rPr>
              <a:t>    offset,</a:t>
            </a:r>
            <a:endParaRPr lang="en-US" altLang="zh-CN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  <a:ea typeface="宋体" panose="02010600030101010101" pitchFamily="2" charset="-122"/>
              </a:rPr>
              <a:t>    rd_q,</a:t>
            </a:r>
            <a:endParaRPr lang="en-US" altLang="zh-CN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  <a:ea typeface="宋体" panose="02010600030101010101" pitchFamily="2" charset="-122"/>
              </a:rPr>
              <a:t>    rs_q,</a:t>
            </a:r>
            <a:endParaRPr lang="en-US" altLang="zh-CN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  <a:ea typeface="宋体" panose="02010600030101010101" pitchFamily="2" charset="-122"/>
              </a:rPr>
              <a:t>    alu_in_sel,</a:t>
            </a:r>
            <a:endParaRPr lang="en-US" altLang="zh-CN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  <a:ea typeface="宋体" panose="02010600030101010101" pitchFamily="2" charset="-122"/>
              </a:rPr>
              <a:t>    alu_a,</a:t>
            </a:r>
            <a:endParaRPr lang="en-US" altLang="zh-CN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  <a:ea typeface="宋体" panose="02010600030101010101" pitchFamily="2" charset="-122"/>
              </a:rPr>
              <a:t>    alu_b</a:t>
            </a:r>
            <a:endParaRPr lang="en-US" altLang="zh-CN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  <a:ea typeface="宋体" panose="02010600030101010101" pitchFamily="2" charset="-122"/>
              </a:rPr>
              <a:t>);</a:t>
            </a:r>
            <a:endParaRPr lang="en-US" altLang="zh-CN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21" name="文本框 5"/>
          <p:cNvSpPr txBox="1"/>
          <p:nvPr/>
        </p:nvSpPr>
        <p:spPr>
          <a:xfrm>
            <a:off x="5859463" y="420688"/>
            <a:ext cx="1376362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alu_mux .v</a:t>
            </a:r>
            <a:endParaRPr lang="en-US" altLang="zh-CN" sz="1800" b="1" dirty="0">
              <a:solidFill>
                <a:srgbClr val="0070C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709025" y="1136650"/>
            <a:ext cx="925513" cy="26987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683750" y="1136650"/>
            <a:ext cx="1014413" cy="2698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078913" y="1611313"/>
            <a:ext cx="1008063" cy="22733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169525" y="1606550"/>
            <a:ext cx="1165225" cy="22733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226" name="文本框 19"/>
          <p:cNvSpPr txBox="1"/>
          <p:nvPr/>
        </p:nvSpPr>
        <p:spPr>
          <a:xfrm>
            <a:off x="8756650" y="841375"/>
            <a:ext cx="865188" cy="338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600" b="1" i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设计名</a:t>
            </a:r>
            <a:endParaRPr lang="zh-CN" altLang="en-US" sz="1600" b="1" i="1" dirty="0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9227" name="文本框 20"/>
          <p:cNvSpPr txBox="1">
            <a:spLocks noChangeArrowheads="1"/>
          </p:cNvSpPr>
          <p:nvPr/>
        </p:nvSpPr>
        <p:spPr bwMode="auto">
          <a:xfrm>
            <a:off x="9847263" y="760413"/>
            <a:ext cx="1223963" cy="3381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1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例化名</a:t>
            </a:r>
            <a:endParaRPr kumimoji="0" lang="zh-CN" altLang="en-US" sz="1600" b="1" i="1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9228" name="文本框 21"/>
          <p:cNvSpPr txBox="1"/>
          <p:nvPr/>
        </p:nvSpPr>
        <p:spPr>
          <a:xfrm>
            <a:off x="8767763" y="2003425"/>
            <a:ext cx="442912" cy="1570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模块的引脚名</a:t>
            </a:r>
            <a:endParaRPr lang="zh-CN" altLang="en-US" sz="1600" b="1" dirty="0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9229" name="文本框 22"/>
          <p:cNvSpPr txBox="1">
            <a:spLocks noChangeArrowheads="1"/>
          </p:cNvSpPr>
          <p:nvPr/>
        </p:nvSpPr>
        <p:spPr bwMode="auto">
          <a:xfrm>
            <a:off x="11269663" y="1443038"/>
            <a:ext cx="388938" cy="28003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与模块引脚相连的信号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名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  <p:cxnSp>
        <p:nvCxnSpPr>
          <p:cNvPr id="44" name="直接箭头连接符 43"/>
          <p:cNvCxnSpPr>
            <a:endCxn id="16" idx="1"/>
          </p:cNvCxnSpPr>
          <p:nvPr/>
        </p:nvCxnSpPr>
        <p:spPr>
          <a:xfrm>
            <a:off x="7637463" y="1098550"/>
            <a:ext cx="1071563" cy="173038"/>
          </a:xfrm>
          <a:prstGeom prst="straightConnector1">
            <a:avLst/>
          </a:prstGeom>
          <a:ln w="571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7283450" y="1781175"/>
            <a:ext cx="1795463" cy="252413"/>
          </a:xfrm>
          <a:prstGeom prst="straightConnector1">
            <a:avLst/>
          </a:prstGeom>
          <a:ln w="571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5"/>
          <p:cNvSpPr txBox="1">
            <a:spLocks noChangeArrowheads="1"/>
          </p:cNvSpPr>
          <p:nvPr/>
        </p:nvSpPr>
        <p:spPr bwMode="auto">
          <a:xfrm>
            <a:off x="9294813" y="390525"/>
            <a:ext cx="1403350" cy="3698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datapath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.v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233" name="组合 123"/>
          <p:cNvGrpSpPr/>
          <p:nvPr/>
        </p:nvGrpSpPr>
        <p:grpSpPr>
          <a:xfrm>
            <a:off x="728663" y="479425"/>
            <a:ext cx="4652962" cy="5135563"/>
            <a:chOff x="6100762" y="461963"/>
            <a:chExt cx="5564188" cy="5678488"/>
          </a:xfrm>
        </p:grpSpPr>
        <p:sp>
          <p:nvSpPr>
            <p:cNvPr id="9234" name="Rectangle 8"/>
            <p:cNvSpPr/>
            <p:nvPr/>
          </p:nvSpPr>
          <p:spPr>
            <a:xfrm rot="-5400000">
              <a:off x="9339263" y="1398588"/>
              <a:ext cx="184150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eaLnBrk="1" hangingPunct="1"/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9235" name="Freeform 6"/>
            <p:cNvSpPr/>
            <p:nvPr/>
          </p:nvSpPr>
          <p:spPr>
            <a:xfrm>
              <a:off x="7194550" y="4459288"/>
              <a:ext cx="3101975" cy="14747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</a:cxnLst>
              <a:pathLst>
                <a:path w="1954" h="929">
                  <a:moveTo>
                    <a:pt x="0" y="0"/>
                  </a:moveTo>
                  <a:lnTo>
                    <a:pt x="744" y="0"/>
                  </a:lnTo>
                  <a:lnTo>
                    <a:pt x="981" y="223"/>
                  </a:lnTo>
                  <a:lnTo>
                    <a:pt x="1209" y="0"/>
                  </a:lnTo>
                  <a:lnTo>
                    <a:pt x="1954" y="0"/>
                  </a:lnTo>
                  <a:lnTo>
                    <a:pt x="1674" y="929"/>
                  </a:lnTo>
                  <a:lnTo>
                    <a:pt x="279" y="92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5875" cap="sq" cmpd="sng">
              <a:solidFill>
                <a:srgbClr val="000000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36" name="Rectangle 8"/>
            <p:cNvSpPr/>
            <p:nvPr/>
          </p:nvSpPr>
          <p:spPr>
            <a:xfrm>
              <a:off x="8564562" y="5062538"/>
              <a:ext cx="384721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>
                <a:buNone/>
              </a:pPr>
              <a:r>
                <a:rPr lang="zh-CN" altLang="zh-CN" sz="2000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ALU</a:t>
              </a:r>
              <a:endParaRPr lang="zh-CN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237" name="Rectangle 9"/>
            <p:cNvSpPr/>
            <p:nvPr/>
          </p:nvSpPr>
          <p:spPr>
            <a:xfrm>
              <a:off x="7548562" y="1066801"/>
              <a:ext cx="2363788" cy="649288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9238" name="Rectangle 10"/>
            <p:cNvSpPr/>
            <p:nvPr/>
          </p:nvSpPr>
          <p:spPr>
            <a:xfrm>
              <a:off x="7548562" y="1066801"/>
              <a:ext cx="2363788" cy="649288"/>
            </a:xfrm>
            <a:prstGeom prst="rect">
              <a:avLst/>
            </a:prstGeom>
            <a:noFill/>
            <a:ln w="1587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grpSp>
          <p:nvGrpSpPr>
            <p:cNvPr id="9239" name="组合 129"/>
            <p:cNvGrpSpPr/>
            <p:nvPr/>
          </p:nvGrpSpPr>
          <p:grpSpPr>
            <a:xfrm>
              <a:off x="8269287" y="1290638"/>
              <a:ext cx="973336" cy="246221"/>
              <a:chOff x="8269287" y="1290638"/>
              <a:chExt cx="973336" cy="246221"/>
            </a:xfrm>
          </p:grpSpPr>
          <p:sp>
            <p:nvSpPr>
              <p:cNvPr id="9332" name="Rectangle 11"/>
              <p:cNvSpPr/>
              <p:nvPr/>
            </p:nvSpPr>
            <p:spPr>
              <a:xfrm>
                <a:off x="8269287" y="1290638"/>
                <a:ext cx="307777" cy="246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>
                  <a:buNone/>
                </a:pPr>
                <a:r>
                  <a:rPr lang="zh-CN" altLang="zh-CN" sz="1600" dirty="0">
                    <a:solidFill>
                      <a:srgbClr val="0070C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reg</a:t>
                </a:r>
                <a:endParaRPr lang="zh-CN" altLang="zh-CN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333" name="Rectangle 12"/>
              <p:cNvSpPr/>
              <p:nvPr/>
            </p:nvSpPr>
            <p:spPr>
              <a:xfrm>
                <a:off x="8582025" y="1290638"/>
                <a:ext cx="102592" cy="246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>
                  <a:buNone/>
                </a:pPr>
                <a:r>
                  <a:rPr lang="zh-CN" altLang="zh-CN" sz="1600" dirty="0">
                    <a:solidFill>
                      <a:srgbClr val="0070C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_</a:t>
                </a:r>
                <a:endParaRPr lang="zh-CN" altLang="zh-CN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334" name="Rectangle 13"/>
              <p:cNvSpPr/>
              <p:nvPr/>
            </p:nvSpPr>
            <p:spPr>
              <a:xfrm>
                <a:off x="8729662" y="1290638"/>
                <a:ext cx="512961" cy="246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>
                  <a:buNone/>
                </a:pPr>
                <a:r>
                  <a:rPr lang="zh-CN" altLang="zh-CN" sz="1600" dirty="0">
                    <a:solidFill>
                      <a:srgbClr val="0070C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group</a:t>
                </a:r>
                <a:endParaRPr lang="zh-CN" altLang="zh-CN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9240" name="Line 14"/>
            <p:cNvSpPr/>
            <p:nvPr/>
          </p:nvSpPr>
          <p:spPr>
            <a:xfrm>
              <a:off x="8729662" y="1066801"/>
              <a:ext cx="0" cy="649288"/>
            </a:xfrm>
            <a:prstGeom prst="line">
              <a:avLst/>
            </a:prstGeom>
            <a:ln w="1587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1" name="Line 15"/>
            <p:cNvSpPr/>
            <p:nvPr/>
          </p:nvSpPr>
          <p:spPr>
            <a:xfrm>
              <a:off x="9307512" y="1066801"/>
              <a:ext cx="0" cy="649288"/>
            </a:xfrm>
            <a:prstGeom prst="line">
              <a:avLst/>
            </a:prstGeom>
            <a:ln w="1587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2" name="Line 16"/>
            <p:cNvSpPr/>
            <p:nvPr/>
          </p:nvSpPr>
          <p:spPr>
            <a:xfrm>
              <a:off x="8080375" y="1066801"/>
              <a:ext cx="0" cy="649288"/>
            </a:xfrm>
            <a:prstGeom prst="line">
              <a:avLst/>
            </a:prstGeom>
            <a:ln w="1587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3" name="Line 17"/>
            <p:cNvSpPr/>
            <p:nvPr/>
          </p:nvSpPr>
          <p:spPr>
            <a:xfrm flipH="1">
              <a:off x="7716836" y="2161086"/>
              <a:ext cx="136526" cy="143863"/>
            </a:xfrm>
            <a:prstGeom prst="line">
              <a:avLst/>
            </a:prstGeom>
            <a:ln w="1587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4" name="Line 19"/>
            <p:cNvSpPr/>
            <p:nvPr/>
          </p:nvSpPr>
          <p:spPr>
            <a:xfrm flipH="1">
              <a:off x="9818981" y="2469662"/>
              <a:ext cx="119063" cy="100807"/>
            </a:xfrm>
            <a:prstGeom prst="line">
              <a:avLst/>
            </a:prstGeom>
            <a:ln w="1587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5" name="Line 21"/>
            <p:cNvSpPr/>
            <p:nvPr/>
          </p:nvSpPr>
          <p:spPr>
            <a:xfrm flipH="1">
              <a:off x="7716836" y="4056857"/>
              <a:ext cx="169068" cy="186531"/>
            </a:xfrm>
            <a:prstGeom prst="line">
              <a:avLst/>
            </a:prstGeom>
            <a:ln w="1587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6" name="Line 23"/>
            <p:cNvSpPr/>
            <p:nvPr/>
          </p:nvSpPr>
          <p:spPr>
            <a:xfrm flipH="1">
              <a:off x="9448800" y="4024313"/>
              <a:ext cx="166688" cy="136525"/>
            </a:xfrm>
            <a:prstGeom prst="line">
              <a:avLst/>
            </a:prstGeom>
            <a:ln w="1587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7" name="Rectangle 25"/>
            <p:cNvSpPr/>
            <p:nvPr/>
          </p:nvSpPr>
          <p:spPr>
            <a:xfrm>
              <a:off x="7600689" y="3964344"/>
              <a:ext cx="153888" cy="1846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/>
              <a:r>
                <a:rPr lang="zh-CN" altLang="zh-CN" sz="1200" b="1" i="1" dirty="0">
                  <a:solidFill>
                    <a:srgbClr val="7030A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16</a:t>
              </a:r>
              <a:endParaRPr lang="zh-CN" altLang="zh-CN" sz="1400" b="1" i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48" name="Rectangle 26"/>
            <p:cNvSpPr/>
            <p:nvPr/>
          </p:nvSpPr>
          <p:spPr>
            <a:xfrm>
              <a:off x="7821612" y="4144963"/>
              <a:ext cx="422275" cy="2349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/>
              <a:r>
                <a:rPr lang="zh-CN" altLang="zh-CN" sz="16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alu</a:t>
              </a:r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49" name="Rectangle 27"/>
            <p:cNvSpPr/>
            <p:nvPr/>
          </p:nvSpPr>
          <p:spPr>
            <a:xfrm>
              <a:off x="8134350" y="4144963"/>
              <a:ext cx="219075" cy="2349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/>
              <a:r>
                <a:rPr lang="zh-CN" altLang="zh-CN" sz="16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_</a:t>
              </a:r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50" name="Rectangle 28"/>
            <p:cNvSpPr/>
            <p:nvPr/>
          </p:nvSpPr>
          <p:spPr>
            <a:xfrm>
              <a:off x="8239125" y="4144963"/>
              <a:ext cx="219075" cy="2349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/>
              <a:r>
                <a:rPr lang="zh-CN" altLang="zh-CN" sz="16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</a:t>
              </a:r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51" name="Rectangle 29"/>
            <p:cNvSpPr/>
            <p:nvPr/>
          </p:nvSpPr>
          <p:spPr>
            <a:xfrm>
              <a:off x="9318364" y="3931006"/>
              <a:ext cx="153888" cy="1846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/>
              <a:r>
                <a:rPr lang="zh-CN" altLang="zh-CN" sz="1200" b="1" i="1" dirty="0">
                  <a:solidFill>
                    <a:srgbClr val="7030A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16</a:t>
              </a:r>
              <a:endParaRPr lang="zh-CN" altLang="zh-CN" sz="1400" b="1" i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52" name="Rectangle 30"/>
            <p:cNvSpPr/>
            <p:nvPr/>
          </p:nvSpPr>
          <p:spPr>
            <a:xfrm>
              <a:off x="9594850" y="4144963"/>
              <a:ext cx="420688" cy="2349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/>
              <a:r>
                <a:rPr lang="zh-CN" altLang="zh-CN" sz="16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alu</a:t>
              </a:r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53" name="Rectangle 31"/>
            <p:cNvSpPr/>
            <p:nvPr/>
          </p:nvSpPr>
          <p:spPr>
            <a:xfrm>
              <a:off x="9907587" y="4144963"/>
              <a:ext cx="217488" cy="2349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/>
              <a:r>
                <a:rPr lang="zh-CN" altLang="zh-CN" sz="16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_</a:t>
              </a:r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54" name="Rectangle 32"/>
            <p:cNvSpPr/>
            <p:nvPr/>
          </p:nvSpPr>
          <p:spPr>
            <a:xfrm>
              <a:off x="10010775" y="4144963"/>
              <a:ext cx="219075" cy="2349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/>
              <a:r>
                <a:rPr lang="zh-CN" altLang="zh-CN" sz="16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b</a:t>
              </a:r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55" name="Freeform 33"/>
            <p:cNvSpPr/>
            <p:nvPr/>
          </p:nvSpPr>
          <p:spPr>
            <a:xfrm>
              <a:off x="6100762" y="1390651"/>
              <a:ext cx="2643188" cy="474980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0" y="0"/>
                </a:cxn>
                <a:cxn ang="0">
                  <a:pos x="2147483646" y="0"/>
                </a:cxn>
              </a:cxnLst>
              <a:pathLst>
                <a:path w="1665" h="2992">
                  <a:moveTo>
                    <a:pt x="1665" y="2862"/>
                  </a:moveTo>
                  <a:lnTo>
                    <a:pt x="1665" y="2992"/>
                  </a:lnTo>
                  <a:lnTo>
                    <a:pt x="0" y="2992"/>
                  </a:lnTo>
                  <a:lnTo>
                    <a:pt x="0" y="0"/>
                  </a:lnTo>
                  <a:lnTo>
                    <a:pt x="837" y="0"/>
                  </a:lnTo>
                </a:path>
              </a:pathLst>
            </a:custGeom>
            <a:noFill/>
            <a:ln w="15875" cap="rnd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56" name="Freeform 34"/>
            <p:cNvSpPr/>
            <p:nvPr/>
          </p:nvSpPr>
          <p:spPr>
            <a:xfrm>
              <a:off x="7412037" y="1323976"/>
              <a:ext cx="136525" cy="1349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0" y="0"/>
                </a:cxn>
              </a:cxnLst>
              <a:pathLst>
                <a:path w="86" h="85">
                  <a:moveTo>
                    <a:pt x="0" y="0"/>
                  </a:moveTo>
                  <a:lnTo>
                    <a:pt x="86" y="42"/>
                  </a:lnTo>
                  <a:lnTo>
                    <a:pt x="0" y="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57" name="Line 35"/>
            <p:cNvSpPr/>
            <p:nvPr/>
          </p:nvSpPr>
          <p:spPr>
            <a:xfrm flipV="1">
              <a:off x="6663530" y="1319213"/>
              <a:ext cx="151607" cy="152400"/>
            </a:xfrm>
            <a:prstGeom prst="line">
              <a:avLst/>
            </a:prstGeom>
            <a:ln w="1587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58" name="Line 37"/>
            <p:cNvSpPr/>
            <p:nvPr/>
          </p:nvSpPr>
          <p:spPr>
            <a:xfrm flipH="1">
              <a:off x="9966325" y="1185863"/>
              <a:ext cx="542925" cy="0"/>
            </a:xfrm>
            <a:prstGeom prst="line">
              <a:avLst/>
            </a:prstGeom>
            <a:ln w="1587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59" name="Freeform 38"/>
            <p:cNvSpPr/>
            <p:nvPr/>
          </p:nvSpPr>
          <p:spPr>
            <a:xfrm>
              <a:off x="9912350" y="1117601"/>
              <a:ext cx="68263" cy="134938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0"/>
                </a:cxn>
                <a:cxn ang="0">
                  <a:pos x="2147483646" y="2147483646"/>
                </a:cxn>
              </a:cxnLst>
              <a:pathLst>
                <a:path w="43" h="85">
                  <a:moveTo>
                    <a:pt x="43" y="85"/>
                  </a:moveTo>
                  <a:lnTo>
                    <a:pt x="0" y="43"/>
                  </a:lnTo>
                  <a:lnTo>
                    <a:pt x="43" y="0"/>
                  </a:lnTo>
                  <a:lnTo>
                    <a:pt x="43" y="8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60" name="Freeform 39"/>
            <p:cNvSpPr/>
            <p:nvPr/>
          </p:nvSpPr>
          <p:spPr>
            <a:xfrm>
              <a:off x="8729662" y="771526"/>
              <a:ext cx="1890713" cy="241300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0" y="0"/>
                </a:cxn>
                <a:cxn ang="0">
                  <a:pos x="0" y="2147483646"/>
                </a:cxn>
              </a:cxnLst>
              <a:pathLst>
                <a:path w="1191" h="152">
                  <a:moveTo>
                    <a:pt x="1191" y="0"/>
                  </a:moveTo>
                  <a:lnTo>
                    <a:pt x="0" y="0"/>
                  </a:lnTo>
                  <a:lnTo>
                    <a:pt x="0" y="152"/>
                  </a:lnTo>
                </a:path>
              </a:pathLst>
            </a:custGeom>
            <a:noFill/>
            <a:ln w="15875" cap="rnd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61" name="Freeform 40"/>
            <p:cNvSpPr/>
            <p:nvPr/>
          </p:nvSpPr>
          <p:spPr>
            <a:xfrm>
              <a:off x="8662987" y="998538"/>
              <a:ext cx="134938" cy="68263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0"/>
                </a:cxn>
              </a:cxnLst>
              <a:pathLst>
                <a:path w="85" h="43">
                  <a:moveTo>
                    <a:pt x="85" y="0"/>
                  </a:moveTo>
                  <a:lnTo>
                    <a:pt x="42" y="43"/>
                  </a:lnTo>
                  <a:lnTo>
                    <a:pt x="0" y="0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62" name="Line 41"/>
            <p:cNvSpPr/>
            <p:nvPr/>
          </p:nvSpPr>
          <p:spPr>
            <a:xfrm flipH="1">
              <a:off x="9572227" y="696913"/>
              <a:ext cx="122635" cy="136923"/>
            </a:xfrm>
            <a:prstGeom prst="line">
              <a:avLst/>
            </a:prstGeom>
            <a:ln w="1587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3" name="Rectangle 43"/>
            <p:cNvSpPr/>
            <p:nvPr/>
          </p:nvSpPr>
          <p:spPr>
            <a:xfrm>
              <a:off x="9508864" y="560744"/>
              <a:ext cx="76944" cy="1846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/>
              <a:r>
                <a:rPr lang="zh-CN" altLang="zh-CN" sz="1200" b="1" i="1" dirty="0">
                  <a:solidFill>
                    <a:srgbClr val="7030A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endParaRPr lang="zh-CN" altLang="zh-CN" sz="1400" b="1" i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64" name="Freeform 44"/>
            <p:cNvSpPr/>
            <p:nvPr/>
          </p:nvSpPr>
          <p:spPr>
            <a:xfrm>
              <a:off x="9847262" y="2181226"/>
              <a:ext cx="709613" cy="801688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0" y="0"/>
                </a:cxn>
                <a:cxn ang="0">
                  <a:pos x="0" y="2147483646"/>
                </a:cxn>
              </a:cxnLst>
              <a:pathLst>
                <a:path w="447" h="505">
                  <a:moveTo>
                    <a:pt x="447" y="0"/>
                  </a:moveTo>
                  <a:lnTo>
                    <a:pt x="0" y="0"/>
                  </a:lnTo>
                  <a:lnTo>
                    <a:pt x="0" y="505"/>
                  </a:lnTo>
                </a:path>
              </a:pathLst>
            </a:custGeom>
            <a:noFill/>
            <a:ln w="15875" cap="rnd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65" name="Freeform 45"/>
            <p:cNvSpPr/>
            <p:nvPr/>
          </p:nvSpPr>
          <p:spPr>
            <a:xfrm>
              <a:off x="9763125" y="2924176"/>
              <a:ext cx="136525" cy="68263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0"/>
                </a:cxn>
              </a:cxnLst>
              <a:pathLst>
                <a:path w="86" h="43">
                  <a:moveTo>
                    <a:pt x="86" y="0"/>
                  </a:moveTo>
                  <a:lnTo>
                    <a:pt x="43" y="43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66" name="Rectangle 49"/>
            <p:cNvSpPr/>
            <p:nvPr/>
          </p:nvSpPr>
          <p:spPr>
            <a:xfrm>
              <a:off x="10137775" y="1935163"/>
              <a:ext cx="719138" cy="2349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/>
              <a:r>
                <a:rPr lang="zh-CN" altLang="zh-CN" sz="16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offset</a:t>
              </a:r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9267" name="组合 157"/>
            <p:cNvGrpSpPr/>
            <p:nvPr/>
          </p:nvGrpSpPr>
          <p:grpSpPr>
            <a:xfrm>
              <a:off x="10512425" y="2863851"/>
              <a:ext cx="1152525" cy="254000"/>
              <a:chOff x="10512425" y="2863851"/>
              <a:chExt cx="1152525" cy="254000"/>
            </a:xfrm>
          </p:grpSpPr>
          <p:sp>
            <p:nvSpPr>
              <p:cNvPr id="9327" name="Rectangle 50"/>
              <p:cNvSpPr/>
              <p:nvPr/>
            </p:nvSpPr>
            <p:spPr>
              <a:xfrm>
                <a:off x="10512425" y="2884488"/>
                <a:ext cx="422275" cy="2333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zh-CN" altLang="zh-CN" sz="16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alu</a:t>
                </a:r>
                <a:endParaRPr lang="zh-CN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28" name="Rectangle 51"/>
              <p:cNvSpPr/>
              <p:nvPr/>
            </p:nvSpPr>
            <p:spPr>
              <a:xfrm>
                <a:off x="10839450" y="2863851"/>
                <a:ext cx="219075" cy="2333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zh-CN" altLang="zh-CN" sz="16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_</a:t>
                </a:r>
                <a:endParaRPr lang="zh-CN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29" name="Rectangle 52"/>
              <p:cNvSpPr/>
              <p:nvPr/>
            </p:nvSpPr>
            <p:spPr>
              <a:xfrm>
                <a:off x="10929937" y="2884488"/>
                <a:ext cx="312738" cy="2333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zh-CN" altLang="zh-CN" sz="16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in</a:t>
                </a:r>
                <a:endParaRPr lang="zh-CN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30" name="Rectangle 53"/>
              <p:cNvSpPr/>
              <p:nvPr/>
            </p:nvSpPr>
            <p:spPr>
              <a:xfrm>
                <a:off x="11133137" y="2884488"/>
                <a:ext cx="219075" cy="2333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zh-CN" altLang="zh-CN" sz="16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_</a:t>
                </a:r>
                <a:endParaRPr lang="zh-CN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31" name="Rectangle 54"/>
              <p:cNvSpPr/>
              <p:nvPr/>
            </p:nvSpPr>
            <p:spPr>
              <a:xfrm>
                <a:off x="11242675" y="2884488"/>
                <a:ext cx="422275" cy="2333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zh-CN" altLang="zh-CN" sz="16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sel</a:t>
                </a:r>
                <a:endParaRPr lang="zh-CN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268" name="组合 158"/>
            <p:cNvGrpSpPr/>
            <p:nvPr/>
          </p:nvGrpSpPr>
          <p:grpSpPr>
            <a:xfrm>
              <a:off x="6520809" y="5811009"/>
              <a:ext cx="839788" cy="258762"/>
              <a:chOff x="6520809" y="5811009"/>
              <a:chExt cx="839788" cy="258762"/>
            </a:xfrm>
          </p:grpSpPr>
          <p:sp>
            <p:nvSpPr>
              <p:cNvPr id="9324" name="Rectangle 55"/>
              <p:cNvSpPr/>
              <p:nvPr/>
            </p:nvSpPr>
            <p:spPr>
              <a:xfrm>
                <a:off x="6520809" y="5834821"/>
                <a:ext cx="422275" cy="2349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zh-CN" altLang="zh-CN" sz="16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alu</a:t>
                </a:r>
                <a:endParaRPr lang="zh-CN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25" name="Rectangle 56"/>
              <p:cNvSpPr/>
              <p:nvPr/>
            </p:nvSpPr>
            <p:spPr>
              <a:xfrm>
                <a:off x="6833547" y="5811009"/>
                <a:ext cx="219075" cy="2349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zh-CN" altLang="zh-CN" sz="16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_</a:t>
                </a:r>
                <a:endParaRPr lang="zh-CN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26" name="Rectangle 57"/>
              <p:cNvSpPr/>
              <p:nvPr/>
            </p:nvSpPr>
            <p:spPr>
              <a:xfrm>
                <a:off x="6938322" y="5834821"/>
                <a:ext cx="422275" cy="2349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zh-CN" altLang="zh-CN" sz="16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out</a:t>
                </a:r>
                <a:endParaRPr lang="zh-CN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269" name="Rectangle 58"/>
            <p:cNvSpPr/>
            <p:nvPr/>
          </p:nvSpPr>
          <p:spPr>
            <a:xfrm>
              <a:off x="6511190" y="1195744"/>
              <a:ext cx="153888" cy="1846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/>
              <a:r>
                <a:rPr lang="zh-CN" altLang="zh-CN" sz="1200" b="1" i="1" dirty="0">
                  <a:solidFill>
                    <a:srgbClr val="7030A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16</a:t>
              </a:r>
              <a:endParaRPr lang="zh-CN" altLang="zh-CN" sz="1400" b="1" i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9270" name="组合 160"/>
            <p:cNvGrpSpPr/>
            <p:nvPr/>
          </p:nvGrpSpPr>
          <p:grpSpPr>
            <a:xfrm>
              <a:off x="9977437" y="461963"/>
              <a:ext cx="730251" cy="234950"/>
              <a:chOff x="9977437" y="461963"/>
              <a:chExt cx="730251" cy="234950"/>
            </a:xfrm>
          </p:grpSpPr>
          <p:sp>
            <p:nvSpPr>
              <p:cNvPr id="9321" name="Rectangle 59"/>
              <p:cNvSpPr/>
              <p:nvPr/>
            </p:nvSpPr>
            <p:spPr>
              <a:xfrm>
                <a:off x="9977437" y="461963"/>
                <a:ext cx="422275" cy="2349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zh-CN" altLang="zh-CN" sz="16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reg</a:t>
                </a:r>
                <a:endParaRPr lang="zh-CN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22" name="Rectangle 60"/>
              <p:cNvSpPr/>
              <p:nvPr/>
            </p:nvSpPr>
            <p:spPr>
              <a:xfrm>
                <a:off x="10290175" y="461963"/>
                <a:ext cx="219075" cy="2349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zh-CN" altLang="zh-CN" sz="16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_</a:t>
                </a:r>
                <a:endParaRPr lang="zh-CN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23" name="Rectangle 61"/>
              <p:cNvSpPr/>
              <p:nvPr/>
            </p:nvSpPr>
            <p:spPr>
              <a:xfrm>
                <a:off x="10394950" y="461963"/>
                <a:ext cx="312738" cy="2349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zh-CN" altLang="zh-CN" sz="16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en</a:t>
                </a:r>
                <a:endParaRPr lang="zh-CN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271" name="Line 62"/>
            <p:cNvSpPr/>
            <p:nvPr/>
          </p:nvSpPr>
          <p:spPr>
            <a:xfrm flipH="1">
              <a:off x="10110787" y="5256213"/>
              <a:ext cx="509588" cy="0"/>
            </a:xfrm>
            <a:prstGeom prst="line">
              <a:avLst/>
            </a:prstGeom>
            <a:ln w="1587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2" name="Freeform 63"/>
            <p:cNvSpPr/>
            <p:nvPr/>
          </p:nvSpPr>
          <p:spPr>
            <a:xfrm>
              <a:off x="10056812" y="5187951"/>
              <a:ext cx="68263" cy="13652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0"/>
                </a:cxn>
                <a:cxn ang="0">
                  <a:pos x="2147483646" y="2147483646"/>
                </a:cxn>
              </a:cxnLst>
              <a:pathLst>
                <a:path w="43" h="86">
                  <a:moveTo>
                    <a:pt x="43" y="86"/>
                  </a:moveTo>
                  <a:lnTo>
                    <a:pt x="0" y="43"/>
                  </a:lnTo>
                  <a:lnTo>
                    <a:pt x="43" y="0"/>
                  </a:lnTo>
                  <a:lnTo>
                    <a:pt x="43" y="8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73" name="Line 64"/>
            <p:cNvSpPr/>
            <p:nvPr/>
          </p:nvSpPr>
          <p:spPr>
            <a:xfrm flipH="1">
              <a:off x="10156825" y="5180013"/>
              <a:ext cx="208756" cy="185737"/>
            </a:xfrm>
            <a:prstGeom prst="line">
              <a:avLst/>
            </a:prstGeom>
            <a:ln w="1587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4" name="Rectangle 66"/>
            <p:cNvSpPr/>
            <p:nvPr/>
          </p:nvSpPr>
          <p:spPr>
            <a:xfrm>
              <a:off x="7878762" y="2435226"/>
              <a:ext cx="312738" cy="2349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/>
              <a:r>
                <a:rPr lang="zh-CN" altLang="zh-CN" sz="16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rd</a:t>
              </a:r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75" name="Rectangle 67"/>
            <p:cNvSpPr/>
            <p:nvPr/>
          </p:nvSpPr>
          <p:spPr>
            <a:xfrm>
              <a:off x="8088312" y="2435226"/>
              <a:ext cx="219075" cy="2349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/>
              <a:r>
                <a:rPr lang="zh-CN" altLang="zh-CN" sz="16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_</a:t>
              </a:r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76" name="Rectangle 68"/>
            <p:cNvSpPr/>
            <p:nvPr/>
          </p:nvSpPr>
          <p:spPr>
            <a:xfrm>
              <a:off x="8191500" y="2435226"/>
              <a:ext cx="219075" cy="2349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/>
              <a:r>
                <a:rPr lang="zh-CN" altLang="zh-CN" sz="16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77" name="Freeform 70"/>
            <p:cNvSpPr/>
            <p:nvPr/>
          </p:nvSpPr>
          <p:spPr>
            <a:xfrm>
              <a:off x="9031287" y="3005138"/>
              <a:ext cx="1233488" cy="292100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pathLst>
                <a:path w="869" h="465">
                  <a:moveTo>
                    <a:pt x="869" y="0"/>
                  </a:moveTo>
                  <a:lnTo>
                    <a:pt x="0" y="0"/>
                  </a:lnTo>
                  <a:lnTo>
                    <a:pt x="73" y="465"/>
                  </a:lnTo>
                  <a:lnTo>
                    <a:pt x="797" y="465"/>
                  </a:lnTo>
                  <a:lnTo>
                    <a:pt x="869" y="0"/>
                  </a:lnTo>
                  <a:close/>
                </a:path>
              </a:pathLst>
            </a:custGeom>
            <a:noFill/>
            <a:ln w="15875" cap="rnd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78" name="Rectangle 71"/>
            <p:cNvSpPr/>
            <p:nvPr/>
          </p:nvSpPr>
          <p:spPr>
            <a:xfrm>
              <a:off x="9445625" y="2959101"/>
              <a:ext cx="500063" cy="2809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/>
              <a:r>
                <a:rPr lang="zh-CN" altLang="zh-CN" sz="20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mux</a:t>
              </a:r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79" name="Line 72"/>
            <p:cNvSpPr/>
            <p:nvPr/>
          </p:nvSpPr>
          <p:spPr>
            <a:xfrm>
              <a:off x="7785100" y="1716088"/>
              <a:ext cx="0" cy="1701800"/>
            </a:xfrm>
            <a:prstGeom prst="line">
              <a:avLst/>
            </a:prstGeom>
            <a:ln w="1587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80" name="Line 74"/>
            <p:cNvSpPr/>
            <p:nvPr/>
          </p:nvSpPr>
          <p:spPr>
            <a:xfrm>
              <a:off x="9556750" y="1716088"/>
              <a:ext cx="0" cy="1273175"/>
            </a:xfrm>
            <a:prstGeom prst="line">
              <a:avLst/>
            </a:prstGeom>
            <a:ln w="1587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81" name="Freeform 75"/>
            <p:cNvSpPr/>
            <p:nvPr/>
          </p:nvSpPr>
          <p:spPr>
            <a:xfrm>
              <a:off x="9478962" y="2922588"/>
              <a:ext cx="136525" cy="66675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0"/>
                </a:cxn>
              </a:cxnLst>
              <a:pathLst>
                <a:path w="86" h="42">
                  <a:moveTo>
                    <a:pt x="86" y="0"/>
                  </a:moveTo>
                  <a:lnTo>
                    <a:pt x="43" y="42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82" name="Line 76"/>
            <p:cNvSpPr/>
            <p:nvPr/>
          </p:nvSpPr>
          <p:spPr>
            <a:xfrm>
              <a:off x="7785100" y="3781426"/>
              <a:ext cx="0" cy="623888"/>
            </a:xfrm>
            <a:prstGeom prst="line">
              <a:avLst/>
            </a:prstGeom>
            <a:ln w="1587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83" name="Freeform 77"/>
            <p:cNvSpPr/>
            <p:nvPr/>
          </p:nvSpPr>
          <p:spPr>
            <a:xfrm>
              <a:off x="7716837" y="4391026"/>
              <a:ext cx="136525" cy="68263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0"/>
                </a:cxn>
              </a:cxnLst>
              <a:pathLst>
                <a:path w="86" h="43">
                  <a:moveTo>
                    <a:pt x="86" y="0"/>
                  </a:moveTo>
                  <a:lnTo>
                    <a:pt x="43" y="43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84" name="Line 78"/>
            <p:cNvSpPr/>
            <p:nvPr/>
          </p:nvSpPr>
          <p:spPr>
            <a:xfrm>
              <a:off x="9547225" y="3743326"/>
              <a:ext cx="9525" cy="661988"/>
            </a:xfrm>
            <a:prstGeom prst="line">
              <a:avLst/>
            </a:prstGeom>
            <a:ln w="1587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85" name="Freeform 79"/>
            <p:cNvSpPr/>
            <p:nvPr/>
          </p:nvSpPr>
          <p:spPr>
            <a:xfrm>
              <a:off x="9488487" y="4391026"/>
              <a:ext cx="136525" cy="68263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0"/>
                </a:cxn>
              </a:cxnLst>
              <a:pathLst>
                <a:path w="86" h="43">
                  <a:moveTo>
                    <a:pt x="86" y="0"/>
                  </a:moveTo>
                  <a:lnTo>
                    <a:pt x="43" y="43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9286" name="组合 176"/>
            <p:cNvGrpSpPr/>
            <p:nvPr/>
          </p:nvGrpSpPr>
          <p:grpSpPr>
            <a:xfrm>
              <a:off x="9093200" y="2462213"/>
              <a:ext cx="530225" cy="236538"/>
              <a:chOff x="9093200" y="2462213"/>
              <a:chExt cx="530225" cy="236538"/>
            </a:xfrm>
          </p:grpSpPr>
          <p:sp>
            <p:nvSpPr>
              <p:cNvPr id="9318" name="Rectangle 80"/>
              <p:cNvSpPr/>
              <p:nvPr/>
            </p:nvSpPr>
            <p:spPr>
              <a:xfrm>
                <a:off x="9093200" y="2462213"/>
                <a:ext cx="312738" cy="2333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zh-CN" altLang="zh-CN" sz="16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rs</a:t>
                </a:r>
                <a:endParaRPr lang="zh-CN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19" name="Rectangle 81"/>
              <p:cNvSpPr/>
              <p:nvPr/>
            </p:nvSpPr>
            <p:spPr>
              <a:xfrm>
                <a:off x="9294812" y="2462213"/>
                <a:ext cx="219075" cy="2333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zh-CN" altLang="zh-CN" sz="16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_</a:t>
                </a:r>
                <a:endParaRPr lang="zh-CN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20" name="Rectangle 82"/>
              <p:cNvSpPr/>
              <p:nvPr/>
            </p:nvSpPr>
            <p:spPr>
              <a:xfrm>
                <a:off x="9404350" y="2465388"/>
                <a:ext cx="219075" cy="2333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zh-CN" altLang="zh-CN" sz="16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q</a:t>
                </a:r>
                <a:endParaRPr lang="zh-CN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287" name="Rectangle 83"/>
            <p:cNvSpPr/>
            <p:nvPr/>
          </p:nvSpPr>
          <p:spPr>
            <a:xfrm>
              <a:off x="7531697" y="2057760"/>
              <a:ext cx="153888" cy="1846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/>
              <a:r>
                <a:rPr lang="zh-CN" altLang="zh-CN" sz="1200" b="1" i="1" dirty="0">
                  <a:solidFill>
                    <a:srgbClr val="7030A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16</a:t>
              </a:r>
              <a:endParaRPr lang="zh-CN" altLang="zh-CN" sz="1400" b="1" i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88" name="Rectangle 84"/>
            <p:cNvSpPr/>
            <p:nvPr/>
          </p:nvSpPr>
          <p:spPr>
            <a:xfrm>
              <a:off x="9347915" y="2120283"/>
              <a:ext cx="153888" cy="1846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/>
              <a:r>
                <a:rPr lang="zh-CN" altLang="zh-CN" sz="1200" b="1" i="1" dirty="0">
                  <a:solidFill>
                    <a:srgbClr val="7030A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16</a:t>
              </a:r>
              <a:endParaRPr lang="zh-CN" altLang="zh-CN" sz="1400" b="1" i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89" name="Line 85"/>
            <p:cNvSpPr/>
            <p:nvPr/>
          </p:nvSpPr>
          <p:spPr>
            <a:xfrm flipH="1">
              <a:off x="10125074" y="1117602"/>
              <a:ext cx="174625" cy="134938"/>
            </a:xfrm>
            <a:prstGeom prst="line">
              <a:avLst/>
            </a:prstGeom>
            <a:ln w="1587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90" name="Rectangle 87"/>
            <p:cNvSpPr/>
            <p:nvPr/>
          </p:nvSpPr>
          <p:spPr>
            <a:xfrm>
              <a:off x="10156564" y="986549"/>
              <a:ext cx="76944" cy="1846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/>
              <a:r>
                <a:rPr lang="zh-CN" altLang="zh-CN" sz="1200" b="1" i="1" dirty="0">
                  <a:solidFill>
                    <a:srgbClr val="7030A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zh-CN" altLang="zh-CN" sz="1400" b="1" i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91" name="Rectangle 88"/>
            <p:cNvSpPr/>
            <p:nvPr/>
          </p:nvSpPr>
          <p:spPr>
            <a:xfrm>
              <a:off x="10569575" y="1022351"/>
              <a:ext cx="312738" cy="2349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/>
              <a:r>
                <a:rPr lang="zh-CN" altLang="zh-CN" sz="16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rd</a:t>
              </a:r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92" name="Line 89"/>
            <p:cNvSpPr/>
            <p:nvPr/>
          </p:nvSpPr>
          <p:spPr>
            <a:xfrm flipH="1">
              <a:off x="10233025" y="3152776"/>
              <a:ext cx="446088" cy="0"/>
            </a:xfrm>
            <a:prstGeom prst="line">
              <a:avLst/>
            </a:prstGeom>
            <a:ln w="1587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93" name="Rectangle 92"/>
            <p:cNvSpPr/>
            <p:nvPr/>
          </p:nvSpPr>
          <p:spPr>
            <a:xfrm>
              <a:off x="10219581" y="5062538"/>
              <a:ext cx="76944" cy="1846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/>
              <a:r>
                <a:rPr lang="zh-CN" altLang="zh-CN" sz="1200" b="1" i="1" dirty="0">
                  <a:solidFill>
                    <a:srgbClr val="7030A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lang="zh-CN" altLang="zh-CN" sz="1400" b="1" i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9294" name="组合 184"/>
            <p:cNvGrpSpPr/>
            <p:nvPr/>
          </p:nvGrpSpPr>
          <p:grpSpPr>
            <a:xfrm>
              <a:off x="10483541" y="4986931"/>
              <a:ext cx="931863" cy="233363"/>
              <a:chOff x="10483541" y="4986931"/>
              <a:chExt cx="931863" cy="233363"/>
            </a:xfrm>
          </p:grpSpPr>
          <p:sp>
            <p:nvSpPr>
              <p:cNvPr id="9315" name="Rectangle 93"/>
              <p:cNvSpPr/>
              <p:nvPr/>
            </p:nvSpPr>
            <p:spPr>
              <a:xfrm>
                <a:off x="10483541" y="4986931"/>
                <a:ext cx="422275" cy="2333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zh-CN" altLang="zh-CN" sz="16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alu</a:t>
                </a:r>
                <a:endParaRPr lang="zh-CN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16" name="Rectangle 94"/>
              <p:cNvSpPr/>
              <p:nvPr/>
            </p:nvSpPr>
            <p:spPr>
              <a:xfrm>
                <a:off x="10796279" y="4986931"/>
                <a:ext cx="219075" cy="2333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zh-CN" altLang="zh-CN" sz="16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_</a:t>
                </a:r>
                <a:endParaRPr lang="zh-CN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17" name="Rectangle 95"/>
              <p:cNvSpPr/>
              <p:nvPr/>
            </p:nvSpPr>
            <p:spPr>
              <a:xfrm>
                <a:off x="10899466" y="4986931"/>
                <a:ext cx="515938" cy="2333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zh-CN" altLang="zh-CN" sz="16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func</a:t>
                </a:r>
                <a:endParaRPr lang="zh-CN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295" name="Line 96"/>
            <p:cNvSpPr/>
            <p:nvPr/>
          </p:nvSpPr>
          <p:spPr>
            <a:xfrm flipH="1">
              <a:off x="9966325" y="1524001"/>
              <a:ext cx="585788" cy="15875"/>
            </a:xfrm>
            <a:prstGeom prst="line">
              <a:avLst/>
            </a:prstGeom>
            <a:ln w="1587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96" name="Freeform 97"/>
            <p:cNvSpPr/>
            <p:nvPr/>
          </p:nvSpPr>
          <p:spPr>
            <a:xfrm>
              <a:off x="9912350" y="1471613"/>
              <a:ext cx="68263" cy="134938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0"/>
                </a:cxn>
                <a:cxn ang="0">
                  <a:pos x="2147483646" y="2147483646"/>
                </a:cxn>
              </a:cxnLst>
              <a:pathLst>
                <a:path w="43" h="85">
                  <a:moveTo>
                    <a:pt x="43" y="85"/>
                  </a:moveTo>
                  <a:lnTo>
                    <a:pt x="0" y="43"/>
                  </a:lnTo>
                  <a:lnTo>
                    <a:pt x="43" y="0"/>
                  </a:lnTo>
                  <a:lnTo>
                    <a:pt x="43" y="8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97" name="Line 98"/>
            <p:cNvSpPr/>
            <p:nvPr/>
          </p:nvSpPr>
          <p:spPr>
            <a:xfrm flipH="1">
              <a:off x="10153650" y="1458913"/>
              <a:ext cx="185737" cy="160337"/>
            </a:xfrm>
            <a:prstGeom prst="line">
              <a:avLst/>
            </a:prstGeom>
            <a:ln w="1587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98" name="Rectangle 100"/>
            <p:cNvSpPr/>
            <p:nvPr/>
          </p:nvSpPr>
          <p:spPr>
            <a:xfrm>
              <a:off x="10180377" y="1343381"/>
              <a:ext cx="76944" cy="1846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/>
              <a:r>
                <a:rPr lang="zh-CN" altLang="zh-CN" sz="1200" b="1" i="1" dirty="0">
                  <a:solidFill>
                    <a:srgbClr val="7030A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zh-CN" altLang="zh-CN" sz="1400" b="1" i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99" name="Rectangle 101"/>
            <p:cNvSpPr/>
            <p:nvPr/>
          </p:nvSpPr>
          <p:spPr>
            <a:xfrm>
              <a:off x="10569575" y="1319213"/>
              <a:ext cx="312738" cy="2349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/>
              <a:r>
                <a:rPr lang="zh-CN" altLang="zh-CN" sz="16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rs</a:t>
              </a:r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00" name="Rectangle 103"/>
            <p:cNvSpPr/>
            <p:nvPr/>
          </p:nvSpPr>
          <p:spPr>
            <a:xfrm>
              <a:off x="7253287" y="3492501"/>
              <a:ext cx="3040063" cy="250825"/>
            </a:xfrm>
            <a:prstGeom prst="rect">
              <a:avLst/>
            </a:prstGeom>
            <a:noFill/>
            <a:ln w="1587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9301" name="Rectangle 104"/>
            <p:cNvSpPr/>
            <p:nvPr/>
          </p:nvSpPr>
          <p:spPr>
            <a:xfrm>
              <a:off x="8564562" y="3484563"/>
              <a:ext cx="250825" cy="2809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/>
              <a:r>
                <a:rPr lang="zh-CN" altLang="zh-CN" sz="20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D</a:t>
              </a:r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02" name="Freeform 106"/>
            <p:cNvSpPr>
              <a:spLocks noEditPoints="1"/>
            </p:cNvSpPr>
            <p:nvPr/>
          </p:nvSpPr>
          <p:spPr>
            <a:xfrm>
              <a:off x="6332321" y="2763838"/>
              <a:ext cx="4091204" cy="114935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4491" h="1178">
                  <a:moveTo>
                    <a:pt x="4491" y="9"/>
                  </a:moveTo>
                  <a:lnTo>
                    <a:pt x="4491" y="121"/>
                  </a:lnTo>
                  <a:cubicBezTo>
                    <a:pt x="4491" y="125"/>
                    <a:pt x="4487" y="129"/>
                    <a:pt x="4483" y="129"/>
                  </a:cubicBezTo>
                  <a:cubicBezTo>
                    <a:pt x="4478" y="129"/>
                    <a:pt x="4475" y="125"/>
                    <a:pt x="4475" y="121"/>
                  </a:cubicBezTo>
                  <a:lnTo>
                    <a:pt x="4475" y="9"/>
                  </a:lnTo>
                  <a:cubicBezTo>
                    <a:pt x="4475" y="4"/>
                    <a:pt x="4478" y="1"/>
                    <a:pt x="4483" y="1"/>
                  </a:cubicBezTo>
                  <a:cubicBezTo>
                    <a:pt x="4487" y="1"/>
                    <a:pt x="4491" y="4"/>
                    <a:pt x="4491" y="9"/>
                  </a:cubicBezTo>
                  <a:close/>
                  <a:moveTo>
                    <a:pt x="4491" y="201"/>
                  </a:moveTo>
                  <a:lnTo>
                    <a:pt x="4491" y="313"/>
                  </a:lnTo>
                  <a:cubicBezTo>
                    <a:pt x="4491" y="317"/>
                    <a:pt x="4487" y="321"/>
                    <a:pt x="4483" y="321"/>
                  </a:cubicBezTo>
                  <a:cubicBezTo>
                    <a:pt x="4478" y="321"/>
                    <a:pt x="4475" y="317"/>
                    <a:pt x="4475" y="313"/>
                  </a:cubicBezTo>
                  <a:lnTo>
                    <a:pt x="4475" y="201"/>
                  </a:lnTo>
                  <a:cubicBezTo>
                    <a:pt x="4475" y="196"/>
                    <a:pt x="4478" y="193"/>
                    <a:pt x="4483" y="193"/>
                  </a:cubicBezTo>
                  <a:cubicBezTo>
                    <a:pt x="4487" y="193"/>
                    <a:pt x="4491" y="196"/>
                    <a:pt x="4491" y="201"/>
                  </a:cubicBezTo>
                  <a:close/>
                  <a:moveTo>
                    <a:pt x="4491" y="393"/>
                  </a:moveTo>
                  <a:lnTo>
                    <a:pt x="4491" y="505"/>
                  </a:lnTo>
                  <a:cubicBezTo>
                    <a:pt x="4491" y="509"/>
                    <a:pt x="4487" y="513"/>
                    <a:pt x="4483" y="513"/>
                  </a:cubicBezTo>
                  <a:cubicBezTo>
                    <a:pt x="4478" y="513"/>
                    <a:pt x="4475" y="509"/>
                    <a:pt x="4475" y="505"/>
                  </a:cubicBezTo>
                  <a:lnTo>
                    <a:pt x="4475" y="393"/>
                  </a:lnTo>
                  <a:cubicBezTo>
                    <a:pt x="4475" y="388"/>
                    <a:pt x="4478" y="385"/>
                    <a:pt x="4483" y="385"/>
                  </a:cubicBezTo>
                  <a:cubicBezTo>
                    <a:pt x="4487" y="385"/>
                    <a:pt x="4491" y="388"/>
                    <a:pt x="4491" y="393"/>
                  </a:cubicBezTo>
                  <a:close/>
                  <a:moveTo>
                    <a:pt x="4491" y="585"/>
                  </a:moveTo>
                  <a:lnTo>
                    <a:pt x="4491" y="697"/>
                  </a:lnTo>
                  <a:cubicBezTo>
                    <a:pt x="4491" y="702"/>
                    <a:pt x="4487" y="705"/>
                    <a:pt x="4483" y="705"/>
                  </a:cubicBezTo>
                  <a:cubicBezTo>
                    <a:pt x="4478" y="705"/>
                    <a:pt x="4475" y="702"/>
                    <a:pt x="4475" y="697"/>
                  </a:cubicBezTo>
                  <a:lnTo>
                    <a:pt x="4475" y="585"/>
                  </a:lnTo>
                  <a:cubicBezTo>
                    <a:pt x="4475" y="581"/>
                    <a:pt x="4478" y="577"/>
                    <a:pt x="4483" y="577"/>
                  </a:cubicBezTo>
                  <a:cubicBezTo>
                    <a:pt x="4487" y="577"/>
                    <a:pt x="4491" y="581"/>
                    <a:pt x="4491" y="585"/>
                  </a:cubicBezTo>
                  <a:close/>
                  <a:moveTo>
                    <a:pt x="4491" y="777"/>
                  </a:moveTo>
                  <a:lnTo>
                    <a:pt x="4491" y="889"/>
                  </a:lnTo>
                  <a:cubicBezTo>
                    <a:pt x="4491" y="894"/>
                    <a:pt x="4487" y="897"/>
                    <a:pt x="4483" y="897"/>
                  </a:cubicBezTo>
                  <a:cubicBezTo>
                    <a:pt x="4478" y="897"/>
                    <a:pt x="4475" y="894"/>
                    <a:pt x="4475" y="889"/>
                  </a:cubicBezTo>
                  <a:lnTo>
                    <a:pt x="4475" y="777"/>
                  </a:lnTo>
                  <a:cubicBezTo>
                    <a:pt x="4475" y="773"/>
                    <a:pt x="4478" y="769"/>
                    <a:pt x="4483" y="769"/>
                  </a:cubicBezTo>
                  <a:cubicBezTo>
                    <a:pt x="4487" y="769"/>
                    <a:pt x="4491" y="773"/>
                    <a:pt x="4491" y="777"/>
                  </a:cubicBezTo>
                  <a:close/>
                  <a:moveTo>
                    <a:pt x="4491" y="969"/>
                  </a:moveTo>
                  <a:lnTo>
                    <a:pt x="4491" y="1082"/>
                  </a:lnTo>
                  <a:cubicBezTo>
                    <a:pt x="4491" y="1086"/>
                    <a:pt x="4487" y="1090"/>
                    <a:pt x="4483" y="1090"/>
                  </a:cubicBezTo>
                  <a:cubicBezTo>
                    <a:pt x="4478" y="1090"/>
                    <a:pt x="4475" y="1086"/>
                    <a:pt x="4475" y="1082"/>
                  </a:cubicBezTo>
                  <a:lnTo>
                    <a:pt x="4475" y="969"/>
                  </a:lnTo>
                  <a:cubicBezTo>
                    <a:pt x="4475" y="965"/>
                    <a:pt x="4478" y="961"/>
                    <a:pt x="4483" y="961"/>
                  </a:cubicBezTo>
                  <a:cubicBezTo>
                    <a:pt x="4487" y="961"/>
                    <a:pt x="4491" y="965"/>
                    <a:pt x="4491" y="969"/>
                  </a:cubicBezTo>
                  <a:close/>
                  <a:moveTo>
                    <a:pt x="4491" y="1162"/>
                  </a:moveTo>
                  <a:lnTo>
                    <a:pt x="4491" y="1170"/>
                  </a:lnTo>
                  <a:cubicBezTo>
                    <a:pt x="4491" y="1175"/>
                    <a:pt x="4487" y="1178"/>
                    <a:pt x="4483" y="1178"/>
                  </a:cubicBezTo>
                  <a:lnTo>
                    <a:pt x="4379" y="1178"/>
                  </a:lnTo>
                  <a:cubicBezTo>
                    <a:pt x="4375" y="1178"/>
                    <a:pt x="4371" y="1175"/>
                    <a:pt x="4371" y="1170"/>
                  </a:cubicBezTo>
                  <a:cubicBezTo>
                    <a:pt x="4371" y="1166"/>
                    <a:pt x="4375" y="1162"/>
                    <a:pt x="4379" y="1162"/>
                  </a:cubicBezTo>
                  <a:lnTo>
                    <a:pt x="4483" y="1162"/>
                  </a:lnTo>
                  <a:lnTo>
                    <a:pt x="4475" y="1170"/>
                  </a:lnTo>
                  <a:lnTo>
                    <a:pt x="4475" y="1162"/>
                  </a:lnTo>
                  <a:cubicBezTo>
                    <a:pt x="4475" y="1157"/>
                    <a:pt x="4478" y="1154"/>
                    <a:pt x="4483" y="1154"/>
                  </a:cubicBezTo>
                  <a:cubicBezTo>
                    <a:pt x="4487" y="1154"/>
                    <a:pt x="4491" y="1157"/>
                    <a:pt x="4491" y="1162"/>
                  </a:cubicBezTo>
                  <a:close/>
                  <a:moveTo>
                    <a:pt x="4299" y="1178"/>
                  </a:moveTo>
                  <a:lnTo>
                    <a:pt x="4187" y="1178"/>
                  </a:lnTo>
                  <a:cubicBezTo>
                    <a:pt x="4183" y="1178"/>
                    <a:pt x="4179" y="1175"/>
                    <a:pt x="4179" y="1170"/>
                  </a:cubicBezTo>
                  <a:cubicBezTo>
                    <a:pt x="4179" y="1166"/>
                    <a:pt x="4183" y="1162"/>
                    <a:pt x="4187" y="1162"/>
                  </a:cubicBezTo>
                  <a:lnTo>
                    <a:pt x="4299" y="1162"/>
                  </a:lnTo>
                  <a:cubicBezTo>
                    <a:pt x="4304" y="1162"/>
                    <a:pt x="4307" y="1166"/>
                    <a:pt x="4307" y="1170"/>
                  </a:cubicBezTo>
                  <a:cubicBezTo>
                    <a:pt x="4307" y="1175"/>
                    <a:pt x="4304" y="1178"/>
                    <a:pt x="4299" y="1178"/>
                  </a:cubicBezTo>
                  <a:close/>
                  <a:moveTo>
                    <a:pt x="4107" y="1178"/>
                  </a:moveTo>
                  <a:lnTo>
                    <a:pt x="3995" y="1178"/>
                  </a:lnTo>
                  <a:cubicBezTo>
                    <a:pt x="3991" y="1178"/>
                    <a:pt x="3987" y="1175"/>
                    <a:pt x="3987" y="1170"/>
                  </a:cubicBezTo>
                  <a:cubicBezTo>
                    <a:pt x="3987" y="1166"/>
                    <a:pt x="3991" y="1162"/>
                    <a:pt x="3995" y="1162"/>
                  </a:cubicBezTo>
                  <a:lnTo>
                    <a:pt x="4107" y="1162"/>
                  </a:lnTo>
                  <a:cubicBezTo>
                    <a:pt x="4112" y="1162"/>
                    <a:pt x="4115" y="1166"/>
                    <a:pt x="4115" y="1170"/>
                  </a:cubicBezTo>
                  <a:cubicBezTo>
                    <a:pt x="4115" y="1175"/>
                    <a:pt x="4112" y="1178"/>
                    <a:pt x="4107" y="1178"/>
                  </a:cubicBezTo>
                  <a:close/>
                  <a:moveTo>
                    <a:pt x="3915" y="1178"/>
                  </a:moveTo>
                  <a:lnTo>
                    <a:pt x="3803" y="1178"/>
                  </a:lnTo>
                  <a:cubicBezTo>
                    <a:pt x="3798" y="1178"/>
                    <a:pt x="3795" y="1175"/>
                    <a:pt x="3795" y="1170"/>
                  </a:cubicBezTo>
                  <a:cubicBezTo>
                    <a:pt x="3795" y="1166"/>
                    <a:pt x="3798" y="1162"/>
                    <a:pt x="3803" y="1162"/>
                  </a:cubicBezTo>
                  <a:lnTo>
                    <a:pt x="3915" y="1162"/>
                  </a:lnTo>
                  <a:cubicBezTo>
                    <a:pt x="3919" y="1162"/>
                    <a:pt x="3923" y="1166"/>
                    <a:pt x="3923" y="1170"/>
                  </a:cubicBezTo>
                  <a:cubicBezTo>
                    <a:pt x="3923" y="1175"/>
                    <a:pt x="3919" y="1178"/>
                    <a:pt x="3915" y="1178"/>
                  </a:cubicBezTo>
                  <a:close/>
                  <a:moveTo>
                    <a:pt x="3723" y="1178"/>
                  </a:moveTo>
                  <a:lnTo>
                    <a:pt x="3611" y="1178"/>
                  </a:lnTo>
                  <a:cubicBezTo>
                    <a:pt x="3606" y="1178"/>
                    <a:pt x="3603" y="1175"/>
                    <a:pt x="3603" y="1170"/>
                  </a:cubicBezTo>
                  <a:cubicBezTo>
                    <a:pt x="3603" y="1166"/>
                    <a:pt x="3606" y="1162"/>
                    <a:pt x="3611" y="1162"/>
                  </a:cubicBezTo>
                  <a:lnTo>
                    <a:pt x="3723" y="1162"/>
                  </a:lnTo>
                  <a:cubicBezTo>
                    <a:pt x="3727" y="1162"/>
                    <a:pt x="3731" y="1166"/>
                    <a:pt x="3731" y="1170"/>
                  </a:cubicBezTo>
                  <a:cubicBezTo>
                    <a:pt x="3731" y="1175"/>
                    <a:pt x="3727" y="1178"/>
                    <a:pt x="3723" y="1178"/>
                  </a:cubicBezTo>
                  <a:close/>
                  <a:moveTo>
                    <a:pt x="3531" y="1178"/>
                  </a:moveTo>
                  <a:lnTo>
                    <a:pt x="3418" y="1178"/>
                  </a:lnTo>
                  <a:cubicBezTo>
                    <a:pt x="3414" y="1178"/>
                    <a:pt x="3410" y="1175"/>
                    <a:pt x="3410" y="1170"/>
                  </a:cubicBezTo>
                  <a:cubicBezTo>
                    <a:pt x="3410" y="1166"/>
                    <a:pt x="3414" y="1162"/>
                    <a:pt x="3418" y="1162"/>
                  </a:cubicBezTo>
                  <a:lnTo>
                    <a:pt x="3531" y="1162"/>
                  </a:lnTo>
                  <a:cubicBezTo>
                    <a:pt x="3535" y="1162"/>
                    <a:pt x="3539" y="1166"/>
                    <a:pt x="3539" y="1170"/>
                  </a:cubicBezTo>
                  <a:cubicBezTo>
                    <a:pt x="3539" y="1175"/>
                    <a:pt x="3535" y="1178"/>
                    <a:pt x="3531" y="1178"/>
                  </a:cubicBezTo>
                  <a:close/>
                  <a:moveTo>
                    <a:pt x="3338" y="1178"/>
                  </a:moveTo>
                  <a:lnTo>
                    <a:pt x="3226" y="1178"/>
                  </a:lnTo>
                  <a:cubicBezTo>
                    <a:pt x="3222" y="1178"/>
                    <a:pt x="3218" y="1175"/>
                    <a:pt x="3218" y="1170"/>
                  </a:cubicBezTo>
                  <a:cubicBezTo>
                    <a:pt x="3218" y="1166"/>
                    <a:pt x="3222" y="1162"/>
                    <a:pt x="3226" y="1162"/>
                  </a:cubicBezTo>
                  <a:lnTo>
                    <a:pt x="3338" y="1162"/>
                  </a:lnTo>
                  <a:cubicBezTo>
                    <a:pt x="3343" y="1162"/>
                    <a:pt x="3346" y="1166"/>
                    <a:pt x="3346" y="1170"/>
                  </a:cubicBezTo>
                  <a:cubicBezTo>
                    <a:pt x="3346" y="1175"/>
                    <a:pt x="3343" y="1178"/>
                    <a:pt x="3338" y="1178"/>
                  </a:cubicBezTo>
                  <a:close/>
                  <a:moveTo>
                    <a:pt x="3146" y="1178"/>
                  </a:moveTo>
                  <a:lnTo>
                    <a:pt x="3034" y="1178"/>
                  </a:lnTo>
                  <a:cubicBezTo>
                    <a:pt x="3030" y="1178"/>
                    <a:pt x="3026" y="1175"/>
                    <a:pt x="3026" y="1170"/>
                  </a:cubicBezTo>
                  <a:cubicBezTo>
                    <a:pt x="3026" y="1166"/>
                    <a:pt x="3030" y="1162"/>
                    <a:pt x="3034" y="1162"/>
                  </a:cubicBezTo>
                  <a:lnTo>
                    <a:pt x="3146" y="1162"/>
                  </a:lnTo>
                  <a:cubicBezTo>
                    <a:pt x="3151" y="1162"/>
                    <a:pt x="3154" y="1166"/>
                    <a:pt x="3154" y="1170"/>
                  </a:cubicBezTo>
                  <a:cubicBezTo>
                    <a:pt x="3154" y="1175"/>
                    <a:pt x="3151" y="1178"/>
                    <a:pt x="3146" y="1178"/>
                  </a:cubicBezTo>
                  <a:close/>
                  <a:moveTo>
                    <a:pt x="2954" y="1178"/>
                  </a:moveTo>
                  <a:lnTo>
                    <a:pt x="2842" y="1178"/>
                  </a:lnTo>
                  <a:cubicBezTo>
                    <a:pt x="2837" y="1178"/>
                    <a:pt x="2834" y="1175"/>
                    <a:pt x="2834" y="1170"/>
                  </a:cubicBezTo>
                  <a:cubicBezTo>
                    <a:pt x="2834" y="1166"/>
                    <a:pt x="2837" y="1162"/>
                    <a:pt x="2842" y="1162"/>
                  </a:cubicBezTo>
                  <a:lnTo>
                    <a:pt x="2954" y="1162"/>
                  </a:lnTo>
                  <a:cubicBezTo>
                    <a:pt x="2958" y="1162"/>
                    <a:pt x="2962" y="1166"/>
                    <a:pt x="2962" y="1170"/>
                  </a:cubicBezTo>
                  <a:cubicBezTo>
                    <a:pt x="2962" y="1175"/>
                    <a:pt x="2958" y="1178"/>
                    <a:pt x="2954" y="1178"/>
                  </a:cubicBezTo>
                  <a:close/>
                  <a:moveTo>
                    <a:pt x="2762" y="1178"/>
                  </a:moveTo>
                  <a:lnTo>
                    <a:pt x="2650" y="1178"/>
                  </a:lnTo>
                  <a:cubicBezTo>
                    <a:pt x="2645" y="1178"/>
                    <a:pt x="2642" y="1175"/>
                    <a:pt x="2642" y="1170"/>
                  </a:cubicBezTo>
                  <a:cubicBezTo>
                    <a:pt x="2642" y="1166"/>
                    <a:pt x="2645" y="1162"/>
                    <a:pt x="2650" y="1162"/>
                  </a:cubicBezTo>
                  <a:lnTo>
                    <a:pt x="2762" y="1162"/>
                  </a:lnTo>
                  <a:cubicBezTo>
                    <a:pt x="2766" y="1162"/>
                    <a:pt x="2770" y="1166"/>
                    <a:pt x="2770" y="1170"/>
                  </a:cubicBezTo>
                  <a:cubicBezTo>
                    <a:pt x="2770" y="1175"/>
                    <a:pt x="2766" y="1178"/>
                    <a:pt x="2762" y="1178"/>
                  </a:cubicBezTo>
                  <a:close/>
                  <a:moveTo>
                    <a:pt x="2570" y="1178"/>
                  </a:moveTo>
                  <a:lnTo>
                    <a:pt x="2457" y="1178"/>
                  </a:lnTo>
                  <a:cubicBezTo>
                    <a:pt x="2453" y="1178"/>
                    <a:pt x="2449" y="1175"/>
                    <a:pt x="2449" y="1170"/>
                  </a:cubicBezTo>
                  <a:cubicBezTo>
                    <a:pt x="2449" y="1166"/>
                    <a:pt x="2453" y="1162"/>
                    <a:pt x="2457" y="1162"/>
                  </a:cubicBezTo>
                  <a:lnTo>
                    <a:pt x="2570" y="1162"/>
                  </a:lnTo>
                  <a:cubicBezTo>
                    <a:pt x="2574" y="1162"/>
                    <a:pt x="2578" y="1166"/>
                    <a:pt x="2578" y="1170"/>
                  </a:cubicBezTo>
                  <a:cubicBezTo>
                    <a:pt x="2578" y="1175"/>
                    <a:pt x="2574" y="1178"/>
                    <a:pt x="2570" y="1178"/>
                  </a:cubicBezTo>
                  <a:close/>
                  <a:moveTo>
                    <a:pt x="2377" y="1178"/>
                  </a:moveTo>
                  <a:lnTo>
                    <a:pt x="2265" y="1178"/>
                  </a:lnTo>
                  <a:cubicBezTo>
                    <a:pt x="2261" y="1178"/>
                    <a:pt x="2257" y="1175"/>
                    <a:pt x="2257" y="1170"/>
                  </a:cubicBezTo>
                  <a:cubicBezTo>
                    <a:pt x="2257" y="1166"/>
                    <a:pt x="2261" y="1162"/>
                    <a:pt x="2265" y="1162"/>
                  </a:cubicBezTo>
                  <a:lnTo>
                    <a:pt x="2377" y="1162"/>
                  </a:lnTo>
                  <a:cubicBezTo>
                    <a:pt x="2382" y="1162"/>
                    <a:pt x="2385" y="1166"/>
                    <a:pt x="2385" y="1170"/>
                  </a:cubicBezTo>
                  <a:cubicBezTo>
                    <a:pt x="2385" y="1175"/>
                    <a:pt x="2382" y="1178"/>
                    <a:pt x="2377" y="1178"/>
                  </a:cubicBezTo>
                  <a:close/>
                  <a:moveTo>
                    <a:pt x="2185" y="1178"/>
                  </a:moveTo>
                  <a:lnTo>
                    <a:pt x="2073" y="1178"/>
                  </a:lnTo>
                  <a:cubicBezTo>
                    <a:pt x="2069" y="1178"/>
                    <a:pt x="2065" y="1175"/>
                    <a:pt x="2065" y="1170"/>
                  </a:cubicBezTo>
                  <a:cubicBezTo>
                    <a:pt x="2065" y="1166"/>
                    <a:pt x="2069" y="1162"/>
                    <a:pt x="2073" y="1162"/>
                  </a:cubicBezTo>
                  <a:lnTo>
                    <a:pt x="2185" y="1162"/>
                  </a:lnTo>
                  <a:cubicBezTo>
                    <a:pt x="2190" y="1162"/>
                    <a:pt x="2193" y="1166"/>
                    <a:pt x="2193" y="1170"/>
                  </a:cubicBezTo>
                  <a:cubicBezTo>
                    <a:pt x="2193" y="1175"/>
                    <a:pt x="2190" y="1178"/>
                    <a:pt x="2185" y="1178"/>
                  </a:cubicBezTo>
                  <a:close/>
                  <a:moveTo>
                    <a:pt x="1993" y="1178"/>
                  </a:moveTo>
                  <a:lnTo>
                    <a:pt x="1881" y="1178"/>
                  </a:lnTo>
                  <a:cubicBezTo>
                    <a:pt x="1876" y="1178"/>
                    <a:pt x="1873" y="1175"/>
                    <a:pt x="1873" y="1170"/>
                  </a:cubicBezTo>
                  <a:cubicBezTo>
                    <a:pt x="1873" y="1166"/>
                    <a:pt x="1876" y="1162"/>
                    <a:pt x="1881" y="1162"/>
                  </a:cubicBezTo>
                  <a:lnTo>
                    <a:pt x="1993" y="1162"/>
                  </a:lnTo>
                  <a:cubicBezTo>
                    <a:pt x="1997" y="1162"/>
                    <a:pt x="2001" y="1166"/>
                    <a:pt x="2001" y="1170"/>
                  </a:cubicBezTo>
                  <a:cubicBezTo>
                    <a:pt x="2001" y="1175"/>
                    <a:pt x="1997" y="1178"/>
                    <a:pt x="1993" y="1178"/>
                  </a:cubicBezTo>
                  <a:close/>
                  <a:moveTo>
                    <a:pt x="1801" y="1178"/>
                  </a:moveTo>
                  <a:lnTo>
                    <a:pt x="1689" y="1178"/>
                  </a:lnTo>
                  <a:cubicBezTo>
                    <a:pt x="1684" y="1178"/>
                    <a:pt x="1681" y="1175"/>
                    <a:pt x="1681" y="1170"/>
                  </a:cubicBezTo>
                  <a:cubicBezTo>
                    <a:pt x="1681" y="1166"/>
                    <a:pt x="1684" y="1162"/>
                    <a:pt x="1689" y="1162"/>
                  </a:cubicBezTo>
                  <a:lnTo>
                    <a:pt x="1801" y="1162"/>
                  </a:lnTo>
                  <a:cubicBezTo>
                    <a:pt x="1805" y="1162"/>
                    <a:pt x="1809" y="1166"/>
                    <a:pt x="1809" y="1170"/>
                  </a:cubicBezTo>
                  <a:cubicBezTo>
                    <a:pt x="1809" y="1175"/>
                    <a:pt x="1805" y="1178"/>
                    <a:pt x="1801" y="1178"/>
                  </a:cubicBezTo>
                  <a:close/>
                  <a:moveTo>
                    <a:pt x="1609" y="1178"/>
                  </a:moveTo>
                  <a:lnTo>
                    <a:pt x="1496" y="1178"/>
                  </a:lnTo>
                  <a:cubicBezTo>
                    <a:pt x="1492" y="1178"/>
                    <a:pt x="1488" y="1175"/>
                    <a:pt x="1488" y="1170"/>
                  </a:cubicBezTo>
                  <a:cubicBezTo>
                    <a:pt x="1488" y="1166"/>
                    <a:pt x="1492" y="1162"/>
                    <a:pt x="1496" y="1162"/>
                  </a:cubicBezTo>
                  <a:lnTo>
                    <a:pt x="1609" y="1162"/>
                  </a:lnTo>
                  <a:cubicBezTo>
                    <a:pt x="1613" y="1162"/>
                    <a:pt x="1617" y="1166"/>
                    <a:pt x="1617" y="1170"/>
                  </a:cubicBezTo>
                  <a:cubicBezTo>
                    <a:pt x="1617" y="1175"/>
                    <a:pt x="1613" y="1178"/>
                    <a:pt x="1609" y="1178"/>
                  </a:cubicBezTo>
                  <a:close/>
                  <a:moveTo>
                    <a:pt x="1416" y="1178"/>
                  </a:moveTo>
                  <a:lnTo>
                    <a:pt x="1304" y="1178"/>
                  </a:lnTo>
                  <a:cubicBezTo>
                    <a:pt x="1300" y="1178"/>
                    <a:pt x="1296" y="1175"/>
                    <a:pt x="1296" y="1170"/>
                  </a:cubicBezTo>
                  <a:cubicBezTo>
                    <a:pt x="1296" y="1166"/>
                    <a:pt x="1300" y="1162"/>
                    <a:pt x="1304" y="1162"/>
                  </a:cubicBezTo>
                  <a:lnTo>
                    <a:pt x="1416" y="1162"/>
                  </a:lnTo>
                  <a:cubicBezTo>
                    <a:pt x="1421" y="1162"/>
                    <a:pt x="1424" y="1166"/>
                    <a:pt x="1424" y="1170"/>
                  </a:cubicBezTo>
                  <a:cubicBezTo>
                    <a:pt x="1424" y="1175"/>
                    <a:pt x="1421" y="1178"/>
                    <a:pt x="1416" y="1178"/>
                  </a:cubicBezTo>
                  <a:close/>
                  <a:moveTo>
                    <a:pt x="1224" y="1178"/>
                  </a:moveTo>
                  <a:lnTo>
                    <a:pt x="1112" y="1178"/>
                  </a:lnTo>
                  <a:cubicBezTo>
                    <a:pt x="1108" y="1178"/>
                    <a:pt x="1104" y="1175"/>
                    <a:pt x="1104" y="1170"/>
                  </a:cubicBezTo>
                  <a:cubicBezTo>
                    <a:pt x="1104" y="1166"/>
                    <a:pt x="1108" y="1162"/>
                    <a:pt x="1112" y="1162"/>
                  </a:cubicBezTo>
                  <a:lnTo>
                    <a:pt x="1224" y="1162"/>
                  </a:lnTo>
                  <a:cubicBezTo>
                    <a:pt x="1229" y="1162"/>
                    <a:pt x="1232" y="1166"/>
                    <a:pt x="1232" y="1170"/>
                  </a:cubicBezTo>
                  <a:cubicBezTo>
                    <a:pt x="1232" y="1175"/>
                    <a:pt x="1229" y="1178"/>
                    <a:pt x="1224" y="1178"/>
                  </a:cubicBezTo>
                  <a:close/>
                  <a:moveTo>
                    <a:pt x="1032" y="1178"/>
                  </a:moveTo>
                  <a:lnTo>
                    <a:pt x="920" y="1178"/>
                  </a:lnTo>
                  <a:cubicBezTo>
                    <a:pt x="915" y="1178"/>
                    <a:pt x="912" y="1175"/>
                    <a:pt x="912" y="1170"/>
                  </a:cubicBezTo>
                  <a:cubicBezTo>
                    <a:pt x="912" y="1166"/>
                    <a:pt x="915" y="1162"/>
                    <a:pt x="920" y="1162"/>
                  </a:cubicBezTo>
                  <a:lnTo>
                    <a:pt x="1032" y="1162"/>
                  </a:lnTo>
                  <a:cubicBezTo>
                    <a:pt x="1036" y="1162"/>
                    <a:pt x="1040" y="1166"/>
                    <a:pt x="1040" y="1170"/>
                  </a:cubicBezTo>
                  <a:cubicBezTo>
                    <a:pt x="1040" y="1175"/>
                    <a:pt x="1036" y="1178"/>
                    <a:pt x="1032" y="1178"/>
                  </a:cubicBezTo>
                  <a:close/>
                  <a:moveTo>
                    <a:pt x="840" y="1178"/>
                  </a:moveTo>
                  <a:lnTo>
                    <a:pt x="728" y="1178"/>
                  </a:lnTo>
                  <a:cubicBezTo>
                    <a:pt x="723" y="1178"/>
                    <a:pt x="720" y="1175"/>
                    <a:pt x="720" y="1170"/>
                  </a:cubicBezTo>
                  <a:cubicBezTo>
                    <a:pt x="720" y="1166"/>
                    <a:pt x="723" y="1162"/>
                    <a:pt x="728" y="1162"/>
                  </a:cubicBezTo>
                  <a:lnTo>
                    <a:pt x="840" y="1162"/>
                  </a:lnTo>
                  <a:cubicBezTo>
                    <a:pt x="844" y="1162"/>
                    <a:pt x="848" y="1166"/>
                    <a:pt x="848" y="1170"/>
                  </a:cubicBezTo>
                  <a:cubicBezTo>
                    <a:pt x="848" y="1175"/>
                    <a:pt x="844" y="1178"/>
                    <a:pt x="840" y="1178"/>
                  </a:cubicBezTo>
                  <a:close/>
                  <a:moveTo>
                    <a:pt x="648" y="1178"/>
                  </a:moveTo>
                  <a:lnTo>
                    <a:pt x="536" y="1178"/>
                  </a:lnTo>
                  <a:cubicBezTo>
                    <a:pt x="531" y="1178"/>
                    <a:pt x="528" y="1175"/>
                    <a:pt x="528" y="1170"/>
                  </a:cubicBezTo>
                  <a:cubicBezTo>
                    <a:pt x="528" y="1166"/>
                    <a:pt x="531" y="1162"/>
                    <a:pt x="536" y="1162"/>
                  </a:cubicBezTo>
                  <a:lnTo>
                    <a:pt x="648" y="1162"/>
                  </a:lnTo>
                  <a:cubicBezTo>
                    <a:pt x="652" y="1162"/>
                    <a:pt x="656" y="1166"/>
                    <a:pt x="656" y="1170"/>
                  </a:cubicBezTo>
                  <a:cubicBezTo>
                    <a:pt x="656" y="1175"/>
                    <a:pt x="652" y="1178"/>
                    <a:pt x="648" y="1178"/>
                  </a:cubicBezTo>
                  <a:close/>
                  <a:moveTo>
                    <a:pt x="455" y="1178"/>
                  </a:moveTo>
                  <a:lnTo>
                    <a:pt x="343" y="1178"/>
                  </a:lnTo>
                  <a:cubicBezTo>
                    <a:pt x="339" y="1178"/>
                    <a:pt x="335" y="1175"/>
                    <a:pt x="335" y="1170"/>
                  </a:cubicBezTo>
                  <a:cubicBezTo>
                    <a:pt x="335" y="1166"/>
                    <a:pt x="339" y="1162"/>
                    <a:pt x="343" y="1162"/>
                  </a:cubicBezTo>
                  <a:lnTo>
                    <a:pt x="455" y="1162"/>
                  </a:lnTo>
                  <a:cubicBezTo>
                    <a:pt x="460" y="1162"/>
                    <a:pt x="463" y="1166"/>
                    <a:pt x="463" y="1170"/>
                  </a:cubicBezTo>
                  <a:cubicBezTo>
                    <a:pt x="463" y="1175"/>
                    <a:pt x="460" y="1178"/>
                    <a:pt x="455" y="1178"/>
                  </a:cubicBezTo>
                  <a:close/>
                  <a:moveTo>
                    <a:pt x="263" y="1178"/>
                  </a:moveTo>
                  <a:lnTo>
                    <a:pt x="151" y="1178"/>
                  </a:lnTo>
                  <a:cubicBezTo>
                    <a:pt x="147" y="1178"/>
                    <a:pt x="143" y="1175"/>
                    <a:pt x="143" y="1170"/>
                  </a:cubicBezTo>
                  <a:cubicBezTo>
                    <a:pt x="143" y="1166"/>
                    <a:pt x="147" y="1162"/>
                    <a:pt x="151" y="1162"/>
                  </a:cubicBezTo>
                  <a:lnTo>
                    <a:pt x="263" y="1162"/>
                  </a:lnTo>
                  <a:cubicBezTo>
                    <a:pt x="268" y="1162"/>
                    <a:pt x="271" y="1166"/>
                    <a:pt x="271" y="1170"/>
                  </a:cubicBezTo>
                  <a:cubicBezTo>
                    <a:pt x="271" y="1175"/>
                    <a:pt x="268" y="1178"/>
                    <a:pt x="263" y="1178"/>
                  </a:cubicBezTo>
                  <a:close/>
                  <a:moveTo>
                    <a:pt x="71" y="1178"/>
                  </a:moveTo>
                  <a:lnTo>
                    <a:pt x="8" y="1178"/>
                  </a:lnTo>
                  <a:cubicBezTo>
                    <a:pt x="6" y="1178"/>
                    <a:pt x="4" y="1177"/>
                    <a:pt x="2" y="1176"/>
                  </a:cubicBezTo>
                  <a:cubicBezTo>
                    <a:pt x="1" y="1174"/>
                    <a:pt x="0" y="1172"/>
                    <a:pt x="0" y="1170"/>
                  </a:cubicBezTo>
                  <a:lnTo>
                    <a:pt x="1" y="1121"/>
                  </a:lnTo>
                  <a:cubicBezTo>
                    <a:pt x="1" y="1117"/>
                    <a:pt x="5" y="1113"/>
                    <a:pt x="9" y="1113"/>
                  </a:cubicBezTo>
                  <a:cubicBezTo>
                    <a:pt x="14" y="1113"/>
                    <a:pt x="17" y="1117"/>
                    <a:pt x="17" y="1121"/>
                  </a:cubicBezTo>
                  <a:lnTo>
                    <a:pt x="16" y="1170"/>
                  </a:lnTo>
                  <a:lnTo>
                    <a:pt x="8" y="1162"/>
                  </a:lnTo>
                  <a:lnTo>
                    <a:pt x="71" y="1162"/>
                  </a:lnTo>
                  <a:cubicBezTo>
                    <a:pt x="75" y="1162"/>
                    <a:pt x="79" y="1166"/>
                    <a:pt x="79" y="1170"/>
                  </a:cubicBezTo>
                  <a:cubicBezTo>
                    <a:pt x="79" y="1175"/>
                    <a:pt x="75" y="1178"/>
                    <a:pt x="71" y="1178"/>
                  </a:cubicBezTo>
                  <a:close/>
                  <a:moveTo>
                    <a:pt x="3" y="1041"/>
                  </a:moveTo>
                  <a:lnTo>
                    <a:pt x="6" y="929"/>
                  </a:lnTo>
                  <a:cubicBezTo>
                    <a:pt x="6" y="924"/>
                    <a:pt x="10" y="921"/>
                    <a:pt x="14" y="921"/>
                  </a:cubicBezTo>
                  <a:cubicBezTo>
                    <a:pt x="19" y="921"/>
                    <a:pt x="22" y="925"/>
                    <a:pt x="22" y="929"/>
                  </a:cubicBezTo>
                  <a:lnTo>
                    <a:pt x="19" y="1041"/>
                  </a:lnTo>
                  <a:cubicBezTo>
                    <a:pt x="19" y="1046"/>
                    <a:pt x="15" y="1049"/>
                    <a:pt x="11" y="1049"/>
                  </a:cubicBezTo>
                  <a:cubicBezTo>
                    <a:pt x="7" y="1049"/>
                    <a:pt x="3" y="1045"/>
                    <a:pt x="3" y="1041"/>
                  </a:cubicBezTo>
                  <a:close/>
                  <a:moveTo>
                    <a:pt x="8" y="849"/>
                  </a:moveTo>
                  <a:lnTo>
                    <a:pt x="11" y="737"/>
                  </a:lnTo>
                  <a:cubicBezTo>
                    <a:pt x="11" y="732"/>
                    <a:pt x="14" y="729"/>
                    <a:pt x="19" y="729"/>
                  </a:cubicBezTo>
                  <a:cubicBezTo>
                    <a:pt x="23" y="729"/>
                    <a:pt x="27" y="733"/>
                    <a:pt x="27" y="737"/>
                  </a:cubicBezTo>
                  <a:lnTo>
                    <a:pt x="24" y="849"/>
                  </a:lnTo>
                  <a:cubicBezTo>
                    <a:pt x="24" y="854"/>
                    <a:pt x="20" y="857"/>
                    <a:pt x="16" y="857"/>
                  </a:cubicBezTo>
                  <a:cubicBezTo>
                    <a:pt x="11" y="857"/>
                    <a:pt x="8" y="853"/>
                    <a:pt x="8" y="849"/>
                  </a:cubicBezTo>
                  <a:close/>
                  <a:moveTo>
                    <a:pt x="13" y="657"/>
                  </a:moveTo>
                  <a:lnTo>
                    <a:pt x="15" y="545"/>
                  </a:lnTo>
                  <a:cubicBezTo>
                    <a:pt x="16" y="540"/>
                    <a:pt x="19" y="537"/>
                    <a:pt x="24" y="537"/>
                  </a:cubicBezTo>
                  <a:cubicBezTo>
                    <a:pt x="28" y="537"/>
                    <a:pt x="32" y="541"/>
                    <a:pt x="31" y="545"/>
                  </a:cubicBezTo>
                  <a:lnTo>
                    <a:pt x="29" y="657"/>
                  </a:lnTo>
                  <a:cubicBezTo>
                    <a:pt x="29" y="662"/>
                    <a:pt x="25" y="665"/>
                    <a:pt x="20" y="665"/>
                  </a:cubicBezTo>
                  <a:cubicBezTo>
                    <a:pt x="16" y="665"/>
                    <a:pt x="13" y="661"/>
                    <a:pt x="13" y="657"/>
                  </a:cubicBezTo>
                  <a:close/>
                  <a:moveTo>
                    <a:pt x="17" y="465"/>
                  </a:moveTo>
                  <a:lnTo>
                    <a:pt x="20" y="352"/>
                  </a:lnTo>
                  <a:cubicBezTo>
                    <a:pt x="20" y="348"/>
                    <a:pt x="24" y="345"/>
                    <a:pt x="28" y="345"/>
                  </a:cubicBezTo>
                  <a:cubicBezTo>
                    <a:pt x="33" y="345"/>
                    <a:pt x="36" y="348"/>
                    <a:pt x="36" y="353"/>
                  </a:cubicBezTo>
                  <a:lnTo>
                    <a:pt x="33" y="465"/>
                  </a:lnTo>
                  <a:cubicBezTo>
                    <a:pt x="33" y="469"/>
                    <a:pt x="30" y="473"/>
                    <a:pt x="25" y="473"/>
                  </a:cubicBezTo>
                  <a:cubicBezTo>
                    <a:pt x="21" y="473"/>
                    <a:pt x="17" y="469"/>
                    <a:pt x="17" y="465"/>
                  </a:cubicBezTo>
                  <a:close/>
                  <a:moveTo>
                    <a:pt x="22" y="272"/>
                  </a:moveTo>
                  <a:lnTo>
                    <a:pt x="25" y="160"/>
                  </a:lnTo>
                  <a:cubicBezTo>
                    <a:pt x="25" y="156"/>
                    <a:pt x="29" y="152"/>
                    <a:pt x="33" y="153"/>
                  </a:cubicBezTo>
                  <a:cubicBezTo>
                    <a:pt x="38" y="153"/>
                    <a:pt x="41" y="156"/>
                    <a:pt x="41" y="161"/>
                  </a:cubicBezTo>
                  <a:lnTo>
                    <a:pt x="38" y="273"/>
                  </a:lnTo>
                  <a:cubicBezTo>
                    <a:pt x="38" y="277"/>
                    <a:pt x="34" y="281"/>
                    <a:pt x="30" y="281"/>
                  </a:cubicBezTo>
                  <a:cubicBezTo>
                    <a:pt x="26" y="281"/>
                    <a:pt x="22" y="277"/>
                    <a:pt x="22" y="272"/>
                  </a:cubicBezTo>
                  <a:close/>
                  <a:moveTo>
                    <a:pt x="27" y="80"/>
                  </a:moveTo>
                  <a:lnTo>
                    <a:pt x="29" y="8"/>
                  </a:lnTo>
                  <a:cubicBezTo>
                    <a:pt x="29" y="4"/>
                    <a:pt x="32" y="0"/>
                    <a:pt x="37" y="1"/>
                  </a:cubicBezTo>
                  <a:cubicBezTo>
                    <a:pt x="41" y="1"/>
                    <a:pt x="45" y="4"/>
                    <a:pt x="45" y="9"/>
                  </a:cubicBezTo>
                  <a:lnTo>
                    <a:pt x="43" y="81"/>
                  </a:lnTo>
                  <a:cubicBezTo>
                    <a:pt x="43" y="85"/>
                    <a:pt x="39" y="89"/>
                    <a:pt x="35" y="89"/>
                  </a:cubicBezTo>
                  <a:cubicBezTo>
                    <a:pt x="30" y="88"/>
                    <a:pt x="27" y="85"/>
                    <a:pt x="27" y="80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588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9303" name="组合 193"/>
            <p:cNvGrpSpPr/>
            <p:nvPr/>
          </p:nvGrpSpPr>
          <p:grpSpPr>
            <a:xfrm>
              <a:off x="6431887" y="2782059"/>
              <a:ext cx="884784" cy="307777"/>
              <a:chOff x="6431887" y="2782059"/>
              <a:chExt cx="884784" cy="307777"/>
            </a:xfrm>
          </p:grpSpPr>
          <p:sp>
            <p:nvSpPr>
              <p:cNvPr id="9312" name="Rectangle 107"/>
              <p:cNvSpPr/>
              <p:nvPr/>
            </p:nvSpPr>
            <p:spPr>
              <a:xfrm>
                <a:off x="6431887" y="2782059"/>
                <a:ext cx="384721" cy="3077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>
                  <a:buNone/>
                </a:pPr>
                <a:r>
                  <a:rPr lang="zh-CN" altLang="zh-CN" sz="2000" dirty="0">
                    <a:solidFill>
                      <a:srgbClr val="0070C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alu</a:t>
                </a:r>
                <a:endParaRPr lang="zh-CN" altLang="zh-CN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313" name="Rectangle 108"/>
              <p:cNvSpPr/>
              <p:nvPr/>
            </p:nvSpPr>
            <p:spPr>
              <a:xfrm>
                <a:off x="6808124" y="2782059"/>
                <a:ext cx="128240" cy="3077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>
                  <a:buNone/>
                </a:pPr>
                <a:r>
                  <a:rPr lang="zh-CN" altLang="zh-CN" sz="2000" dirty="0">
                    <a:solidFill>
                      <a:srgbClr val="0070C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_</a:t>
                </a:r>
                <a:endParaRPr lang="zh-CN" altLang="zh-CN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314" name="Rectangle 109"/>
              <p:cNvSpPr/>
              <p:nvPr/>
            </p:nvSpPr>
            <p:spPr>
              <a:xfrm>
                <a:off x="6931950" y="2782059"/>
                <a:ext cx="384721" cy="3077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>
                  <a:buNone/>
                </a:pPr>
                <a:r>
                  <a:rPr lang="zh-CN" altLang="zh-CN" sz="2000" dirty="0">
                    <a:solidFill>
                      <a:srgbClr val="0070C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mux</a:t>
                </a:r>
                <a:endParaRPr lang="zh-CN" altLang="zh-CN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9304" name="Freeform 73"/>
            <p:cNvSpPr/>
            <p:nvPr/>
          </p:nvSpPr>
          <p:spPr>
            <a:xfrm>
              <a:off x="7723187" y="3417888"/>
              <a:ext cx="136525" cy="66675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0"/>
                </a:cxn>
              </a:cxnLst>
              <a:pathLst>
                <a:path w="86" h="42">
                  <a:moveTo>
                    <a:pt x="86" y="0"/>
                  </a:moveTo>
                  <a:lnTo>
                    <a:pt x="43" y="42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305" name="Line 23"/>
            <p:cNvSpPr/>
            <p:nvPr/>
          </p:nvSpPr>
          <p:spPr>
            <a:xfrm flipH="1">
              <a:off x="9488487" y="3338513"/>
              <a:ext cx="127000" cy="61913"/>
            </a:xfrm>
            <a:prstGeom prst="line">
              <a:avLst/>
            </a:prstGeom>
            <a:ln w="1587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06" name="Line 78"/>
            <p:cNvSpPr/>
            <p:nvPr/>
          </p:nvSpPr>
          <p:spPr>
            <a:xfrm>
              <a:off x="9544050" y="3297238"/>
              <a:ext cx="0" cy="153988"/>
            </a:xfrm>
            <a:prstGeom prst="line">
              <a:avLst/>
            </a:prstGeom>
            <a:ln w="1587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07" name="Freeform 79"/>
            <p:cNvSpPr/>
            <p:nvPr/>
          </p:nvSpPr>
          <p:spPr>
            <a:xfrm>
              <a:off x="9475787" y="3436938"/>
              <a:ext cx="136525" cy="68263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0"/>
                </a:cxn>
              </a:cxnLst>
              <a:pathLst>
                <a:path w="86" h="43">
                  <a:moveTo>
                    <a:pt x="86" y="0"/>
                  </a:moveTo>
                  <a:lnTo>
                    <a:pt x="43" y="43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cxnSp>
          <p:nvCxnSpPr>
            <p:cNvPr id="199" name="直接连接符 198"/>
            <p:cNvCxnSpPr>
              <a:stCxn id="9302" idx="51"/>
            </p:cNvCxnSpPr>
            <p:nvPr/>
          </p:nvCxnSpPr>
          <p:spPr>
            <a:xfrm flipV="1">
              <a:off x="6374131" y="2763199"/>
              <a:ext cx="4049271" cy="8776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09" name="Line 19"/>
            <p:cNvSpPr/>
            <p:nvPr/>
          </p:nvSpPr>
          <p:spPr>
            <a:xfrm flipH="1">
              <a:off x="9514481" y="2230910"/>
              <a:ext cx="119063" cy="100807"/>
            </a:xfrm>
            <a:prstGeom prst="line">
              <a:avLst/>
            </a:prstGeom>
            <a:ln w="1587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10" name="Rectangle 84"/>
            <p:cNvSpPr/>
            <p:nvPr/>
          </p:nvSpPr>
          <p:spPr>
            <a:xfrm>
              <a:off x="9303935" y="3299897"/>
              <a:ext cx="153888" cy="1846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/>
              <a:r>
                <a:rPr lang="zh-CN" altLang="zh-CN" sz="1200" b="1" i="1" dirty="0">
                  <a:solidFill>
                    <a:srgbClr val="7030A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16</a:t>
              </a:r>
              <a:endParaRPr lang="zh-CN" altLang="zh-CN" sz="1400" b="1" i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11" name="Rectangle 84"/>
            <p:cNvSpPr/>
            <p:nvPr/>
          </p:nvSpPr>
          <p:spPr>
            <a:xfrm>
              <a:off x="9669443" y="2368035"/>
              <a:ext cx="91882" cy="2036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/>
              <a:r>
                <a:rPr lang="en-US" sz="1200" b="1" i="1" dirty="0">
                  <a:solidFill>
                    <a:srgbClr val="7030A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8</a:t>
              </a:r>
              <a:endParaRPr lang="en-US" sz="1400" b="1" i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8"/>
          <p:cNvSpPr/>
          <p:nvPr/>
        </p:nvSpPr>
        <p:spPr>
          <a:xfrm rot="-5400000">
            <a:off x="9339263" y="1398588"/>
            <a:ext cx="1841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Calibri" panose="020F0502020204030204" pitchFamily="34" charset="0"/>
            </a:endParaRPr>
          </a:p>
        </p:txBody>
      </p:sp>
      <p:sp>
        <p:nvSpPr>
          <p:cNvPr id="10243" name="标题 1"/>
          <p:cNvSpPr>
            <a:spLocks noGrp="1"/>
          </p:cNvSpPr>
          <p:nvPr>
            <p:ph type="title"/>
          </p:nvPr>
        </p:nvSpPr>
        <p:spPr>
          <a:xfrm>
            <a:off x="838200" y="22225"/>
            <a:ext cx="10515600" cy="1325563"/>
          </a:xfrm>
          <a:ln/>
        </p:spPr>
        <p:txBody>
          <a:bodyPr vert="horz" wrap="square" lIns="91440" tIns="45720" rIns="91440" bIns="45720" anchor="ctr" anchorCtr="0"/>
          <a:p>
            <a:r>
              <a:rPr lang="en-US" altLang="zh-CN" sz="5400" b="1" dirty="0">
                <a:solidFill>
                  <a:srgbClr val="00B0F0"/>
                </a:solidFill>
              </a:rPr>
              <a:t>Top structure </a:t>
            </a:r>
            <a:r>
              <a:rPr lang="en-GB" altLang="en-US" sz="5400" b="1" dirty="0">
                <a:solidFill>
                  <a:srgbClr val="00B0F0"/>
                </a:solidFill>
              </a:rPr>
              <a:t>of our CPU</a:t>
            </a:r>
            <a:endParaRPr lang="zh-CN" altLang="en-US" sz="5400" dirty="0"/>
          </a:p>
        </p:txBody>
      </p:sp>
      <p:grpSp>
        <p:nvGrpSpPr>
          <p:cNvPr id="10244" name="组合 8"/>
          <p:cNvGrpSpPr/>
          <p:nvPr/>
        </p:nvGrpSpPr>
        <p:grpSpPr>
          <a:xfrm>
            <a:off x="2124075" y="1214438"/>
            <a:ext cx="7888288" cy="5270500"/>
            <a:chOff x="577489" y="993775"/>
            <a:chExt cx="8124114" cy="5270500"/>
          </a:xfrm>
        </p:grpSpPr>
        <p:sp>
          <p:nvSpPr>
            <p:cNvPr id="10245" name="TextBox 6"/>
            <p:cNvSpPr txBox="1"/>
            <p:nvPr/>
          </p:nvSpPr>
          <p:spPr>
            <a:xfrm>
              <a:off x="2078535" y="1311274"/>
              <a:ext cx="1590178" cy="4688915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1"/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en-US" altLang="zh-CN" sz="24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2400" dirty="0">
                  <a:solidFill>
                    <a:srgbClr val="00B0F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Data</a:t>
              </a:r>
              <a:endParaRPr lang="en-US" altLang="zh-CN" sz="24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2400" dirty="0">
                  <a:solidFill>
                    <a:srgbClr val="00B0F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path</a:t>
              </a:r>
              <a:endParaRPr lang="zh-CN" altLang="en-US" sz="24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46" name="TextBox 7"/>
            <p:cNvSpPr txBox="1"/>
            <p:nvPr/>
          </p:nvSpPr>
          <p:spPr>
            <a:xfrm>
              <a:off x="6075363" y="1266824"/>
              <a:ext cx="1555334" cy="4733365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1"/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en-US" altLang="zh-CN" sz="24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2400" dirty="0">
                  <a:solidFill>
                    <a:srgbClr val="00B0F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Control</a:t>
              </a:r>
              <a:endParaRPr lang="en-US" altLang="zh-CN" sz="24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2400" dirty="0">
                  <a:solidFill>
                    <a:srgbClr val="00B0F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Unit</a:t>
              </a:r>
              <a:endParaRPr lang="zh-CN" altLang="en-US" sz="24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47" name="矩形 8"/>
            <p:cNvSpPr/>
            <p:nvPr/>
          </p:nvSpPr>
          <p:spPr>
            <a:xfrm>
              <a:off x="577489" y="993775"/>
              <a:ext cx="8124114" cy="527050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248" name="左箭头 36"/>
            <p:cNvSpPr/>
            <p:nvPr/>
          </p:nvSpPr>
          <p:spPr>
            <a:xfrm>
              <a:off x="3708400" y="1727200"/>
              <a:ext cx="2339975" cy="674688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chemeClr val="bg1"/>
            </a:solidFill>
            <a:ln w="25400" cap="flat" cmpd="sng">
              <a:solidFill>
                <a:srgbClr val="385D8A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1600" b="1" dirty="0">
                  <a:ea typeface="宋体" panose="02010600030101010101" pitchFamily="2" charset="-122"/>
                </a:rPr>
                <a:t>regs control signals</a:t>
              </a:r>
              <a:endParaRPr lang="zh-CN" altLang="en-US" sz="1600" b="1" dirty="0">
                <a:ea typeface="宋体" panose="02010600030101010101" pitchFamily="2" charset="-122"/>
              </a:endParaRPr>
            </a:p>
          </p:txBody>
        </p:sp>
        <p:sp>
          <p:nvSpPr>
            <p:cNvPr id="10249" name="TextBox 52"/>
            <p:cNvSpPr txBox="1"/>
            <p:nvPr/>
          </p:nvSpPr>
          <p:spPr>
            <a:xfrm>
              <a:off x="714432" y="1048544"/>
              <a:ext cx="908050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CPU</a:t>
              </a:r>
              <a:endPara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50" name="矩形 2"/>
            <p:cNvSpPr/>
            <p:nvPr/>
          </p:nvSpPr>
          <p:spPr>
            <a:xfrm>
              <a:off x="2629554" y="1751013"/>
              <a:ext cx="868362" cy="62706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reg group</a:t>
              </a: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51" name="矩形 22"/>
            <p:cNvSpPr/>
            <p:nvPr/>
          </p:nvSpPr>
          <p:spPr>
            <a:xfrm>
              <a:off x="2687637" y="2770836"/>
              <a:ext cx="868362" cy="40481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alu</a:t>
              </a:r>
              <a:endParaRPr lang="zh-CN" altLang="en-US" sz="1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52" name="矩形 23"/>
            <p:cNvSpPr/>
            <p:nvPr/>
          </p:nvSpPr>
          <p:spPr>
            <a:xfrm>
              <a:off x="2629554" y="4436304"/>
              <a:ext cx="868362" cy="40481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pc</a:t>
              </a: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53" name="矩形 24"/>
            <p:cNvSpPr/>
            <p:nvPr/>
          </p:nvSpPr>
          <p:spPr>
            <a:xfrm>
              <a:off x="2271664" y="3576172"/>
              <a:ext cx="1337740" cy="40481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alu_mux</a:t>
              </a: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54" name="矩形 25"/>
            <p:cNvSpPr/>
            <p:nvPr/>
          </p:nvSpPr>
          <p:spPr>
            <a:xfrm>
              <a:off x="6395319" y="1949731"/>
              <a:ext cx="868362" cy="62706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1"/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ir</a:t>
              </a: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55" name="矩形 26"/>
            <p:cNvSpPr/>
            <p:nvPr/>
          </p:nvSpPr>
          <p:spPr>
            <a:xfrm>
              <a:off x="6267241" y="3869297"/>
              <a:ext cx="1171575" cy="62706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state</a:t>
              </a:r>
              <a:endPara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transition</a:t>
              </a:r>
              <a:endParaRPr lang="zh-CN" altLang="en-US" sz="1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56" name="左箭头 37"/>
            <p:cNvSpPr/>
            <p:nvPr/>
          </p:nvSpPr>
          <p:spPr>
            <a:xfrm>
              <a:off x="3681413" y="4279142"/>
              <a:ext cx="2384425" cy="719138"/>
            </a:xfrm>
            <a:prstGeom prst="leftArrow">
              <a:avLst>
                <a:gd name="adj1" fmla="val 50000"/>
                <a:gd name="adj2" fmla="val 49996"/>
              </a:avLst>
            </a:prstGeom>
            <a:solidFill>
              <a:schemeClr val="bg1"/>
            </a:solidFill>
            <a:ln w="25400" cap="flat" cmpd="sng">
              <a:solidFill>
                <a:srgbClr val="385D8A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1600" b="1" dirty="0">
                  <a:ea typeface="宋体" panose="02010600030101010101" pitchFamily="2" charset="-122"/>
                </a:rPr>
                <a:t>pc control signals</a:t>
              </a:r>
              <a:endParaRPr lang="zh-CN" altLang="en-US" sz="1600" b="1" dirty="0">
                <a:ea typeface="宋体" panose="02010600030101010101" pitchFamily="2" charset="-122"/>
              </a:endParaRPr>
            </a:p>
          </p:txBody>
        </p:sp>
        <p:sp>
          <p:nvSpPr>
            <p:cNvPr id="10257" name="文本框 3"/>
            <p:cNvSpPr txBox="1"/>
            <p:nvPr/>
          </p:nvSpPr>
          <p:spPr>
            <a:xfrm>
              <a:off x="4193990" y="1648386"/>
              <a:ext cx="1854199" cy="2762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1200" b="1" dirty="0">
                  <a:latin typeface="Arial" panose="020B0604020202020204" pitchFamily="34" charset="0"/>
                  <a:ea typeface="宋体" panose="02010600030101010101" pitchFamily="2" charset="-122"/>
                </a:rPr>
                <a:t>en_group, reg_en,…</a:t>
              </a:r>
              <a:endParaRPr lang="zh-CN" altLang="en-US" sz="12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0258" name="直接箭头连接符 5"/>
            <p:cNvCxnSpPr>
              <a:stCxn id="10254" idx="2"/>
              <a:endCxn id="10255" idx="0"/>
            </p:cNvCxnSpPr>
            <p:nvPr/>
          </p:nvCxnSpPr>
          <p:spPr>
            <a:xfrm>
              <a:off x="6829500" y="2576793"/>
              <a:ext cx="23529" cy="1292504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10259" name="文本框 32"/>
            <p:cNvSpPr txBox="1"/>
            <p:nvPr/>
          </p:nvSpPr>
          <p:spPr>
            <a:xfrm>
              <a:off x="6829499" y="3142784"/>
              <a:ext cx="858838" cy="2762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1200" b="1" dirty="0">
                  <a:latin typeface="Arial" panose="020B0604020202020204" pitchFamily="34" charset="0"/>
                  <a:ea typeface="宋体" panose="02010600030101010101" pitchFamily="2" charset="-122"/>
                </a:rPr>
                <a:t>Opcode</a:t>
              </a:r>
              <a:endParaRPr lang="zh-CN" altLang="en-US" sz="12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60" name="文本框 34"/>
            <p:cNvSpPr txBox="1"/>
            <p:nvPr/>
          </p:nvSpPr>
          <p:spPr>
            <a:xfrm>
              <a:off x="4189413" y="4226242"/>
              <a:ext cx="1854198" cy="2762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1200" b="1" dirty="0">
                  <a:latin typeface="Arial" panose="020B0604020202020204" pitchFamily="34" charset="0"/>
                  <a:ea typeface="宋体" panose="02010600030101010101" pitchFamily="2" charset="-122"/>
                </a:rPr>
                <a:t>en_pc, pc_ctrl,…</a:t>
              </a:r>
              <a:endParaRPr lang="zh-CN" altLang="en-US" sz="12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61" name="左箭头 37"/>
            <p:cNvSpPr/>
            <p:nvPr/>
          </p:nvSpPr>
          <p:spPr>
            <a:xfrm>
              <a:off x="3668713" y="5138738"/>
              <a:ext cx="2384425" cy="719137"/>
            </a:xfrm>
            <a:prstGeom prst="leftArrow">
              <a:avLst>
                <a:gd name="adj1" fmla="val 50000"/>
                <a:gd name="adj2" fmla="val 49996"/>
              </a:avLst>
            </a:prstGeom>
            <a:solidFill>
              <a:schemeClr val="bg1"/>
            </a:solidFill>
            <a:ln w="25400" cap="flat" cmpd="sng">
              <a:solidFill>
                <a:srgbClr val="385D8A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1600" b="1" dirty="0">
                  <a:ea typeface="宋体" panose="02010600030101010101" pitchFamily="2" charset="-122"/>
                </a:rPr>
                <a:t>Other signals</a:t>
              </a:r>
              <a:endParaRPr lang="zh-CN" altLang="en-US" sz="1600" b="1" dirty="0">
                <a:ea typeface="宋体" panose="02010600030101010101" pitchFamily="2" charset="-122"/>
              </a:endParaRPr>
            </a:p>
          </p:txBody>
        </p:sp>
        <p:sp>
          <p:nvSpPr>
            <p:cNvPr id="10262" name="左箭头 37"/>
            <p:cNvSpPr/>
            <p:nvPr/>
          </p:nvSpPr>
          <p:spPr>
            <a:xfrm>
              <a:off x="3681413" y="2613673"/>
              <a:ext cx="2384425" cy="719138"/>
            </a:xfrm>
            <a:prstGeom prst="leftArrow">
              <a:avLst>
                <a:gd name="adj1" fmla="val 50000"/>
                <a:gd name="adj2" fmla="val 49996"/>
              </a:avLst>
            </a:prstGeom>
            <a:solidFill>
              <a:schemeClr val="bg1"/>
            </a:solidFill>
            <a:ln w="25400" cap="flat" cmpd="sng">
              <a:solidFill>
                <a:srgbClr val="385D8A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1600" b="1" dirty="0">
                  <a:ea typeface="宋体" panose="02010600030101010101" pitchFamily="2" charset="-122"/>
                </a:rPr>
                <a:t>alu control signals</a:t>
              </a:r>
              <a:endParaRPr lang="zh-CN" altLang="en-US" sz="1600" b="1" dirty="0">
                <a:ea typeface="宋体" panose="02010600030101010101" pitchFamily="2" charset="-122"/>
              </a:endParaRPr>
            </a:p>
          </p:txBody>
        </p:sp>
        <p:sp>
          <p:nvSpPr>
            <p:cNvPr id="10263" name="文本框 33"/>
            <p:cNvSpPr txBox="1"/>
            <p:nvPr/>
          </p:nvSpPr>
          <p:spPr>
            <a:xfrm>
              <a:off x="4455195" y="2526360"/>
              <a:ext cx="1620168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1200" b="1" dirty="0">
                  <a:latin typeface="Arial" panose="020B0604020202020204" pitchFamily="34" charset="0"/>
                  <a:ea typeface="宋体" panose="02010600030101010101" pitchFamily="2" charset="-122"/>
                </a:rPr>
                <a:t>alu_func,…</a:t>
              </a:r>
              <a:endParaRPr lang="zh-CN" altLang="en-US" sz="12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64" name="左箭头 37"/>
            <p:cNvSpPr/>
            <p:nvPr/>
          </p:nvSpPr>
          <p:spPr>
            <a:xfrm>
              <a:off x="3681413" y="3419009"/>
              <a:ext cx="2384425" cy="719138"/>
            </a:xfrm>
            <a:prstGeom prst="leftArrow">
              <a:avLst>
                <a:gd name="adj1" fmla="val 50000"/>
                <a:gd name="adj2" fmla="val 49996"/>
              </a:avLst>
            </a:prstGeom>
            <a:solidFill>
              <a:schemeClr val="bg1"/>
            </a:solidFill>
            <a:ln w="25400" cap="flat" cmpd="sng">
              <a:solidFill>
                <a:srgbClr val="385D8A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/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1600" b="1" dirty="0">
                  <a:ea typeface="宋体" panose="02010600030101010101" pitchFamily="2" charset="-122"/>
                </a:rPr>
                <a:t> alu_mux control signals</a:t>
              </a:r>
              <a:endParaRPr lang="zh-CN" altLang="en-US" sz="1600" b="1" dirty="0">
                <a:ea typeface="宋体" panose="02010600030101010101" pitchFamily="2" charset="-122"/>
              </a:endParaRPr>
            </a:p>
          </p:txBody>
        </p:sp>
        <p:sp>
          <p:nvSpPr>
            <p:cNvPr id="10265" name="文本框 34"/>
            <p:cNvSpPr txBox="1"/>
            <p:nvPr/>
          </p:nvSpPr>
          <p:spPr>
            <a:xfrm>
              <a:off x="4401263" y="3332811"/>
              <a:ext cx="1642347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171450" indent="-171450" algn="l" defTabSz="685800" rtl="0" eaLnBrk="0" fontAlgn="base" hangingPunct="0">
                <a:lnSpc>
                  <a:spcPct val="90000"/>
                </a:lnSpc>
                <a:spcBef>
                  <a:spcPts val="7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91440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1200" b="1" dirty="0">
                  <a:latin typeface="Arial" panose="020B0604020202020204" pitchFamily="34" charset="0"/>
                  <a:ea typeface="宋体" panose="02010600030101010101" pitchFamily="2" charset="-122"/>
                </a:rPr>
                <a:t>alu_in_sel,…</a:t>
              </a:r>
              <a:endParaRPr lang="zh-CN" altLang="en-US" sz="12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8"/>
          <p:cNvSpPr/>
          <p:nvPr/>
        </p:nvSpPr>
        <p:spPr>
          <a:xfrm rot="-5400000">
            <a:off x="9339263" y="1398588"/>
            <a:ext cx="1841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Calibri" panose="020F0502020204030204" pitchFamily="34" charset="0"/>
            </a:endParaRPr>
          </a:p>
        </p:txBody>
      </p:sp>
      <p:sp>
        <p:nvSpPr>
          <p:cNvPr id="11267" name="标题 1"/>
          <p:cNvSpPr>
            <a:spLocks noGrp="1"/>
          </p:cNvSpPr>
          <p:nvPr>
            <p:ph type="title"/>
          </p:nvPr>
        </p:nvSpPr>
        <p:spPr>
          <a:xfrm>
            <a:off x="854075" y="0"/>
            <a:ext cx="10515600" cy="1325563"/>
          </a:xfrm>
          <a:ln/>
        </p:spPr>
        <p:txBody>
          <a:bodyPr vert="horz" wrap="square" lIns="91440" tIns="45720" rIns="91440" bIns="45720" anchor="ctr" anchorCtr="0"/>
          <a:p>
            <a:r>
              <a:rPr lang="en-US" altLang="zh-CN" sz="5400" b="1" dirty="0">
                <a:solidFill>
                  <a:srgbClr val="00B0F0"/>
                </a:solidFill>
              </a:rPr>
              <a:t>Instruction Set</a:t>
            </a:r>
            <a:endParaRPr lang="zh-CN" altLang="en-US" sz="54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17563" y="969963"/>
          <a:ext cx="10979150" cy="42306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7471"/>
                <a:gridCol w="1358484"/>
                <a:gridCol w="1158194"/>
                <a:gridCol w="1611023"/>
                <a:gridCol w="2246723"/>
                <a:gridCol w="2917256"/>
              </a:tblGrid>
              <a:tr h="5036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Opcode</a:t>
                      </a:r>
                      <a:endParaRPr lang="zh-CN" altLang="en-US" sz="24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Rd</a:t>
                      </a:r>
                      <a:endParaRPr lang="zh-CN" altLang="en-US" sz="24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/>
                        <a:t>Rs</a:t>
                      </a:r>
                      <a:endParaRPr lang="zh-CN" altLang="en-US" sz="24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/>
                        <a:t>Imme</a:t>
                      </a:r>
                      <a:endParaRPr lang="zh-CN" altLang="en-US" sz="2400" dirty="0"/>
                    </a:p>
                  </a:txBody>
                  <a:tcPr marL="91435" marR="91435" marT="45725" marB="45725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assembly</a:t>
                      </a:r>
                      <a:endParaRPr lang="zh-CN" altLang="en-US" sz="2400" dirty="0"/>
                    </a:p>
                  </a:txBody>
                  <a:tcPr marL="91435" marR="91435" marT="45725" marB="45725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function</a:t>
                      </a:r>
                      <a:endParaRPr lang="zh-CN" altLang="en-US" sz="2400" dirty="0"/>
                    </a:p>
                  </a:txBody>
                  <a:tcPr marL="91435" marR="91435" marT="45725" marB="45725" anchor="ctr"/>
                </a:tc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4bit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2bit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2bit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8bit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 vMerge="1">
                  <a:tcPr marL="91439" marR="91439" marT="45725" marB="45725"/>
                </a:tc>
                <a:tc vMerge="1">
                  <a:tcPr marL="91439" marR="91439" marT="45725" marB="45725"/>
                </a:tc>
              </a:tr>
              <a:tr h="77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</a:t>
                      </a:r>
                      <a:endParaRPr lang="en-US" altLang="zh-CN" sz="2000" dirty="0"/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0001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en-US" altLang="zh-CN" sz="2000" dirty="0"/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10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  <a:endParaRPr lang="en-US" altLang="zh-CN" sz="2000" dirty="0"/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01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00000010</a:t>
                      </a:r>
                      <a:endParaRPr lang="en-US" altLang="zh-CN" sz="2000" dirty="0"/>
                    </a:p>
                    <a:p>
                      <a:pPr algn="ctr"/>
                      <a:r>
                        <a:rPr lang="en-US" altLang="zh-CN" sz="2000" dirty="0" err="1">
                          <a:solidFill>
                            <a:srgbClr val="00B050"/>
                          </a:solidFill>
                        </a:rPr>
                        <a:t>xxxxxxxx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/>
                        <a:t>Mov</a:t>
                      </a:r>
                      <a:r>
                        <a:rPr lang="en-US" altLang="zh-CN" sz="2000" dirty="0"/>
                        <a:t> R1 #02</a:t>
                      </a:r>
                      <a:endParaRPr lang="en-US" altLang="zh-CN" sz="2000" dirty="0"/>
                    </a:p>
                    <a:p>
                      <a:pPr algn="ctr"/>
                      <a:r>
                        <a:rPr lang="en-US" altLang="zh-CN" sz="2000" dirty="0" err="1">
                          <a:solidFill>
                            <a:srgbClr val="00B050"/>
                          </a:solidFill>
                        </a:rPr>
                        <a:t>Mov</a:t>
                      </a:r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 R2 R1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R1&lt;= 2</a:t>
                      </a:r>
                      <a:endParaRPr lang="en-US" altLang="zh-CN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R2&lt;=(R1)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5" marB="45725"/>
                </a:tc>
              </a:tr>
              <a:tr h="77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0010</a:t>
                      </a:r>
                      <a:endParaRPr lang="en-US" altLang="zh-CN" sz="2000" dirty="0"/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0011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en-US" altLang="zh-CN" sz="2000" dirty="0"/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01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  <a:endParaRPr lang="en-US" altLang="zh-CN" sz="2000" dirty="0"/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10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 00001000 </a:t>
                      </a:r>
                      <a:endParaRPr lang="en-US" altLang="zh-CN" sz="2000" dirty="0"/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>
                          <a:solidFill>
                            <a:srgbClr val="00B050"/>
                          </a:solidFill>
                        </a:rPr>
                        <a:t>xxxxxxxx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Add R1</a:t>
                      </a:r>
                      <a:r>
                        <a:rPr lang="en-US" altLang="zh-CN" sz="2000" baseline="0" dirty="0"/>
                        <a:t> #08</a:t>
                      </a:r>
                      <a:endParaRPr lang="en-US" altLang="zh-CN" sz="2000" baseline="0" dirty="0"/>
                    </a:p>
                    <a:p>
                      <a:pPr algn="ctr"/>
                      <a:r>
                        <a:rPr lang="en-US" altLang="zh-CN" sz="2000" baseline="0" dirty="0">
                          <a:solidFill>
                            <a:srgbClr val="00B050"/>
                          </a:solidFill>
                        </a:rPr>
                        <a:t>Add R1 R2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R1&lt;=(R1)+8</a:t>
                      </a:r>
                      <a:endParaRPr lang="en-US" altLang="zh-CN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R1&lt;=(R1)+(R2)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5" marB="45725"/>
                </a:tc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0101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Sub R1 R2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R1&lt;=(R1)-(R2)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0111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And R1 R2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/>
                        <a:t>R1&lt;= (R1) </a:t>
                      </a:r>
                      <a:r>
                        <a:rPr lang="en-US" altLang="zh-CN" sz="2000" dirty="0" err="1"/>
                        <a:t>bit_and</a:t>
                      </a:r>
                      <a:r>
                        <a:rPr lang="en-US" altLang="zh-CN" sz="2000" dirty="0"/>
                        <a:t> (R2)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1001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Or R1 R2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R1&lt;=(R1) </a:t>
                      </a:r>
                      <a:r>
                        <a:rPr lang="en-US" altLang="zh-CN" sz="2000" dirty="0" err="1"/>
                        <a:t>bit_or</a:t>
                      </a:r>
                      <a:r>
                        <a:rPr lang="en-US" altLang="zh-CN" sz="2000" dirty="0"/>
                        <a:t> (R2)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1010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00000001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       Jump #01</a:t>
                      </a:r>
                      <a:endParaRPr lang="en-US" altLang="zh-CN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                PC&lt;= 1</a:t>
                      </a:r>
                      <a:endParaRPr lang="en-US" altLang="zh-CN" sz="2000" dirty="0"/>
                    </a:p>
                  </a:txBody>
                  <a:tcPr marL="91435" marR="91435" marT="45725" marB="45725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081213" y="5300663"/>
            <a:ext cx="9288463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marR="0" indent="-28575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kern="1200" cap="none" spc="0" normalizeH="0" baseline="0" noProof="0" dirty="0">
                <a:latin typeface="+mn-lt"/>
                <a:ea typeface="+mn-ea"/>
                <a:cs typeface="+mn-cs"/>
              </a:rPr>
              <a:t>Opcode supports 16 instructions. So you can add other instructions, like shift, multiplication.</a:t>
            </a:r>
            <a:endParaRPr kumimoji="0" lang="en-US" altLang="zh-CN" kern="120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285750" marR="0" indent="-28575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kern="1200" cap="none" spc="0" normalizeH="0" baseline="0" noProof="0" dirty="0">
                <a:latin typeface="+mn-lt"/>
                <a:ea typeface="+mn-ea"/>
                <a:cs typeface="+mn-cs"/>
              </a:rPr>
              <a:t>Rd and </a:t>
            </a:r>
            <a:r>
              <a:rPr kumimoji="0" lang="en-US" altLang="zh-CN" kern="1200" cap="none" spc="0" normalizeH="0" baseline="0" noProof="0" dirty="0" err="1">
                <a:latin typeface="+mn-lt"/>
                <a:ea typeface="+mn-ea"/>
                <a:cs typeface="+mn-cs"/>
              </a:rPr>
              <a:t>Rs</a:t>
            </a:r>
            <a:r>
              <a:rPr kumimoji="0" lang="en-US" altLang="zh-CN" kern="1200" cap="none" spc="0" normalizeH="0" baseline="0" noProof="0" dirty="0">
                <a:latin typeface="+mn-lt"/>
                <a:ea typeface="+mn-ea"/>
                <a:cs typeface="+mn-cs"/>
              </a:rPr>
              <a:t> can be expressed in 2 bits that means you can operate 4 registers.</a:t>
            </a:r>
            <a:endParaRPr kumimoji="0" lang="en-US" altLang="zh-CN" kern="120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285750" marR="0" indent="-28575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kern="1200" cap="none" spc="0" normalizeH="0" baseline="0" noProof="0" dirty="0">
                <a:latin typeface="+mn-lt"/>
                <a:ea typeface="+mn-ea"/>
                <a:cs typeface="+mn-cs"/>
              </a:rPr>
              <a:t>Immediate data is expressed in 8 bits.</a:t>
            </a:r>
            <a:endParaRPr kumimoji="0" lang="en-US" altLang="zh-CN" kern="1200" cap="none" spc="0" normalizeH="0" baseline="0" noProof="0" dirty="0">
              <a:latin typeface="+mn-lt"/>
              <a:ea typeface="+mn-ea"/>
              <a:cs typeface="+mn-cs"/>
            </a:endParaRPr>
          </a:p>
          <a:p>
            <a:pPr marR="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kern="1200" cap="none" spc="0" normalizeH="0" baseline="0" noProof="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723900" y="15875"/>
            <a:ext cx="7886700" cy="1036638"/>
          </a:xfrm>
          <a:ln/>
        </p:spPr>
        <p:txBody>
          <a:bodyPr vert="horz" wrap="square" lIns="91440" tIns="45720" rIns="91440" bIns="45720" anchor="ctr" anchorCtr="0"/>
          <a:p>
            <a:r>
              <a:rPr lang="en-US" altLang="zh-CN" sz="5400" b="1" dirty="0">
                <a:solidFill>
                  <a:srgbClr val="00B0F0"/>
                </a:solidFill>
              </a:rPr>
              <a:t>State transition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sp>
        <p:nvSpPr>
          <p:cNvPr id="12291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900" dirty="0">
                <a:solidFill>
                  <a:srgbClr val="9D9D9D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900" dirty="0">
              <a:solidFill>
                <a:srgbClr val="9D9D9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29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8625" y="260350"/>
            <a:ext cx="7626350" cy="6461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147638" y="447675"/>
            <a:ext cx="10791825" cy="487363"/>
          </a:xfrm>
          <a:ln/>
        </p:spPr>
        <p:txBody>
          <a:bodyPr vert="horz" wrap="square" lIns="91440" tIns="45720" rIns="91440" bIns="45720" anchor="ctr" anchorCtr="0"/>
          <a:p>
            <a:r>
              <a:rPr lang="en-US" altLang="zh-CN" sz="5400" b="1" dirty="0">
                <a:solidFill>
                  <a:srgbClr val="00B0F0"/>
                </a:solidFill>
              </a:rPr>
              <a:t>Control signals &amp; state </a:t>
            </a:r>
            <a:r>
              <a:rPr lang="en-US" altLang="zh-CN" sz="5400" b="1" dirty="0">
                <a:solidFill>
                  <a:srgbClr val="00B0F0"/>
                </a:solidFill>
                <a:sym typeface="+mn-ea"/>
              </a:rPr>
              <a:t>signal </a:t>
            </a:r>
            <a:r>
              <a:rPr lang="en-US" altLang="zh-CN" sz="5400" b="1" dirty="0">
                <a:solidFill>
                  <a:srgbClr val="00B0F0"/>
                </a:solidFill>
              </a:rPr>
              <a:t>meaning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sp>
        <p:nvSpPr>
          <p:cNvPr id="12291" name="文本框 2"/>
          <p:cNvSpPr txBox="1"/>
          <p:nvPr/>
        </p:nvSpPr>
        <p:spPr>
          <a:xfrm>
            <a:off x="806450" y="935038"/>
            <a:ext cx="11385550" cy="5508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Arial Unicode MS" pitchFamily="34" charset="-122"/>
                <a:cs typeface="+mj-cs"/>
                <a:sym typeface="+mn-ea"/>
              </a:rPr>
              <a:t>Control signals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Arial Unicode MS" pitchFamily="34" charset="-122"/>
              <a:cs typeface="+mj-cs"/>
              <a:sym typeface="+mn-ea"/>
            </a:endParaRPr>
          </a:p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reg_group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   en_group:  enable signal, whether get datas from register group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reg_en:  enable signal, means whether enable 4 registers to store datas to registers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alu_mux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  <a:sym typeface="+mn-ea"/>
              </a:rPr>
              <a:t>alu_in_sel:  see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  <a:sym typeface="+mn-ea"/>
              </a:rPr>
              <a:t>PPT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  <a:sym typeface="+mn-ea"/>
              </a:rPr>
              <a:t> for the last class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  <a:sym typeface="+mn-ea"/>
              </a:rPr>
              <a:t>alu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alu_in_func:  see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  <a:sym typeface="+mn-ea"/>
              </a:rPr>
              <a:t>PPT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  <a:sym typeface="+mn-ea"/>
              </a:rPr>
              <a:t> for the last class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pc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   en_pc:  enable signal,  whether enable pc unit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   pc_ctrl:  mux signal,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if pc_ctrl = 00 means pc_out &lt;= pc_out 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		                          if pc_ctrl = 01 means pc_out &lt;= pc_out +1;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		                          if pc_ctrl = 10 means pc_out &lt;= offset;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Arial Unicode MS" pitchFamily="34" charset="-122"/>
                <a:cs typeface="+mj-cs"/>
                <a:sym typeface="+mn-ea"/>
              </a:rPr>
              <a:t>State signal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Arial Unicode MS" pitchFamily="34" charset="-122"/>
              <a:cs typeface="+mj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itchFamily="34" charset="-122"/>
                <a:cs typeface="+mj-cs"/>
                <a:sym typeface="+mn-ea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  <a:sym typeface="+mn-ea"/>
              </a:rPr>
              <a:t>alu_out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  <a:sym typeface="+mn-ea"/>
              </a:rPr>
              <a:t>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  <a:sym typeface="+mn-ea"/>
              </a:rPr>
              <a:t>status signal, whether the alu output is ready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文本框 4"/>
          <p:cNvSpPr txBox="1">
            <a:spLocks noChangeArrowheads="1"/>
          </p:cNvSpPr>
          <p:nvPr/>
        </p:nvSpPr>
        <p:spPr bwMode="auto">
          <a:xfrm>
            <a:off x="508000" y="187325"/>
            <a:ext cx="4902200" cy="9239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5400" b="1" kern="1200" cap="none" spc="0" normalizeH="0" baseline="0" noProof="0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Controller</a:t>
            </a:r>
            <a:r>
              <a:rPr kumimoji="0" lang="zh-CN" altLang="en-US" sz="5400" b="1" kern="1200" cap="none" spc="0" normalizeH="0" baseline="0" noProof="0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 Design</a:t>
            </a:r>
            <a:endParaRPr kumimoji="0" lang="zh-CN" altLang="en-US" sz="5400" b="1" kern="1200" cap="none" spc="0" normalizeH="0" baseline="0" noProof="0" dirty="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4339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3113" y="1011238"/>
            <a:ext cx="6548437" cy="93186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8" name="直接连接符 7"/>
          <p:cNvCxnSpPr/>
          <p:nvPr/>
        </p:nvCxnSpPr>
        <p:spPr>
          <a:xfrm flipH="1">
            <a:off x="2290763" y="1243013"/>
            <a:ext cx="10112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284413" y="1243013"/>
            <a:ext cx="0" cy="2762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2282825" y="4011613"/>
            <a:ext cx="1111250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343" name="图片 4"/>
          <p:cNvPicPr>
            <a:picLocks noChangeAspect="1"/>
          </p:cNvPicPr>
          <p:nvPr/>
        </p:nvPicPr>
        <p:blipFill>
          <a:blip r:embed="rId2"/>
          <a:srcRect r="53421" b="37257"/>
          <a:stretch>
            <a:fillRect/>
          </a:stretch>
        </p:blipFill>
        <p:spPr>
          <a:xfrm>
            <a:off x="3443288" y="1943100"/>
            <a:ext cx="6464300" cy="44275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357188" y="1389063"/>
            <a:ext cx="2487612" cy="2544762"/>
          </a:xfrm>
          <a:ln/>
        </p:spPr>
        <p:txBody>
          <a:bodyPr vert="horz" wrap="square" lIns="91440" tIns="45720" rIns="91440" bIns="45720" anchor="ctr" anchorCtr="0"/>
          <a:p>
            <a:pPr algn="ctr"/>
            <a:r>
              <a:rPr lang="en-US" altLang="zh-CN" sz="4000" b="1" dirty="0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 dirty="0">
                <a:solidFill>
                  <a:srgbClr val="FF0000"/>
                </a:solidFill>
              </a:rPr>
              <a:t>Project</a:t>
            </a:r>
            <a:endParaRPr lang="zh-CN" altLang="en-US" sz="4000" b="1" dirty="0">
              <a:solidFill>
                <a:srgbClr val="00B0F0"/>
              </a:solidFill>
            </a:endParaRPr>
          </a:p>
        </p:txBody>
      </p:sp>
      <p:sp>
        <p:nvSpPr>
          <p:cNvPr id="15363" name="文本框 2"/>
          <p:cNvSpPr txBox="1"/>
          <p:nvPr/>
        </p:nvSpPr>
        <p:spPr>
          <a:xfrm>
            <a:off x="3444875" y="1938338"/>
            <a:ext cx="7658100" cy="14462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4400" dirty="0">
                <a:latin typeface="Calibri" panose="020F0502020204030204" pitchFamily="34" charset="0"/>
              </a:rPr>
              <a:t>Follow the steps of lab1.ppt to create New Hardware Project </a:t>
            </a:r>
            <a:endParaRPr lang="zh-CN" altLang="en-US" sz="44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"/>
          <p:cNvSpPr txBox="1"/>
          <p:nvPr/>
        </p:nvSpPr>
        <p:spPr>
          <a:xfrm>
            <a:off x="444500" y="1390650"/>
            <a:ext cx="2298700" cy="25447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1638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3913" y="3008313"/>
            <a:ext cx="8412162" cy="1495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88" name="文本框 10"/>
          <p:cNvSpPr txBox="1"/>
          <p:nvPr/>
        </p:nvSpPr>
        <p:spPr>
          <a:xfrm>
            <a:off x="4346575" y="1584325"/>
            <a:ext cx="7394575" cy="1447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4400" dirty="0">
                <a:latin typeface="Calibri" panose="020F0502020204030204" pitchFamily="34" charset="0"/>
              </a:rPr>
              <a:t>Add files in the code folder as following steps.</a:t>
            </a:r>
            <a:endParaRPr lang="en-US" altLang="zh-CN" sz="44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10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3338" y="0"/>
            <a:ext cx="8348662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1" name="矩形 4"/>
          <p:cNvSpPr/>
          <p:nvPr/>
        </p:nvSpPr>
        <p:spPr>
          <a:xfrm>
            <a:off x="6108700" y="4148138"/>
            <a:ext cx="1371600" cy="609600"/>
          </a:xfrm>
          <a:prstGeom prst="rect">
            <a:avLst/>
          </a:prstGeom>
          <a:noFill/>
          <a:ln w="635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2075" tIns="46038" rIns="92075" bIns="46038" anchor="ctr" anchorCtr="0"/>
          <a:p>
            <a:pPr algn="ctr"/>
            <a:endParaRPr lang="zh-CN" altLang="en-US" sz="1600" b="1" dirty="0">
              <a:latin typeface="Calibri" panose="020F050202020403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491288" y="3687763"/>
            <a:ext cx="1976438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Click here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413" name="标题 1"/>
          <p:cNvSpPr txBox="1"/>
          <p:nvPr/>
        </p:nvSpPr>
        <p:spPr>
          <a:xfrm>
            <a:off x="444500" y="1390650"/>
            <a:ext cx="2298700" cy="25447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File</a:t>
            </a:r>
            <a:b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434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3038" y="0"/>
            <a:ext cx="4398962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35" name="图片 2"/>
          <p:cNvPicPr>
            <a:picLocks noChangeAspect="1"/>
          </p:cNvPicPr>
          <p:nvPr/>
        </p:nvPicPr>
        <p:blipFill>
          <a:blip r:embed="rId2"/>
          <a:srcRect t="14854"/>
          <a:stretch>
            <a:fillRect/>
          </a:stretch>
        </p:blipFill>
        <p:spPr>
          <a:xfrm>
            <a:off x="3627438" y="0"/>
            <a:ext cx="41656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6" name="标题 1"/>
          <p:cNvSpPr txBox="1"/>
          <p:nvPr/>
        </p:nvSpPr>
        <p:spPr>
          <a:xfrm>
            <a:off x="444500" y="1390650"/>
            <a:ext cx="2298700" cy="25447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36050" y="1771650"/>
            <a:ext cx="3017838" cy="508635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38" name="文本框 9"/>
          <p:cNvSpPr txBox="1"/>
          <p:nvPr/>
        </p:nvSpPr>
        <p:spPr>
          <a:xfrm>
            <a:off x="5551488" y="2374900"/>
            <a:ext cx="3425825" cy="12001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Refer to the next page to complete the state_transition  module.</a:t>
            </a:r>
            <a:endParaRPr lang="en-US" altLang="zh-CN" sz="24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270375" y="4259263"/>
            <a:ext cx="2994025" cy="175418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9458" name="组合 7"/>
          <p:cNvGrpSpPr/>
          <p:nvPr/>
        </p:nvGrpSpPr>
        <p:grpSpPr>
          <a:xfrm>
            <a:off x="2743200" y="1811338"/>
            <a:ext cx="9448800" cy="3781425"/>
            <a:chOff x="2373313" y="3225522"/>
            <a:chExt cx="9144000" cy="2879725"/>
          </a:xfrm>
        </p:grpSpPr>
        <p:grpSp>
          <p:nvGrpSpPr>
            <p:cNvPr id="19460" name="组合 6"/>
            <p:cNvGrpSpPr/>
            <p:nvPr/>
          </p:nvGrpSpPr>
          <p:grpSpPr>
            <a:xfrm>
              <a:off x="2373313" y="3225522"/>
              <a:ext cx="9144000" cy="2879725"/>
              <a:chOff x="2117725" y="4073941"/>
              <a:chExt cx="9144000" cy="2879725"/>
            </a:xfrm>
          </p:grpSpPr>
          <p:pic>
            <p:nvPicPr>
              <p:cNvPr id="19466" name="图片 1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117725" y="4073941"/>
                <a:ext cx="9144000" cy="287972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5" name="椭圆 4"/>
              <p:cNvSpPr/>
              <p:nvPr/>
            </p:nvSpPr>
            <p:spPr>
              <a:xfrm>
                <a:off x="4270068" y="4234731"/>
                <a:ext cx="600689" cy="32158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9203096" y="4154940"/>
                <a:ext cx="1229032" cy="40137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5580523" y="4082403"/>
                <a:ext cx="1109202" cy="30586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pic>
          <p:nvPicPr>
            <p:cNvPr id="19461" name="图片 3"/>
            <p:cNvPicPr>
              <a:picLocks noChangeAspect="1"/>
            </p:cNvPicPr>
            <p:nvPr/>
          </p:nvPicPr>
          <p:blipFill>
            <a:blip r:embed="rId2"/>
            <a:srcRect t="2768" b="2824"/>
            <a:stretch>
              <a:fillRect/>
            </a:stretch>
          </p:blipFill>
          <p:spPr>
            <a:xfrm>
              <a:off x="9305437" y="4877914"/>
              <a:ext cx="2211876" cy="117760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62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0097" y="4852988"/>
              <a:ext cx="1543892" cy="114776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63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33160" y="5019397"/>
              <a:ext cx="1504950" cy="108585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64" name="图片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35652" y="4879181"/>
              <a:ext cx="1514475" cy="109537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65" name="图片 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39742" y="4907756"/>
              <a:ext cx="1438275" cy="106680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9459" name="标题 1"/>
          <p:cNvSpPr txBox="1"/>
          <p:nvPr/>
        </p:nvSpPr>
        <p:spPr>
          <a:xfrm>
            <a:off x="230188" y="1916113"/>
            <a:ext cx="2298700" cy="25447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-step4</a:t>
            </a:r>
            <a:endParaRPr lang="zh-CN" altLang="en-US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1"/>
          <p:cNvSpPr txBox="1"/>
          <p:nvPr/>
        </p:nvSpPr>
        <p:spPr>
          <a:xfrm>
            <a:off x="328613" y="1385888"/>
            <a:ext cx="2559050" cy="25431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</a:t>
            </a:r>
            <a:endParaRPr lang="zh-CN" altLang="en-US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0483" name="文本框 7"/>
          <p:cNvSpPr txBox="1"/>
          <p:nvPr/>
        </p:nvSpPr>
        <p:spPr>
          <a:xfrm>
            <a:off x="3444875" y="1938338"/>
            <a:ext cx="7658100" cy="14462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4400" dirty="0">
                <a:latin typeface="Calibri" panose="020F0502020204030204" pitchFamily="34" charset="0"/>
              </a:rPr>
              <a:t>Follow the steps of lab1.ppt to do Synthesis and get the circuit </a:t>
            </a:r>
            <a:endParaRPr lang="zh-CN" altLang="en-US" sz="44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50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3538" y="712788"/>
            <a:ext cx="6323012" cy="58023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1507" name="组合 2"/>
          <p:cNvGrpSpPr/>
          <p:nvPr/>
        </p:nvGrpSpPr>
        <p:grpSpPr>
          <a:xfrm>
            <a:off x="4859338" y="1547813"/>
            <a:ext cx="7239000" cy="4597400"/>
            <a:chOff x="6190676" y="1623750"/>
            <a:chExt cx="6573594" cy="4599672"/>
          </a:xfrm>
        </p:grpSpPr>
        <p:sp>
          <p:nvSpPr>
            <p:cNvPr id="15" name="矩形 14"/>
            <p:cNvSpPr/>
            <p:nvPr/>
          </p:nvSpPr>
          <p:spPr bwMode="auto">
            <a:xfrm>
              <a:off x="6190676" y="1623750"/>
              <a:ext cx="3680347" cy="1276981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矩形 15"/>
            <p:cNvSpPr/>
            <p:nvPr/>
          </p:nvSpPr>
          <p:spPr bwMode="auto">
            <a:xfrm>
              <a:off x="9545227" y="2624369"/>
              <a:ext cx="3219043" cy="156922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Copy  the  content in </a:t>
              </a:r>
              <a:r>
                <a:rPr kumimoji="0" lang="en-US" altLang="zh-CN" sz="2400" b="1" i="0" u="none" strike="noStrike" kern="1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tb_state_transition.v</a:t>
              </a:r>
              <a:r>
                <a:rPr kumimoji="0" lang="en-US" altLang="zh-CN" sz="2400" b="1" i="0" u="none" strike="noStrike" kern="1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  to this window, and complete the code</a:t>
              </a:r>
              <a:endPara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6190676" y="4946441"/>
              <a:ext cx="3893701" cy="1276981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1508" name="标题 1"/>
          <p:cNvSpPr txBox="1"/>
          <p:nvPr/>
        </p:nvSpPr>
        <p:spPr>
          <a:xfrm>
            <a:off x="328613" y="1385888"/>
            <a:ext cx="2559050" cy="25431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  <a:endParaRPr lang="en-US" altLang="zh-CN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87813" y="255588"/>
            <a:ext cx="235902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1" kern="100" cap="none" spc="0" normalizeH="0" baseline="0" noProof="0" dirty="0" err="1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tb_state_transition</a:t>
            </a:r>
            <a:endParaRPr kumimoji="0" lang="zh-CN" altLang="en-US" kern="1200" cap="none" spc="0" normalizeH="0" baseline="0" noProof="0" dirty="0"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标题 1"/>
          <p:cNvSpPr txBox="1"/>
          <p:nvPr/>
        </p:nvSpPr>
        <p:spPr>
          <a:xfrm>
            <a:off x="0" y="2008188"/>
            <a:ext cx="2559050" cy="27606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 </a:t>
            </a:r>
            <a:endParaRPr lang="en-US" altLang="zh-CN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endParaRPr lang="en-US" altLang="zh-CN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22531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5863" y="0"/>
            <a:ext cx="8466137" cy="6864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 bwMode="auto">
          <a:xfrm>
            <a:off x="8308975" y="3940175"/>
            <a:ext cx="1455738" cy="2921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4389438" y="660400"/>
            <a:ext cx="3287713" cy="2921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72075" y="198438"/>
            <a:ext cx="19224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b="1" kern="100" cap="none" spc="0" normalizeH="0" baseline="0" noProof="0" dirty="0">
                <a:solidFill>
                  <a:srgbClr val="FF0000"/>
                </a:solidFill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1.Right- click</a:t>
            </a:r>
            <a:endParaRPr kumimoji="0" lang="zh-CN" altLang="en-US" sz="2400" b="1" kern="100" cap="none" spc="0" normalizeH="0" baseline="0" noProof="0" dirty="0">
              <a:solidFill>
                <a:srgbClr val="FF0000"/>
              </a:solidFill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934575" y="3827463"/>
            <a:ext cx="106521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b="1" kern="100" cap="none" spc="0" normalizeH="0" baseline="0" noProof="0" dirty="0">
                <a:solidFill>
                  <a:srgbClr val="FF0000"/>
                </a:solidFill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2.Click</a:t>
            </a:r>
            <a:endParaRPr kumimoji="0" lang="zh-CN" altLang="en-US" sz="2400" b="1" kern="100" cap="none" spc="0" normalizeH="0" baseline="0" noProof="0" dirty="0">
              <a:solidFill>
                <a:srgbClr val="FF0000"/>
              </a:solidFill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标题 1"/>
          <p:cNvSpPr txBox="1"/>
          <p:nvPr/>
        </p:nvSpPr>
        <p:spPr>
          <a:xfrm>
            <a:off x="0" y="2008188"/>
            <a:ext cx="2559050" cy="27606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 </a:t>
            </a:r>
            <a:endParaRPr lang="en-US" altLang="zh-CN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endParaRPr lang="en-US" altLang="zh-CN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159250" y="646113"/>
            <a:ext cx="7231063" cy="830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Run simulation and observe the variation of signals. Make sure all of these are  right.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3556" name="图片 2"/>
          <p:cNvPicPr>
            <a:picLocks noChangeAspect="1"/>
          </p:cNvPicPr>
          <p:nvPr/>
        </p:nvPicPr>
        <p:blipFill>
          <a:blip r:embed="rId1"/>
          <a:srcRect r="24382"/>
          <a:stretch>
            <a:fillRect/>
          </a:stretch>
        </p:blipFill>
        <p:spPr>
          <a:xfrm>
            <a:off x="3140075" y="1476375"/>
            <a:ext cx="8523288" cy="47355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标题 1"/>
          <p:cNvSpPr>
            <a:spLocks noGrp="1"/>
          </p:cNvSpPr>
          <p:nvPr>
            <p:ph type="title"/>
          </p:nvPr>
        </p:nvSpPr>
        <p:spPr>
          <a:xfrm>
            <a:off x="1155700" y="1074738"/>
            <a:ext cx="9877425" cy="1325562"/>
          </a:xfrm>
          <a:ln/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en-US" altLang="zh-CN" sz="5400" b="1" dirty="0">
                <a:solidFill>
                  <a:srgbClr val="00B0F0"/>
                </a:solidFill>
              </a:rPr>
              <a:t>Digital Logic Design and Application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sp>
        <p:nvSpPr>
          <p:cNvPr id="24579" name="文本框 3"/>
          <p:cNvSpPr txBox="1"/>
          <p:nvPr/>
        </p:nvSpPr>
        <p:spPr>
          <a:xfrm>
            <a:off x="4249738" y="2562225"/>
            <a:ext cx="3552825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en-US" altLang="zh-CN" sz="4000" dirty="0">
                <a:latin typeface="Calibri" panose="020F0502020204030204" pitchFamily="34" charset="0"/>
              </a:rPr>
              <a:t>Lab Course 3</a:t>
            </a:r>
            <a:endParaRPr lang="zh-CN" altLang="en-US" sz="4000" dirty="0">
              <a:latin typeface="Calibri" panose="020F0502020204030204" pitchFamily="34" charset="0"/>
            </a:endParaRPr>
          </a:p>
        </p:txBody>
      </p:sp>
      <p:sp>
        <p:nvSpPr>
          <p:cNvPr id="3077" name="文本框 5"/>
          <p:cNvSpPr txBox="1">
            <a:spLocks noChangeArrowheads="1"/>
          </p:cNvSpPr>
          <p:nvPr/>
        </p:nvSpPr>
        <p:spPr bwMode="auto">
          <a:xfrm>
            <a:off x="3608388" y="3984625"/>
            <a:ext cx="4914900" cy="1477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~~End~~</a:t>
            </a:r>
            <a:endParaRPr kumimoji="0" lang="en-US" altLang="zh-CN" sz="5400" b="1" i="1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jQ1ODgwYmQ5M2E5NmEzMTNmOGVhYWE4NWJiYThiMmMifQ=="/>
</p:tagLst>
</file>

<file path=ppt/theme/theme1.xml><?xml version="1.0" encoding="utf-8"?>
<a:theme xmlns:a="http://schemas.openxmlformats.org/drawingml/2006/main" name="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0</TotalTime>
  <Words>4120</Words>
  <Application>WPS 演示</Application>
  <PresentationFormat>宽屏</PresentationFormat>
  <Paragraphs>499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8" baseType="lpstr">
      <vt:lpstr>Arial</vt:lpstr>
      <vt:lpstr>宋体</vt:lpstr>
      <vt:lpstr>Wingdings</vt:lpstr>
      <vt:lpstr>Calibri</vt:lpstr>
      <vt:lpstr>等线</vt:lpstr>
      <vt:lpstr>Calibri Light</vt:lpstr>
      <vt:lpstr>等线 Light</vt:lpstr>
      <vt:lpstr>Times New Roman</vt:lpstr>
      <vt:lpstr>+mn-ea</vt:lpstr>
      <vt:lpstr>SWAstro</vt:lpstr>
      <vt:lpstr>Arial Unicode MS</vt:lpstr>
      <vt:lpstr>黑体</vt:lpstr>
      <vt:lpstr>微软雅黑</vt:lpstr>
      <vt:lpstr>Arial Unicode MS</vt:lpstr>
      <vt:lpstr>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Logic Design and Application</dc:title>
  <dc:creator>李志文</dc:creator>
  <cp:lastModifiedBy>DullDevNSJ</cp:lastModifiedBy>
  <cp:revision>351</cp:revision>
  <dcterms:created xsi:type="dcterms:W3CDTF">2017-04-08T01:53:17Z</dcterms:created>
  <dcterms:modified xsi:type="dcterms:W3CDTF">2024-04-01T14:56:44Z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5AE3D819934C418988386056A68CBFD7_12</vt:lpwstr>
  </property>
  <property fmtid="{D5CDD505-2E9C-101B-9397-08002B2CF9AE}" pid="3" name="KSOProductBuildVer">
    <vt:lpwstr>2052-12.1.0.16417</vt:lpwstr>
  </property>
</Properties>
</file>