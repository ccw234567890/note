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79" r:id="rId4"/>
    <p:sldId id="273" r:id="rId5"/>
    <p:sldId id="277" r:id="rId6"/>
    <p:sldId id="278" r:id="rId7"/>
    <p:sldId id="289" r:id="rId8"/>
    <p:sldId id="266" r:id="rId9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53" autoAdjust="0"/>
    <p:restoredTop sz="96335" autoAdjust="0"/>
  </p:normalViewPr>
  <p:slideViewPr>
    <p:cSldViewPr snapToGrid="0">
      <p:cViewPr varScale="1">
        <p:scale>
          <a:sx n="113" d="100"/>
          <a:sy n="113" d="100"/>
        </p:scale>
        <p:origin x="108" y="23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7263375B-A9D7-469C-AEB6-BE7AE2782DF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9643013-4760-4E58-B6E2-C611E81DFC8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C3B8DD84-AEC5-461F-9278-1F463CA02C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176A1B53-F75B-46FA-8048-BA4636EFC1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B4FF7EB-6964-4A0B-966D-48535464A0F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EA010A-0B6A-4F12-B5DB-E4D4BEEEC1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200" noProof="1"/>
            </a:lvl1pPr>
          </a:lstStyle>
          <a:p>
            <a:pPr>
              <a:defRPr/>
            </a:pPr>
            <a:fld id="{032F8273-BC44-4333-8FFD-1BB79535D1B4}" type="slidenum">
              <a:rPr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>
            <a:extLst>
              <a:ext uri="{FF2B5EF4-FFF2-40B4-BE49-F238E27FC236}">
                <a16:creationId xmlns:a16="http://schemas.microsoft.com/office/drawing/2014/main" id="{ADC27BF8-E058-4B80-A51F-70E994F533C2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9" name="备注占位符 2">
            <a:extLst>
              <a:ext uri="{FF2B5EF4-FFF2-40B4-BE49-F238E27FC236}">
                <a16:creationId xmlns:a16="http://schemas.microsoft.com/office/drawing/2014/main" id="{3E3C5F3B-967D-488E-9207-FD6AC960AB4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>
            <a:extLst>
              <a:ext uri="{FF2B5EF4-FFF2-40B4-BE49-F238E27FC236}">
                <a16:creationId xmlns:a16="http://schemas.microsoft.com/office/drawing/2014/main" id="{2C2A8048-ED61-4CF0-ADDE-3A9A4C55008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10CD7C-EFF9-4425-B1C6-F884DFA085A2}" type="slidenum">
              <a:rPr altLang="en-US" smtClean="0"/>
              <a:pPr>
                <a:spcBef>
                  <a:spcPct val="0"/>
                </a:spcBef>
                <a:buFontTx/>
                <a:buNone/>
              </a:pPr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幻灯片图像占位符 1">
            <a:extLst>
              <a:ext uri="{FF2B5EF4-FFF2-40B4-BE49-F238E27FC236}">
                <a16:creationId xmlns:a16="http://schemas.microsoft.com/office/drawing/2014/main" id="{7CAF03B0-8738-4DFD-8F79-5377147781C5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备注占位符 2">
            <a:extLst>
              <a:ext uri="{FF2B5EF4-FFF2-40B4-BE49-F238E27FC236}">
                <a16:creationId xmlns:a16="http://schemas.microsoft.com/office/drawing/2014/main" id="{B3B475E2-FA10-4546-97C1-FA0B06DADCD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0244" name="灯片编号占位符 3">
            <a:extLst>
              <a:ext uri="{FF2B5EF4-FFF2-40B4-BE49-F238E27FC236}">
                <a16:creationId xmlns:a16="http://schemas.microsoft.com/office/drawing/2014/main" id="{E54F536D-AD22-471F-8B64-4C59D8257C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40BF868-DBA8-42BE-993C-B1ACDA1C584D}" type="slidenum">
              <a:rPr altLang="en-US" smtClean="0"/>
              <a:pPr>
                <a:spcBef>
                  <a:spcPct val="0"/>
                </a:spcBef>
                <a:buFontTx/>
                <a:buNone/>
              </a:pPr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66A1C4-E53B-41DB-BB3B-ED0C738D8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C80E55-DAA6-4784-9877-574B16D30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0CE757-BC94-4B08-B033-3691051B9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F5BC2C-DD7C-45F0-8A5D-A6F97B6B6118}" type="slidenum">
              <a:rPr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8981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50A886-6BF6-445B-A3AC-4D30451CC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31A8E9-3D83-4C67-BC7D-2E2733CE4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D1D4B5-CA33-4D53-B84A-D0118C655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A84DCD-EF41-4271-BD81-322B188CAE8E}" type="slidenum">
              <a:rPr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8888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45AEF1-BCDA-4D98-88BE-6A0D65029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F19A8E-E7EE-43F3-9B1E-185D8539F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4FF1D9-5A4D-490B-B0FD-8D7A205AA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10DC8C-329D-4C54-80E3-1D39BDE0B775}" type="slidenum">
              <a:rPr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9539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9A124B27-E71C-4DB3-8332-D0D117728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EEC66F87-AA57-475F-BFF5-68CFE0AC9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C7C8733C-42AD-41D1-A666-C9CA2ABDE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41F7E3-B6AB-4154-B791-A30F2F2F40BE}" type="slidenum">
              <a:rPr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3918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8BE1E983-B1BA-40FE-8C7C-F16B45799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2CDFFEAC-1B7F-4A32-9C88-D9518BEC9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5F5C9A5A-731F-46D3-887D-7087805BE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6EA10A-096F-4EB8-8B19-93C5001A38AE}" type="slidenum">
              <a:rPr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6419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F19422D9-19BF-462E-ADD3-02C5BE8EE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D96D4253-E7BA-466B-9499-BD73D43E7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F78D9C98-FB9A-42B5-BF0D-B650C03BC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588124-F458-4B0C-8CBF-DE32CB99B7C0}" type="slidenum">
              <a:rPr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082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3150E1A7-2E7B-4AD5-B99C-08F8EE701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6B82DEA7-0807-432B-9D24-078AB780C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54B89ABE-B255-48D8-9AB2-C212AC5A6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FC805D-9E5D-4FF1-8661-80F5B41CCBCA}" type="slidenum">
              <a:rPr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4380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6DC5954B-1CBD-4DBF-B67A-EE6D2C209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95F2AF13-CA5E-4DD0-B8CF-1D40D49F8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1C1F89D6-671B-4504-BD54-3D6BCFB55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BE4831-D973-489A-9C2E-26940C1ECDC5}" type="slidenum">
              <a:rPr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8824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C382B171-F542-4D74-B800-9D87286D4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AA448C9D-3E11-42B2-9B37-AC044DF47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ED907DEA-6981-4CE6-BD5A-817207B39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3BBE2E-9748-427F-B77F-E86825FAA8C2}" type="slidenum">
              <a:rPr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8215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F5FF9A-69E3-449D-9151-D2BFABD41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6567E1-DC2F-4539-869A-79091DC90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703DC3-D501-4B95-980A-FF0EAAD20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A5DF52-2DAB-4E3B-915F-3C1E82763633}" type="slidenum">
              <a:rPr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9119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DE34A1-00CE-4202-B5F7-B653CD42D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709001-77BF-419C-B942-7EF980909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E78E17-49A0-442F-BD2B-D7FC931D9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1AC2F8-5752-429E-B68A-AA34E9DAE96E}" type="slidenum">
              <a:rPr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4035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06C14D0C-E86A-483E-AB72-2424C930186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AC9938B1-D493-475D-BB75-E8F29F2CA97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7C11B3-69CF-4719-B634-B93F434953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83D74E-E5A5-449E-B800-4D881518AC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D2C740-6555-42F4-92E9-7765D3D977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200" noProof="1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DF177319-4E64-4AB8-A460-7EB7892C35DD}" type="slidenum">
              <a:rPr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gradFill rotWithShape="0">
          <a:gsLst>
            <a:gs pos="0">
              <a:srgbClr val="5B9BD5"/>
            </a:gs>
            <a:gs pos="55000">
              <a:srgbClr val="DAE3F3"/>
            </a:gs>
            <a:gs pos="77000">
              <a:srgbClr val="9DC3E6"/>
            </a:gs>
            <a:gs pos="95000">
              <a:srgbClr val="C2DAEF"/>
            </a:gs>
            <a:gs pos="100000">
              <a:srgbClr val="CEE1F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标题 1">
            <a:extLst>
              <a:ext uri="{FF2B5EF4-FFF2-40B4-BE49-F238E27FC236}">
                <a16:creationId xmlns:a16="http://schemas.microsoft.com/office/drawing/2014/main" id="{7E4FC355-23AA-4453-B175-1AAC93954AC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760538" y="2405063"/>
            <a:ext cx="9020175" cy="1397000"/>
          </a:xfrm>
        </p:spPr>
        <p:txBody>
          <a:bodyPr/>
          <a:lstStyle/>
          <a:p>
            <a:pPr eaLnBrk="1" hangingPunct="1"/>
            <a:r>
              <a:rPr lang="zh-CN" altLang="en-US" sz="8000" b="1" dirty="0">
                <a:latin typeface="黑体" panose="02010609060101010101" pitchFamily="49" charset="-122"/>
                <a:ea typeface="黑体" panose="02010609060101010101" pitchFamily="49" charset="-122"/>
              </a:rPr>
              <a:t>数字电路实验须知</a:t>
            </a:r>
            <a:endParaRPr lang="en-US" altLang="zh-CN" sz="8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/>
            <a:r>
              <a:rPr lang="en-US" altLang="zh-CN" sz="6600" b="1" dirty="0">
                <a:latin typeface="黑体" panose="02010609060101010101" pitchFamily="49" charset="-122"/>
                <a:ea typeface="黑体" panose="02010609060101010101" pitchFamily="49" charset="-122"/>
              </a:rPr>
              <a:t>2024.04</a:t>
            </a:r>
            <a:endParaRPr lang="zh-CN" altLang="en-US" sz="6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>
            <a:extLst>
              <a:ext uri="{FF2B5EF4-FFF2-40B4-BE49-F238E27FC236}">
                <a16:creationId xmlns:a16="http://schemas.microsoft.com/office/drawing/2014/main" id="{43DE301F-05E1-4A9A-84A5-23E48F381944}"/>
              </a:ext>
            </a:extLst>
          </p:cNvPr>
          <p:cNvSpPr/>
          <p:nvPr/>
        </p:nvSpPr>
        <p:spPr>
          <a:xfrm>
            <a:off x="2976563" y="782638"/>
            <a:ext cx="7566025" cy="10048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流程图: 联系 17">
            <a:extLst>
              <a:ext uri="{FF2B5EF4-FFF2-40B4-BE49-F238E27FC236}">
                <a16:creationId xmlns:a16="http://schemas.microsoft.com/office/drawing/2014/main" id="{3026EB53-A4F4-4AB2-BDD9-572704FCAD35}"/>
              </a:ext>
            </a:extLst>
          </p:cNvPr>
          <p:cNvSpPr/>
          <p:nvPr/>
        </p:nvSpPr>
        <p:spPr>
          <a:xfrm>
            <a:off x="1173163" y="742950"/>
            <a:ext cx="1146175" cy="1163638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1</a:t>
            </a:r>
            <a:endParaRPr lang="zh-CN" altLang="en-US" sz="4400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81AB98F3-FC91-436D-B46E-23E2A3AA1717}"/>
              </a:ext>
            </a:extLst>
          </p:cNvPr>
          <p:cNvSpPr/>
          <p:nvPr/>
        </p:nvSpPr>
        <p:spPr>
          <a:xfrm>
            <a:off x="2976563" y="2352675"/>
            <a:ext cx="7566025" cy="10048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76C86CC0-7E5C-427D-8951-EB2B50547A45}"/>
              </a:ext>
            </a:extLst>
          </p:cNvPr>
          <p:cNvSpPr/>
          <p:nvPr/>
        </p:nvSpPr>
        <p:spPr>
          <a:xfrm>
            <a:off x="2922588" y="3897313"/>
            <a:ext cx="7566025" cy="10048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流程图: 联系 10">
            <a:extLst>
              <a:ext uri="{FF2B5EF4-FFF2-40B4-BE49-F238E27FC236}">
                <a16:creationId xmlns:a16="http://schemas.microsoft.com/office/drawing/2014/main" id="{596E7FFD-5416-429D-8A42-F6C2120B22F2}"/>
              </a:ext>
            </a:extLst>
          </p:cNvPr>
          <p:cNvSpPr/>
          <p:nvPr/>
        </p:nvSpPr>
        <p:spPr>
          <a:xfrm>
            <a:off x="1173163" y="2273300"/>
            <a:ext cx="1146175" cy="1163638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2</a:t>
            </a:r>
            <a:endParaRPr lang="zh-CN" altLang="en-US" sz="4400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12" name="流程图: 联系 11">
            <a:extLst>
              <a:ext uri="{FF2B5EF4-FFF2-40B4-BE49-F238E27FC236}">
                <a16:creationId xmlns:a16="http://schemas.microsoft.com/office/drawing/2014/main" id="{71ED4594-9242-4473-9C74-11D4E308CF62}"/>
              </a:ext>
            </a:extLst>
          </p:cNvPr>
          <p:cNvSpPr/>
          <p:nvPr/>
        </p:nvSpPr>
        <p:spPr>
          <a:xfrm>
            <a:off x="1174750" y="3817938"/>
            <a:ext cx="1144588" cy="1163637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3</a:t>
            </a:r>
            <a:endParaRPr lang="zh-CN" altLang="en-US" sz="4400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5128" name="文本框 13">
            <a:extLst>
              <a:ext uri="{FF2B5EF4-FFF2-40B4-BE49-F238E27FC236}">
                <a16:creationId xmlns:a16="http://schemas.microsoft.com/office/drawing/2014/main" id="{85B864D8-5725-4A2E-8B39-BC907E9038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2763" y="2474913"/>
            <a:ext cx="4873625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4400" b="1">
                <a:latin typeface="黑体" panose="02010609060101010101" pitchFamily="49" charset="-122"/>
                <a:ea typeface="黑体" panose="02010609060101010101" pitchFamily="49" charset="-122"/>
              </a:rPr>
              <a:t>实验报告注意事项</a:t>
            </a:r>
          </a:p>
        </p:txBody>
      </p:sp>
      <p:sp>
        <p:nvSpPr>
          <p:cNvPr id="5129" name="文本框 14">
            <a:extLst>
              <a:ext uri="{FF2B5EF4-FFF2-40B4-BE49-F238E27FC236}">
                <a16:creationId xmlns:a16="http://schemas.microsoft.com/office/drawing/2014/main" id="{B9F8CE38-2136-4FE7-964D-011530C23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0125" y="4014788"/>
            <a:ext cx="6737350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4400" b="1" dirty="0">
                <a:latin typeface="黑体" panose="02010609060101010101" pitchFamily="49" charset="-122"/>
                <a:ea typeface="黑体" panose="02010609060101010101" pitchFamily="49" charset="-122"/>
              </a:rPr>
              <a:t>实验内容</a:t>
            </a:r>
          </a:p>
        </p:txBody>
      </p:sp>
      <p:sp>
        <p:nvSpPr>
          <p:cNvPr id="5130" name="文本框 14">
            <a:extLst>
              <a:ext uri="{FF2B5EF4-FFF2-40B4-BE49-F238E27FC236}">
                <a16:creationId xmlns:a16="http://schemas.microsoft.com/office/drawing/2014/main" id="{D59D6B84-9A9F-4F5D-90EF-31625F2BC2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8788" y="944563"/>
            <a:ext cx="5280025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4400" b="1">
                <a:latin typeface="黑体" panose="02010609060101010101" pitchFamily="49" charset="-122"/>
                <a:ea typeface="黑体" panose="02010609060101010101" pitchFamily="49" charset="-122"/>
              </a:rPr>
              <a:t>实验总体安排说明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文本框 14">
            <a:extLst>
              <a:ext uri="{FF2B5EF4-FFF2-40B4-BE49-F238E27FC236}">
                <a16:creationId xmlns:a16="http://schemas.microsoft.com/office/drawing/2014/main" id="{9FC70E41-8B0E-4F1E-9D46-9F6D5BE96F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7875" y="88900"/>
            <a:ext cx="8348663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4800" b="1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实验总体安排说明</a:t>
            </a:r>
            <a:r>
              <a:rPr lang="en-US" altLang="zh-CN" sz="4800" b="1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4800" b="1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一）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BFDC082-86F7-4A34-8832-78C44852F113}"/>
              </a:ext>
            </a:extLst>
          </p:cNvPr>
          <p:cNvSpPr/>
          <p:nvPr/>
        </p:nvSpPr>
        <p:spPr>
          <a:xfrm>
            <a:off x="597427" y="1001713"/>
            <a:ext cx="11052704" cy="55689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 eaLnBrk="1" fontAlgn="auto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zh-CN" altLang="zh-CN" sz="3200" b="1" kern="100" dirty="0">
                <a:ea typeface="+mn-ea"/>
                <a:cs typeface="Times New Roman" panose="02020603050405020304" pitchFamily="18" charset="0"/>
                <a:sym typeface="+mn-ea"/>
              </a:rPr>
              <a:t>实验共</a:t>
            </a:r>
            <a:r>
              <a:rPr lang="en-US" altLang="zh-CN" sz="3200" b="1" kern="10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  <a:sym typeface="+mn-ea"/>
              </a:rPr>
              <a:t>5</a:t>
            </a:r>
            <a:r>
              <a:rPr lang="zh-CN" altLang="zh-CN" sz="3200" b="1" kern="10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  <a:sym typeface="+mn-ea"/>
              </a:rPr>
              <a:t>次</a:t>
            </a:r>
            <a:r>
              <a:rPr lang="zh-CN" altLang="zh-CN" sz="3200" b="1" kern="100" dirty="0">
                <a:ea typeface="+mn-ea"/>
                <a:cs typeface="Times New Roman" panose="02020603050405020304" pitchFamily="18" charset="0"/>
                <a:sym typeface="+mn-ea"/>
              </a:rPr>
              <a:t>，</a:t>
            </a:r>
            <a:r>
              <a:rPr lang="zh-CN" altLang="en-US" sz="3200" b="1" kern="100" dirty="0">
                <a:ea typeface="+mn-ea"/>
                <a:cs typeface="Times New Roman" panose="02020603050405020304" pitchFamily="18" charset="0"/>
                <a:sym typeface="+mn-ea"/>
              </a:rPr>
              <a:t>连续</a:t>
            </a:r>
            <a:r>
              <a:rPr lang="en-US" altLang="zh-CN" sz="3200" b="1" kern="100" dirty="0">
                <a:ea typeface="+mn-ea"/>
                <a:cs typeface="Times New Roman" panose="02020603050405020304" pitchFamily="18" charset="0"/>
                <a:sym typeface="+mn-ea"/>
              </a:rPr>
              <a:t>5</a:t>
            </a:r>
            <a:r>
              <a:rPr lang="zh-CN" altLang="zh-CN" sz="3200" b="1" kern="100" dirty="0">
                <a:ea typeface="+mn-ea"/>
                <a:cs typeface="Times New Roman" panose="02020603050405020304" pitchFamily="18" charset="0"/>
                <a:sym typeface="+mn-ea"/>
              </a:rPr>
              <a:t>周完成，每班学生实验时间固定</a:t>
            </a:r>
            <a:r>
              <a:rPr lang="zh-CN" altLang="en-US" sz="3200" b="1" kern="100" dirty="0">
                <a:ea typeface="+mn-ea"/>
                <a:cs typeface="Times New Roman" panose="02020603050405020304" pitchFamily="18" charset="0"/>
                <a:sym typeface="+mn-ea"/>
              </a:rPr>
              <a:t>；</a:t>
            </a:r>
            <a:endParaRPr lang="en-US" altLang="zh-CN" sz="3200" b="1" kern="100" dirty="0">
              <a:ea typeface="+mn-ea"/>
              <a:cs typeface="Times New Roman" panose="02020603050405020304" pitchFamily="18" charset="0"/>
              <a:sym typeface="+mn-ea"/>
            </a:endParaRPr>
          </a:p>
          <a:p>
            <a:pPr marL="342900" indent="-342900" algn="just" eaLnBrk="1" fontAlgn="auto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zh-CN" altLang="en-US" sz="3200" b="1" kern="100" dirty="0">
                <a:ea typeface="+mn-ea"/>
                <a:cs typeface="Times New Roman" panose="02020603050405020304" pitchFamily="18" charset="0"/>
                <a:sym typeface="+mn-ea"/>
              </a:rPr>
              <a:t>如实验时间安排确有问题的，必须和实验老师确认后才能</a:t>
            </a:r>
            <a:r>
              <a:rPr lang="zh-CN" altLang="en-US" sz="3200" b="1" kern="10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  <a:sym typeface="+mn-ea"/>
              </a:rPr>
              <a:t>调换时间</a:t>
            </a:r>
            <a:r>
              <a:rPr lang="zh-CN" altLang="en-US" sz="3200" b="1" kern="100" dirty="0">
                <a:ea typeface="+mn-ea"/>
                <a:cs typeface="Times New Roman" panose="02020603050405020304" pitchFamily="18" charset="0"/>
                <a:sym typeface="+mn-ea"/>
              </a:rPr>
              <a:t>，但有可能无法保证一人一机</a:t>
            </a:r>
            <a:r>
              <a:rPr lang="zh-CN" altLang="zh-CN" sz="3200" b="1" kern="100" dirty="0">
                <a:ea typeface="+mn-ea"/>
                <a:cs typeface="Times New Roman" panose="02020603050405020304" pitchFamily="18" charset="0"/>
                <a:sym typeface="+mn-ea"/>
              </a:rPr>
              <a:t>；</a:t>
            </a:r>
          </a:p>
          <a:p>
            <a:pPr marL="342900" indent="-342900" algn="just" eaLnBrk="1" fontAlgn="auto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zh-CN" altLang="en-US" sz="3200" b="1" kern="100" dirty="0">
                <a:ea typeface="+mn-ea"/>
                <a:cs typeface="Times New Roman" panose="02020603050405020304" pitchFamily="18" charset="0"/>
                <a:sym typeface="+mn-ea"/>
              </a:rPr>
              <a:t>每次实验需要</a:t>
            </a:r>
            <a:r>
              <a:rPr lang="zh-CN" altLang="en-US" sz="3200" b="1" kern="10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  <a:sym typeface="+mn-ea"/>
              </a:rPr>
              <a:t>开始时签到，做完后确认结果</a:t>
            </a:r>
            <a:r>
              <a:rPr lang="zh-CN" altLang="en-US" sz="3200" b="1" kern="100" dirty="0">
                <a:ea typeface="+mn-ea"/>
                <a:cs typeface="Times New Roman" panose="02020603050405020304" pitchFamily="18" charset="0"/>
                <a:sym typeface="+mn-ea"/>
              </a:rPr>
              <a:t>；</a:t>
            </a:r>
            <a:endParaRPr lang="en-US" altLang="zh-CN" sz="3200" b="1" kern="100" dirty="0">
              <a:ea typeface="+mn-ea"/>
              <a:cs typeface="Times New Roman" panose="02020603050405020304" pitchFamily="18" charset="0"/>
              <a:sym typeface="+mn-ea"/>
            </a:endParaRPr>
          </a:p>
          <a:p>
            <a:pPr marL="342900" indent="-342900" algn="just" eaLnBrk="1" fontAlgn="auto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zh-CN" altLang="en-US" sz="3200" b="1" kern="100" dirty="0">
                <a:ea typeface="+mn-ea"/>
                <a:cs typeface="Times New Roman" panose="02020603050405020304" pitchFamily="18" charset="0"/>
                <a:sym typeface="+mn-ea"/>
              </a:rPr>
              <a:t>每次</a:t>
            </a:r>
            <a:r>
              <a:rPr lang="zh-CN" altLang="zh-CN" sz="3200" b="1" kern="100" dirty="0">
                <a:ea typeface="+mn-ea"/>
                <a:cs typeface="Times New Roman" panose="02020603050405020304" pitchFamily="18" charset="0"/>
                <a:sym typeface="+mn-ea"/>
              </a:rPr>
              <a:t>实验</a:t>
            </a:r>
            <a:r>
              <a:rPr lang="zh-CN" altLang="en-US" sz="3200" b="1" kern="100" dirty="0">
                <a:ea typeface="+mn-ea"/>
                <a:cs typeface="Times New Roman" panose="02020603050405020304" pitchFamily="18" charset="0"/>
                <a:sym typeface="+mn-ea"/>
              </a:rPr>
              <a:t>持续</a:t>
            </a:r>
            <a:r>
              <a:rPr lang="en-US" altLang="zh-CN" sz="3200" b="1" kern="100" dirty="0">
                <a:ea typeface="+mn-ea"/>
                <a:cs typeface="Times New Roman" panose="02020603050405020304" pitchFamily="18" charset="0"/>
                <a:sym typeface="+mn-ea"/>
              </a:rPr>
              <a:t>3</a:t>
            </a:r>
            <a:r>
              <a:rPr lang="zh-CN" altLang="zh-CN" sz="3200" b="1" kern="100" dirty="0">
                <a:ea typeface="+mn-ea"/>
                <a:cs typeface="Times New Roman" panose="02020603050405020304" pitchFamily="18" charset="0"/>
                <a:sym typeface="+mn-ea"/>
              </a:rPr>
              <a:t>个小时</a:t>
            </a:r>
            <a:r>
              <a:rPr lang="zh-CN" altLang="en-US" sz="3200" b="1" kern="100" dirty="0">
                <a:ea typeface="+mn-ea"/>
                <a:cs typeface="Times New Roman" panose="02020603050405020304" pitchFamily="18" charset="0"/>
                <a:sym typeface="+mn-ea"/>
              </a:rPr>
              <a:t>，</a:t>
            </a:r>
            <a:r>
              <a:rPr lang="en-US" altLang="zh-CN" sz="3200" b="1" kern="100" dirty="0">
                <a:ea typeface="+mn-ea"/>
                <a:cs typeface="Times New Roman" panose="02020603050405020304" pitchFamily="18" charset="0"/>
                <a:sym typeface="+mn-ea"/>
              </a:rPr>
              <a:t>4</a:t>
            </a:r>
            <a:r>
              <a:rPr lang="zh-CN" altLang="en-US" sz="3200" b="1" kern="100" dirty="0">
                <a:ea typeface="+mn-ea"/>
                <a:cs typeface="Times New Roman" panose="02020603050405020304" pitchFamily="18" charset="0"/>
                <a:sym typeface="+mn-ea"/>
              </a:rPr>
              <a:t>学时；</a:t>
            </a:r>
            <a:endParaRPr lang="en-US" altLang="zh-CN" sz="3200" b="1" kern="100" dirty="0">
              <a:solidFill>
                <a:srgbClr val="FF0000"/>
              </a:solidFill>
              <a:ea typeface="+mn-ea"/>
              <a:cs typeface="Times New Roman" panose="02020603050405020304" pitchFamily="18" charset="0"/>
              <a:sym typeface="+mn-ea"/>
            </a:endParaRPr>
          </a:p>
          <a:p>
            <a:pPr marL="342900" indent="-342900" algn="just" eaLnBrk="1" fontAlgn="auto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zh-CN" altLang="en-US" sz="3200" b="1" kern="100" dirty="0">
                <a:ea typeface="+mn-ea"/>
                <a:cs typeface="Times New Roman" panose="02020603050405020304" pitchFamily="18" charset="0"/>
                <a:sym typeface="+mn-ea"/>
              </a:rPr>
              <a:t>实验结束</a:t>
            </a:r>
            <a:r>
              <a:rPr lang="zh-CN" altLang="zh-CN" sz="3200" b="1" kern="100" dirty="0">
                <a:ea typeface="+mn-ea"/>
                <a:cs typeface="Times New Roman" panose="02020603050405020304" pitchFamily="18" charset="0"/>
                <a:sym typeface="+mn-ea"/>
              </a:rPr>
              <a:t>离开</a:t>
            </a:r>
            <a:r>
              <a:rPr lang="zh-CN" altLang="en-US" sz="3200" b="1" kern="100" dirty="0">
                <a:ea typeface="+mn-ea"/>
                <a:cs typeface="Times New Roman" panose="02020603050405020304" pitchFamily="18" charset="0"/>
                <a:sym typeface="+mn-ea"/>
              </a:rPr>
              <a:t>前</a:t>
            </a:r>
            <a:r>
              <a:rPr lang="zh-CN" altLang="zh-CN" sz="3200" b="1" kern="100" dirty="0">
                <a:ea typeface="+mn-ea"/>
                <a:cs typeface="Times New Roman" panose="02020603050405020304" pitchFamily="18" charset="0"/>
                <a:sym typeface="+mn-ea"/>
              </a:rPr>
              <a:t>将</a:t>
            </a:r>
            <a:r>
              <a:rPr lang="zh-CN" altLang="zh-CN" sz="3200" b="1" kern="10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  <a:sym typeface="+mn-ea"/>
              </a:rPr>
              <a:t>实验箱</a:t>
            </a:r>
            <a:r>
              <a:rPr lang="zh-CN" altLang="en-US" sz="3200" b="1" kern="10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  <a:sym typeface="+mn-ea"/>
              </a:rPr>
              <a:t>、接插线</a:t>
            </a:r>
            <a:r>
              <a:rPr lang="zh-CN" altLang="zh-CN" sz="3200" b="1" kern="10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  <a:sym typeface="+mn-ea"/>
              </a:rPr>
              <a:t>收</a:t>
            </a:r>
            <a:r>
              <a:rPr lang="zh-CN" altLang="en-US" sz="3200" b="1" kern="10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  <a:sym typeface="+mn-ea"/>
              </a:rPr>
              <a:t>拾</a:t>
            </a:r>
            <a:r>
              <a:rPr lang="zh-CN" altLang="zh-CN" sz="3200" b="1" kern="10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  <a:sym typeface="+mn-ea"/>
              </a:rPr>
              <a:t>好</a:t>
            </a:r>
            <a:r>
              <a:rPr lang="zh-CN" altLang="zh-CN" sz="3200" b="1" kern="100" dirty="0">
                <a:ea typeface="+mn-ea"/>
                <a:cs typeface="Times New Roman" panose="02020603050405020304" pitchFamily="18" charset="0"/>
                <a:sym typeface="+mn-ea"/>
              </a:rPr>
              <a:t>，</a:t>
            </a:r>
            <a:r>
              <a:rPr lang="zh-CN" altLang="en-US" sz="3200" b="1" kern="100" dirty="0">
                <a:ea typeface="+mn-ea"/>
                <a:cs typeface="Times New Roman" panose="02020603050405020304" pitchFamily="18" charset="0"/>
                <a:sym typeface="+mn-ea"/>
              </a:rPr>
              <a:t>该项会作为实验课</a:t>
            </a:r>
            <a:r>
              <a:rPr lang="zh-CN" altLang="zh-CN" sz="3200" b="1" kern="100" dirty="0">
                <a:ea typeface="+mn-ea"/>
                <a:cs typeface="Times New Roman" panose="02020603050405020304" pitchFamily="18" charset="0"/>
                <a:sym typeface="+mn-ea"/>
              </a:rPr>
              <a:t>表现</a:t>
            </a:r>
            <a:r>
              <a:rPr lang="zh-CN" altLang="en-US" sz="3200" b="1" kern="100" dirty="0">
                <a:ea typeface="+mn-ea"/>
                <a:cs typeface="Times New Roman" panose="02020603050405020304" pitchFamily="18" charset="0"/>
                <a:sym typeface="+mn-ea"/>
              </a:rPr>
              <a:t>影响</a:t>
            </a:r>
            <a:r>
              <a:rPr lang="zh-CN" altLang="zh-CN" sz="3200" b="1" kern="100" dirty="0">
                <a:ea typeface="+mn-ea"/>
                <a:cs typeface="Times New Roman" panose="02020603050405020304" pitchFamily="18" charset="0"/>
                <a:sym typeface="+mn-ea"/>
              </a:rPr>
              <a:t>最终成绩；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文本框 14">
            <a:extLst>
              <a:ext uri="{FF2B5EF4-FFF2-40B4-BE49-F238E27FC236}">
                <a16:creationId xmlns:a16="http://schemas.microsoft.com/office/drawing/2014/main" id="{0ADF7025-299C-4CEB-81A0-1EDF97191A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7875" y="168275"/>
            <a:ext cx="8348663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4800" b="1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实验总体安排说明</a:t>
            </a:r>
            <a:r>
              <a:rPr lang="en-US" altLang="zh-CN" sz="4800" b="1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4800" b="1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二）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4CFCC0F-F406-4F9B-9F23-FE62AFFFC612}"/>
              </a:ext>
            </a:extLst>
          </p:cNvPr>
          <p:cNvSpPr/>
          <p:nvPr/>
        </p:nvSpPr>
        <p:spPr>
          <a:xfrm>
            <a:off x="509585" y="1100138"/>
            <a:ext cx="11208279" cy="55926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 eaLnBrk="1" fontAlgn="auto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Font typeface="+mj-lt"/>
              <a:buAutoNum type="arabicPeriod" startAt="6"/>
              <a:defRPr/>
            </a:pPr>
            <a:r>
              <a:rPr lang="zh-CN" altLang="zh-CN" sz="3200" b="1" kern="100" dirty="0">
                <a:ea typeface="+mn-ea"/>
                <a:cs typeface="Times New Roman" panose="02020603050405020304" pitchFamily="18" charset="0"/>
                <a:sym typeface="+mn-ea"/>
              </a:rPr>
              <a:t>实验分值</a:t>
            </a:r>
            <a:r>
              <a:rPr lang="zh-CN" altLang="en-US" sz="3200" b="1" kern="100" dirty="0">
                <a:ea typeface="+mn-ea"/>
                <a:cs typeface="Times New Roman" panose="02020603050405020304" pitchFamily="18" charset="0"/>
                <a:sym typeface="+mn-ea"/>
              </a:rPr>
              <a:t>：</a:t>
            </a:r>
            <a:endParaRPr lang="en-US" altLang="zh-CN" sz="3200" b="1" kern="100" dirty="0">
              <a:ea typeface="+mn-ea"/>
              <a:cs typeface="Times New Roman" panose="02020603050405020304" pitchFamily="18" charset="0"/>
              <a:sym typeface="+mn-ea"/>
            </a:endParaRPr>
          </a:p>
          <a:p>
            <a:pPr algn="ctr" eaLnBrk="1" fontAlgn="auto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Lab1 10% + Lab2 20% + Lab3 20% + Lab4 20% + Lab5 10%</a:t>
            </a:r>
            <a:r>
              <a:rPr lang="zh-CN" altLang="en-US" sz="2400" b="1" kern="1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+ Report1 5% + Repor2 15%</a:t>
            </a:r>
          </a:p>
          <a:p>
            <a:pPr algn="just" eaLnBrk="1" fontAlgn="auto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en-US" altLang="zh-CN" sz="3600" b="1" kern="1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    </a:t>
            </a:r>
            <a:r>
              <a:rPr lang="zh-CN" altLang="en-US" sz="3600" b="1" kern="100" dirty="0"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3200" b="1" dirty="0">
                <a:latin typeface="+mn-lt"/>
                <a:ea typeface="+mn-ea"/>
                <a:sym typeface="+mn-ea"/>
              </a:rPr>
              <a:t>各实验需</a:t>
            </a:r>
            <a:r>
              <a:rPr lang="zh-CN" altLang="en-US" sz="3200" b="1" dirty="0">
                <a:solidFill>
                  <a:srgbClr val="FF0000"/>
                </a:solidFill>
                <a:latin typeface="+mn-lt"/>
                <a:ea typeface="+mn-ea"/>
                <a:sym typeface="+mn-ea"/>
              </a:rPr>
              <a:t>综合考查实验课表现以及实验效果</a:t>
            </a:r>
            <a:r>
              <a:rPr lang="zh-CN" altLang="en-US" sz="3200" b="1" dirty="0">
                <a:latin typeface="+mn-lt"/>
                <a:ea typeface="+mn-ea"/>
                <a:sym typeface="+mn-ea"/>
              </a:rPr>
              <a:t>的情况</a:t>
            </a:r>
            <a:r>
              <a:rPr lang="zh-CN" altLang="en-US" sz="3600" b="1" kern="100" dirty="0">
                <a:cs typeface="Times New Roman" panose="02020603050405020304" pitchFamily="18" charset="0"/>
                <a:sym typeface="+mn-ea"/>
              </a:rPr>
              <a:t>；</a:t>
            </a:r>
            <a:endParaRPr lang="en-US" altLang="zh-CN" sz="3600" b="1" kern="100" dirty="0">
              <a:cs typeface="Times New Roman" panose="02020603050405020304" pitchFamily="18" charset="0"/>
              <a:sym typeface="+mn-ea"/>
            </a:endParaRPr>
          </a:p>
          <a:p>
            <a:pPr marL="457200" indent="-457200" algn="just" eaLnBrk="1" fontAlgn="auto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Font typeface="+mj-lt"/>
              <a:buAutoNum type="arabicPeriod" startAt="6"/>
              <a:defRPr/>
            </a:pPr>
            <a:r>
              <a:rPr lang="zh-CN" altLang="en-US" sz="3200" b="1" dirty="0">
                <a:latin typeface="+mn-lt"/>
                <a:ea typeface="+mn-ea"/>
                <a:sym typeface="+mn-ea"/>
              </a:rPr>
              <a:t>进实验室之前必须先</a:t>
            </a:r>
            <a:r>
              <a:rPr lang="zh-CN" altLang="en-US" sz="3200" b="1" dirty="0">
                <a:solidFill>
                  <a:srgbClr val="FF0000"/>
                </a:solidFill>
                <a:latin typeface="+mn-lt"/>
                <a:ea typeface="+mn-ea"/>
                <a:sym typeface="+mn-ea"/>
              </a:rPr>
              <a:t>预习</a:t>
            </a:r>
            <a:r>
              <a:rPr lang="zh-CN" altLang="en-US" sz="3200" b="1" dirty="0">
                <a:latin typeface="+mn-lt"/>
                <a:ea typeface="+mn-ea"/>
                <a:sym typeface="+mn-ea"/>
              </a:rPr>
              <a:t>，</a:t>
            </a:r>
            <a:r>
              <a:rPr lang="zh-CN" altLang="en-US" sz="3200" b="1" kern="100" dirty="0">
                <a:ea typeface="+mn-ea"/>
                <a:cs typeface="Times New Roman" panose="02020603050405020304" pitchFamily="18" charset="0"/>
                <a:sym typeface="+mn-ea"/>
              </a:rPr>
              <a:t>实验课所有相关</a:t>
            </a:r>
            <a:r>
              <a:rPr lang="zh-CN" altLang="en-US" sz="3200" b="1" kern="10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  <a:sym typeface="+mn-ea"/>
              </a:rPr>
              <a:t>资料</a:t>
            </a:r>
            <a:r>
              <a:rPr lang="zh-CN" altLang="en-US" sz="3200" b="1" kern="100" dirty="0">
                <a:ea typeface="+mn-ea"/>
                <a:cs typeface="Times New Roman" panose="02020603050405020304" pitchFamily="18" charset="0"/>
                <a:sym typeface="+mn-ea"/>
              </a:rPr>
              <a:t>（课件、代码、实验报告模板等）已拷入实验室计算机，请大家自行拷贝</a:t>
            </a:r>
            <a:r>
              <a:rPr lang="zh-CN" altLang="zh-CN" sz="3200" b="1" kern="100" dirty="0">
                <a:ea typeface="+mn-ea"/>
                <a:cs typeface="Times New Roman" panose="02020603050405020304" pitchFamily="18" charset="0"/>
                <a:sym typeface="+mn-ea"/>
              </a:rPr>
              <a:t>；</a:t>
            </a:r>
            <a:endParaRPr lang="en-US" altLang="zh-CN" sz="3200" b="1" kern="100" dirty="0">
              <a:ea typeface="+mn-ea"/>
              <a:cs typeface="Times New Roman" panose="02020603050405020304" pitchFamily="18" charset="0"/>
              <a:sym typeface="+mn-ea"/>
            </a:endParaRPr>
          </a:p>
          <a:p>
            <a:pPr marL="457200" indent="-457200" algn="just" eaLnBrk="1" fontAlgn="auto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Font typeface="+mj-lt"/>
              <a:buAutoNum type="arabicPeriod" startAt="6"/>
              <a:defRPr/>
            </a:pPr>
            <a:r>
              <a:rPr lang="zh-CN" altLang="en-US" sz="3200" b="1" dirty="0">
                <a:latin typeface="+mn-lt"/>
                <a:ea typeface="+mn-ea"/>
                <a:sym typeface="+mn-ea"/>
              </a:rPr>
              <a:t>期末考试之前会在群里公布</a:t>
            </a:r>
            <a:r>
              <a:rPr lang="zh-CN" altLang="en-US" sz="3200" b="1" dirty="0">
                <a:solidFill>
                  <a:srgbClr val="FF0000"/>
                </a:solidFill>
                <a:latin typeface="+mn-lt"/>
                <a:ea typeface="+mn-ea"/>
                <a:sym typeface="+mn-ea"/>
              </a:rPr>
              <a:t>无实验成绩</a:t>
            </a:r>
            <a:r>
              <a:rPr lang="zh-CN" altLang="en-US" sz="3200" b="1" dirty="0">
                <a:latin typeface="+mn-lt"/>
                <a:ea typeface="+mn-ea"/>
                <a:sym typeface="+mn-ea"/>
              </a:rPr>
              <a:t>的学生名单，请大家注意确认，期末考试之后不再接受查询。</a:t>
            </a:r>
            <a:endParaRPr lang="en-US" altLang="zh-CN" sz="3200" b="1" dirty="0">
              <a:latin typeface="+mn-lt"/>
              <a:ea typeface="+mn-ea"/>
              <a:sym typeface="+mn-ea"/>
            </a:endParaRPr>
          </a:p>
          <a:p>
            <a:pPr marL="342900" indent="-342900" algn="ctr" eaLnBrk="1" fontAlgn="auto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zh-CN" altLang="zh-CN" sz="3200" b="1" kern="100" dirty="0">
                <a:solidFill>
                  <a:srgbClr val="00B050"/>
                </a:solidFill>
                <a:ea typeface="+mn-ea"/>
                <a:cs typeface="Times New Roman" panose="02020603050405020304" pitchFamily="18" charset="0"/>
                <a:sym typeface="+mn-ea"/>
              </a:rPr>
              <a:t>食物</a:t>
            </a:r>
            <a:r>
              <a:rPr lang="zh-CN" altLang="en-US" sz="3200" b="1" kern="100" dirty="0">
                <a:solidFill>
                  <a:srgbClr val="00B050"/>
                </a:solidFill>
                <a:ea typeface="+mn-ea"/>
                <a:cs typeface="Times New Roman" panose="02020603050405020304" pitchFamily="18" charset="0"/>
                <a:sym typeface="+mn-ea"/>
              </a:rPr>
              <a:t>严禁带</a:t>
            </a:r>
            <a:r>
              <a:rPr lang="zh-CN" altLang="zh-CN" sz="3200" b="1" kern="100" dirty="0">
                <a:solidFill>
                  <a:srgbClr val="00B050"/>
                </a:solidFill>
                <a:ea typeface="+mn-ea"/>
                <a:cs typeface="Times New Roman" panose="02020603050405020304" pitchFamily="18" charset="0"/>
                <a:sym typeface="+mn-ea"/>
              </a:rPr>
              <a:t>入实验室，</a:t>
            </a:r>
            <a:r>
              <a:rPr lang="zh-CN" altLang="en-US" sz="3200" b="1" kern="100" dirty="0">
                <a:solidFill>
                  <a:srgbClr val="00B050"/>
                </a:solidFill>
                <a:ea typeface="+mn-ea"/>
                <a:cs typeface="Times New Roman" panose="02020603050405020304" pitchFamily="18" charset="0"/>
                <a:sym typeface="+mn-ea"/>
              </a:rPr>
              <a:t>垃圾请自行带出实验室，卫生也有分值</a:t>
            </a:r>
            <a:endParaRPr lang="en-US" altLang="zh-CN" sz="3200" b="1" kern="100" dirty="0">
              <a:solidFill>
                <a:srgbClr val="00B050"/>
              </a:solidFill>
              <a:ea typeface="+mn-ea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文本框 14">
            <a:extLst>
              <a:ext uri="{FF2B5EF4-FFF2-40B4-BE49-F238E27FC236}">
                <a16:creationId xmlns:a16="http://schemas.microsoft.com/office/drawing/2014/main" id="{B46C8B80-8930-4B46-B11F-10AEFF1C36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2950" y="34925"/>
            <a:ext cx="8348663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4800" b="1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 验 报 告 注 意 事 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BDC3EB4-645C-4572-8977-C34D12E51ABE}"/>
              </a:ext>
            </a:extLst>
          </p:cNvPr>
          <p:cNvSpPr/>
          <p:nvPr/>
        </p:nvSpPr>
        <p:spPr>
          <a:xfrm>
            <a:off x="152400" y="1093020"/>
            <a:ext cx="11887200" cy="5421933"/>
          </a:xfrm>
          <a:prstGeom prst="rect">
            <a:avLst/>
          </a:prstGeom>
        </p:spPr>
        <p:txBody>
          <a:bodyPr>
            <a:spAutoFit/>
          </a:bodyPr>
          <a:lstStyle/>
          <a:p>
            <a:pPr marL="514350" indent="-514350" algn="just" eaLnBrk="1" fontAlgn="auto" hangingPunct="1">
              <a:lnSpc>
                <a:spcPts val="45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zh-CN" altLang="en-US" sz="3200" b="1" kern="100" dirty="0">
                <a:ea typeface="+mn-ea"/>
                <a:cs typeface="Times New Roman" panose="02020603050405020304" pitchFamily="18" charset="0"/>
                <a:sym typeface="+mn-ea"/>
              </a:rPr>
              <a:t>必须使用发布的</a:t>
            </a:r>
            <a:r>
              <a:rPr lang="zh-CN" altLang="en-US" sz="3200" b="1" kern="10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  <a:sym typeface="+mn-ea"/>
              </a:rPr>
              <a:t>标准实验报告模板</a:t>
            </a:r>
            <a:r>
              <a:rPr lang="zh-CN" altLang="en-US" sz="3200" b="1" kern="100" dirty="0">
                <a:ea typeface="+mn-ea"/>
                <a:cs typeface="Times New Roman" panose="02020603050405020304" pitchFamily="18" charset="0"/>
                <a:sym typeface="+mn-ea"/>
              </a:rPr>
              <a:t>；</a:t>
            </a:r>
            <a:endParaRPr lang="en-US" altLang="zh-CN" sz="3200" b="1" kern="100" dirty="0">
              <a:ea typeface="+mn-ea"/>
              <a:cs typeface="Times New Roman" panose="02020603050405020304" pitchFamily="18" charset="0"/>
              <a:sym typeface="+mn-ea"/>
            </a:endParaRPr>
          </a:p>
          <a:p>
            <a:pPr marL="514350" indent="-514350" algn="just" eaLnBrk="1" fontAlgn="auto" hangingPunct="1">
              <a:lnSpc>
                <a:spcPts val="45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zh-CN" altLang="en-US" sz="3200" b="1" kern="100" dirty="0">
                <a:cs typeface="Times New Roman" panose="02020603050405020304" pitchFamily="18" charset="0"/>
                <a:sym typeface="+mn-ea"/>
              </a:rPr>
              <a:t>报告命名格式必须统一为</a:t>
            </a:r>
            <a:r>
              <a:rPr lang="zh-CN" altLang="en-US" sz="3200" b="1" kern="100" dirty="0">
                <a:solidFill>
                  <a:srgbClr val="00B050"/>
                </a:solidFill>
                <a:cs typeface="Times New Roman" panose="02020603050405020304" pitchFamily="18" charset="0"/>
                <a:sym typeface="+mn-ea"/>
              </a:rPr>
              <a:t>实验</a:t>
            </a:r>
            <a:r>
              <a:rPr lang="zh-CN" altLang="en-US" sz="3200" b="1" dirty="0">
                <a:solidFill>
                  <a:srgbClr val="00B050"/>
                </a:solidFill>
                <a:sym typeface="+mn-ea"/>
              </a:rPr>
              <a:t>报告号</a:t>
            </a:r>
            <a:r>
              <a:rPr lang="en-US" altLang="zh-CN" sz="3200" b="1" dirty="0">
                <a:solidFill>
                  <a:srgbClr val="00B050"/>
                </a:solidFill>
                <a:sym typeface="Wingdings" panose="05000000000000000000" pitchFamily="2" charset="2"/>
              </a:rPr>
              <a:t>_</a:t>
            </a:r>
            <a:r>
              <a:rPr lang="zh-CN" altLang="en-US" sz="3200" b="1" dirty="0">
                <a:solidFill>
                  <a:srgbClr val="00B050"/>
                </a:solidFill>
                <a:sym typeface="Wingdings" panose="05000000000000000000" pitchFamily="2" charset="2"/>
              </a:rPr>
              <a:t>学号</a:t>
            </a:r>
            <a:r>
              <a:rPr lang="en-US" altLang="zh-CN" sz="3200" b="1" dirty="0">
                <a:solidFill>
                  <a:srgbClr val="00B050"/>
                </a:solidFill>
                <a:sym typeface="Wingdings" panose="05000000000000000000" pitchFamily="2" charset="2"/>
              </a:rPr>
              <a:t>_</a:t>
            </a:r>
            <a:r>
              <a:rPr lang="zh-CN" altLang="en-US" sz="3200" b="1" dirty="0">
                <a:solidFill>
                  <a:srgbClr val="00B050"/>
                </a:solidFill>
                <a:sym typeface="Wingdings" panose="05000000000000000000" pitchFamily="2" charset="2"/>
              </a:rPr>
              <a:t>姓名</a:t>
            </a:r>
            <a:r>
              <a:rPr lang="en-US" altLang="zh-CN" sz="3200" b="1" dirty="0">
                <a:solidFill>
                  <a:srgbClr val="00B050"/>
                </a:solidFill>
                <a:sym typeface="Wingdings" panose="05000000000000000000" pitchFamily="2" charset="2"/>
              </a:rPr>
              <a:t>.pdf</a:t>
            </a:r>
            <a:r>
              <a:rPr lang="zh-CN" altLang="en-US" sz="3200" b="1" kern="100" dirty="0">
                <a:cs typeface="Times New Roman" panose="02020603050405020304" pitchFamily="18" charset="0"/>
                <a:sym typeface="Wingdings" panose="05000000000000000000" pitchFamily="2" charset="2"/>
              </a:rPr>
              <a:t>（如第</a:t>
            </a:r>
            <a:r>
              <a:rPr lang="en-US" altLang="zh-CN" sz="3200" b="1" kern="100" dirty="0">
                <a:cs typeface="Times New Roman" panose="02020603050405020304" pitchFamily="18" charset="0"/>
                <a:sym typeface="Wingdings" panose="05000000000000000000" pitchFamily="2" charset="2"/>
              </a:rPr>
              <a:t>2</a:t>
            </a:r>
            <a:r>
              <a:rPr lang="zh-CN" altLang="en-US" sz="3200" b="1" kern="100" dirty="0">
                <a:cs typeface="Times New Roman" panose="02020603050405020304" pitchFamily="18" charset="0"/>
                <a:sym typeface="Wingdings" panose="05000000000000000000" pitchFamily="2" charset="2"/>
              </a:rPr>
              <a:t>次实验报告应命名为</a:t>
            </a:r>
            <a:r>
              <a:rPr lang="en-US" altLang="zh-CN" sz="3200" b="1" kern="100" dirty="0">
                <a:cs typeface="Times New Roman" panose="02020603050405020304" pitchFamily="18" charset="0"/>
                <a:sym typeface="Wingdings" panose="05000000000000000000" pitchFamily="2" charset="2"/>
              </a:rPr>
              <a:t>lab2_2018xx_xxx.pdf</a:t>
            </a:r>
            <a:r>
              <a:rPr lang="zh-CN" altLang="en-US" sz="3200" b="1" kern="100" dirty="0">
                <a:cs typeface="Times New Roman" panose="02020603050405020304" pitchFamily="18" charset="0"/>
                <a:sym typeface="Wingdings" panose="05000000000000000000" pitchFamily="2" charset="2"/>
              </a:rPr>
              <a:t>），否则助教将</a:t>
            </a:r>
            <a:r>
              <a:rPr lang="zh-CN" altLang="en-US" sz="3200" b="1" kern="100" dirty="0">
                <a:solidFill>
                  <a:srgbClr val="FF0000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不予保存和计分</a:t>
            </a:r>
            <a:r>
              <a:rPr lang="zh-CN" altLang="en-US" sz="3200" b="1" kern="100" dirty="0">
                <a:cs typeface="Times New Roman" panose="02020603050405020304" pitchFamily="18" charset="0"/>
                <a:sym typeface="+mn-ea"/>
              </a:rPr>
              <a:t>；</a:t>
            </a:r>
            <a:endParaRPr lang="en-US" altLang="zh-CN" sz="3200" b="1" kern="100" dirty="0">
              <a:cs typeface="Times New Roman" panose="02020603050405020304" pitchFamily="18" charset="0"/>
              <a:sym typeface="+mn-ea"/>
            </a:endParaRPr>
          </a:p>
          <a:p>
            <a:pPr marL="514350" indent="-514350" algn="just" eaLnBrk="1" fontAlgn="auto" hangingPunct="1">
              <a:lnSpc>
                <a:spcPts val="45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zh-CN" altLang="en-US" sz="3200" b="1" dirty="0">
                <a:sym typeface="+mn-ea"/>
              </a:rPr>
              <a:t>报告只需要提交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电子档，</a:t>
            </a:r>
            <a:r>
              <a:rPr lang="zh-CN" altLang="en-US" sz="3200" b="1" kern="100" dirty="0">
                <a:cs typeface="Times New Roman" panose="02020603050405020304" pitchFamily="18" charset="0"/>
                <a:sym typeface="+mn-ea"/>
              </a:rPr>
              <a:t>同理论课作业提交方式；</a:t>
            </a:r>
            <a:endParaRPr lang="en-US" altLang="zh-CN" sz="3200" b="1" kern="100" dirty="0">
              <a:latin typeface="+mn-lt"/>
              <a:ea typeface="+mn-ea"/>
              <a:cs typeface="Times New Roman" panose="02020603050405020304" pitchFamily="18" charset="0"/>
              <a:sym typeface="+mn-ea"/>
            </a:endParaRPr>
          </a:p>
          <a:p>
            <a:pPr marL="514350" indent="-514350" algn="just" eaLnBrk="1" fontAlgn="auto" hangingPunct="1">
              <a:lnSpc>
                <a:spcPts val="45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zh-CN" altLang="en-US" sz="3200" b="1" kern="100" dirty="0">
                <a:ea typeface="+mn-ea"/>
                <a:cs typeface="Times New Roman" panose="02020603050405020304" pitchFamily="18" charset="0"/>
                <a:sym typeface="+mn-ea"/>
              </a:rPr>
              <a:t>实验共需要提交两个报告</a:t>
            </a:r>
            <a:r>
              <a:rPr lang="zh-CN" altLang="en-US" sz="3200" b="1" kern="100" dirty="0">
                <a:cs typeface="Times New Roman" panose="02020603050405020304" pitchFamily="18" charset="0"/>
                <a:sym typeface="+mn-ea"/>
              </a:rPr>
              <a:t>，</a:t>
            </a:r>
            <a:r>
              <a:rPr lang="zh-CN" altLang="en-US" sz="3200" b="1" kern="1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逾期不计分</a:t>
            </a:r>
            <a:endParaRPr lang="en-US" altLang="zh-CN" sz="3200" b="1" kern="100" dirty="0">
              <a:solidFill>
                <a:srgbClr val="FF0000"/>
              </a:solidFill>
              <a:ea typeface="+mn-ea"/>
              <a:cs typeface="Times New Roman" panose="02020603050405020304" pitchFamily="18" charset="0"/>
              <a:sym typeface="+mn-ea"/>
            </a:endParaRPr>
          </a:p>
          <a:p>
            <a:pPr algn="just" eaLnBrk="1" fontAlgn="auto" hangingPunct="1">
              <a:lnSpc>
                <a:spcPts val="45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zh-CN" altLang="en-US" sz="2800" b="1" kern="100" dirty="0">
                <a:cs typeface="Times New Roman" panose="02020603050405020304" pitchFamily="18" charset="0"/>
                <a:sym typeface="Wingdings" panose="05000000000000000000" pitchFamily="2" charset="2"/>
              </a:rPr>
              <a:t>      实验报告</a:t>
            </a:r>
            <a:r>
              <a:rPr lang="en-US" altLang="zh-CN" sz="2800" b="1" kern="100" dirty="0">
                <a:cs typeface="Times New Roman" panose="02020603050405020304" pitchFamily="18" charset="0"/>
                <a:sym typeface="Wingdings" panose="05000000000000000000" pitchFamily="2" charset="2"/>
              </a:rPr>
              <a:t>1</a:t>
            </a:r>
            <a:r>
              <a:rPr lang="zh-CN" altLang="en-US" sz="2800" b="1" kern="100" dirty="0">
                <a:cs typeface="Times New Roman" panose="02020603050405020304" pitchFamily="18" charset="0"/>
                <a:sym typeface="Wingdings" panose="05000000000000000000" pitchFamily="2" charset="2"/>
              </a:rPr>
              <a:t>：</a:t>
            </a:r>
            <a:r>
              <a:rPr lang="en-US" altLang="zh-CN" sz="2800" b="1" kern="100" dirty="0">
                <a:cs typeface="Times New Roman" panose="02020603050405020304" pitchFamily="18" charset="0"/>
                <a:sym typeface="+mn-ea"/>
              </a:rPr>
              <a:t>Lab1</a:t>
            </a:r>
            <a:r>
              <a:rPr lang="zh-CN" altLang="en-US" sz="2800" b="1" kern="100" dirty="0">
                <a:cs typeface="Times New Roman" panose="02020603050405020304" pitchFamily="18" charset="0"/>
                <a:sym typeface="+mn-ea"/>
              </a:rPr>
              <a:t>的基础实验，在</a:t>
            </a:r>
            <a:r>
              <a:rPr lang="en-US" altLang="zh-CN" sz="2800" b="1" kern="1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Lab2</a:t>
            </a:r>
            <a:r>
              <a:rPr lang="zh-CN" altLang="en-US" sz="2800" b="1" kern="1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前</a:t>
            </a:r>
            <a:r>
              <a:rPr lang="zh-CN" altLang="en-US" sz="2800" b="1" kern="100" dirty="0">
                <a:cs typeface="Times New Roman" panose="02020603050405020304" pitchFamily="18" charset="0"/>
                <a:sym typeface="+mn-ea"/>
              </a:rPr>
              <a:t>提交到助教邮箱</a:t>
            </a:r>
            <a:endParaRPr lang="en-US" altLang="zh-CN" sz="2800" b="1" kern="100" dirty="0">
              <a:cs typeface="Times New Roman" panose="02020603050405020304" pitchFamily="18" charset="0"/>
              <a:sym typeface="+mn-ea"/>
            </a:endParaRPr>
          </a:p>
          <a:p>
            <a:pPr algn="just" eaLnBrk="1" fontAlgn="auto" hangingPunct="1">
              <a:lnSpc>
                <a:spcPts val="45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zh-CN" altLang="en-US" sz="2800" b="1" kern="100" dirty="0">
                <a:cs typeface="Times New Roman" panose="02020603050405020304" pitchFamily="18" charset="0"/>
                <a:sym typeface="Wingdings" panose="05000000000000000000" pitchFamily="2" charset="2"/>
              </a:rPr>
              <a:t>      实验报告</a:t>
            </a:r>
            <a:r>
              <a:rPr lang="en-US" altLang="zh-CN" sz="2800" b="1" kern="100" dirty="0">
                <a:cs typeface="Times New Roman" panose="02020603050405020304" pitchFamily="18" charset="0"/>
                <a:sym typeface="Wingdings" panose="05000000000000000000" pitchFamily="2" charset="2"/>
              </a:rPr>
              <a:t>2</a:t>
            </a:r>
            <a:r>
              <a:rPr lang="zh-CN" altLang="en-US" sz="2800" b="1" kern="100" dirty="0">
                <a:cs typeface="Times New Roman" panose="02020603050405020304" pitchFamily="18" charset="0"/>
                <a:sym typeface="Wingdings" panose="05000000000000000000" pitchFamily="2" charset="2"/>
              </a:rPr>
              <a:t>：</a:t>
            </a:r>
            <a:r>
              <a:rPr lang="zh-CN" altLang="en-US" sz="2800" b="1" kern="100" dirty="0">
                <a:cs typeface="Times New Roman" panose="02020603050405020304" pitchFamily="18" charset="0"/>
                <a:sym typeface="+mn-ea"/>
              </a:rPr>
              <a:t>涵盖</a:t>
            </a:r>
            <a:r>
              <a:rPr lang="en-US" altLang="zh-CN" sz="2800" b="1" kern="100" dirty="0">
                <a:cs typeface="Times New Roman" panose="02020603050405020304" pitchFamily="18" charset="0"/>
                <a:sym typeface="+mn-ea"/>
              </a:rPr>
              <a:t>Lab2-5</a:t>
            </a:r>
            <a:r>
              <a:rPr lang="zh-CN" altLang="en-US" sz="2800" b="1" kern="100" dirty="0">
                <a:cs typeface="Times New Roman" panose="02020603050405020304" pitchFamily="18" charset="0"/>
                <a:sym typeface="+mn-ea"/>
              </a:rPr>
              <a:t>的</a:t>
            </a:r>
            <a:r>
              <a:rPr lang="en-US" altLang="zh-CN" sz="2800" b="1" kern="100" dirty="0">
                <a:cs typeface="Times New Roman" panose="02020603050405020304" pitchFamily="18" charset="0"/>
                <a:sym typeface="+mn-ea"/>
              </a:rPr>
              <a:t>CPU</a:t>
            </a:r>
            <a:r>
              <a:rPr lang="zh-CN" altLang="en-US" sz="2800" b="1" kern="100" dirty="0">
                <a:cs typeface="Times New Roman" panose="02020603050405020304" pitchFamily="18" charset="0"/>
                <a:sym typeface="+mn-ea"/>
              </a:rPr>
              <a:t>实验，需在</a:t>
            </a:r>
            <a:r>
              <a:rPr lang="zh-CN" altLang="en-US" sz="2800" b="1" kern="1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实验后一周内</a:t>
            </a:r>
            <a:r>
              <a:rPr lang="zh-CN" altLang="en-US" sz="2800" b="1" kern="100" dirty="0">
                <a:cs typeface="Times New Roman" panose="02020603050405020304" pitchFamily="18" charset="0"/>
                <a:sym typeface="+mn-ea"/>
              </a:rPr>
              <a:t>交到助教邮箱</a:t>
            </a:r>
            <a:endParaRPr lang="en-US" altLang="zh-CN" sz="2800" b="1" kern="100" dirty="0">
              <a:ea typeface="+mn-ea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框 14">
            <a:extLst>
              <a:ext uri="{FF2B5EF4-FFF2-40B4-BE49-F238E27FC236}">
                <a16:creationId xmlns:a16="http://schemas.microsoft.com/office/drawing/2014/main" id="{36638123-5197-4229-A351-77622BAA27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9488" y="111125"/>
            <a:ext cx="833755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4800" b="1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 验 内 容 介 绍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4822D2D-7864-4F44-941C-37105BE52F49}"/>
              </a:ext>
            </a:extLst>
          </p:cNvPr>
          <p:cNvSpPr/>
          <p:nvPr/>
        </p:nvSpPr>
        <p:spPr>
          <a:xfrm>
            <a:off x="812800" y="1047750"/>
            <a:ext cx="10837333" cy="58682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600"/>
              </a:spcBef>
              <a:spcAft>
                <a:spcPts val="0"/>
              </a:spcAft>
              <a:defRPr/>
            </a:pPr>
            <a:r>
              <a:rPr lang="en-US" altLang="zh-CN" sz="2800" b="1" kern="10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  <a:sym typeface="+mn-ea"/>
              </a:rPr>
              <a:t>Lab1  EDA Fundamental</a:t>
            </a:r>
          </a:p>
          <a:p>
            <a:pPr marL="1166813" lvl="1" indent="-623888" eaLnBrk="1" hangingPunct="1">
              <a:spcBef>
                <a:spcPts val="400"/>
              </a:spcBef>
              <a:buFont typeface="Arial" charset="0"/>
              <a:buChar char="–"/>
              <a:defRPr/>
            </a:pPr>
            <a:r>
              <a:rPr lang="en-US" altLang="zh-CN" sz="24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Familiar the development environment</a:t>
            </a:r>
          </a:p>
          <a:p>
            <a:pPr marL="1166813" lvl="1" indent="-623888" eaLnBrk="1" hangingPunct="1">
              <a:spcBef>
                <a:spcPts val="400"/>
              </a:spcBef>
              <a:buFont typeface="Arial" charset="0"/>
              <a:buChar char="–"/>
              <a:defRPr/>
            </a:pPr>
            <a:r>
              <a:rPr lang="en-US" altLang="zh-CN" sz="24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Coding and synthesis</a:t>
            </a:r>
          </a:p>
          <a:p>
            <a:pPr marL="1166813" lvl="1" indent="-623888" eaLnBrk="1" hangingPunct="1">
              <a:spcBef>
                <a:spcPts val="400"/>
              </a:spcBef>
              <a:buFont typeface="Arial" charset="0"/>
              <a:buChar char="–"/>
              <a:defRPr/>
            </a:pPr>
            <a:r>
              <a:rPr lang="en-US" altLang="zh-CN" sz="24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Compose a testbench and do verification</a:t>
            </a:r>
          </a:p>
          <a:p>
            <a:pPr marL="1166813" lvl="1" indent="-623888" eaLnBrk="1" hangingPunct="1">
              <a:spcBef>
                <a:spcPts val="400"/>
              </a:spcBef>
              <a:buFont typeface="Arial" charset="0"/>
              <a:buChar char="–"/>
              <a:defRPr/>
            </a:pPr>
            <a:r>
              <a:rPr lang="en-US" altLang="zh-CN" sz="24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Download the bitstream to FPGA chip and get a real hardware</a:t>
            </a:r>
          </a:p>
          <a:p>
            <a:pPr eaLnBrk="1" fontAlgn="auto" hangingPunct="1">
              <a:spcBef>
                <a:spcPts val="600"/>
              </a:spcBef>
              <a:spcAft>
                <a:spcPts val="0"/>
              </a:spcAft>
              <a:defRPr/>
            </a:pPr>
            <a:r>
              <a:rPr lang="en-US" altLang="zh-CN" sz="2800" b="1" kern="10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  <a:sym typeface="+mn-ea"/>
              </a:rPr>
              <a:t>Lab2  Datapath Design </a:t>
            </a:r>
          </a:p>
          <a:p>
            <a:pPr marL="1166813" lvl="1" indent="-623888" eaLnBrk="1" hangingPunct="1">
              <a:spcBef>
                <a:spcPts val="400"/>
              </a:spcBef>
              <a:buFont typeface="Arial" charset="0"/>
              <a:buChar char="–"/>
              <a:defRPr/>
            </a:pPr>
            <a:r>
              <a:rPr lang="en-US" altLang="zh-CN" sz="24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Compose a specification for basic CPU: instruction set, etc.</a:t>
            </a:r>
            <a:endParaRPr lang="zh-CN" altLang="zh-CN" sz="24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  <a:p>
            <a:pPr marL="1166813" lvl="1" indent="-623888" eaLnBrk="1" hangingPunct="1">
              <a:spcBef>
                <a:spcPts val="400"/>
              </a:spcBef>
              <a:buFont typeface="Arial" charset="0"/>
              <a:buChar char="–"/>
              <a:defRPr/>
            </a:pPr>
            <a:r>
              <a:rPr lang="en-US" altLang="zh-CN" sz="24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Design ALU component</a:t>
            </a:r>
            <a:endParaRPr lang="zh-CN" altLang="zh-CN" sz="24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  <a:p>
            <a:pPr marL="1166813" lvl="1" indent="-623888" eaLnBrk="1" hangingPunct="1">
              <a:spcBef>
                <a:spcPts val="400"/>
              </a:spcBef>
              <a:buFont typeface="Arial" charset="0"/>
              <a:buChar char="–"/>
              <a:defRPr/>
            </a:pPr>
            <a:r>
              <a:rPr lang="en-US" altLang="zh-CN" sz="24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Coding, synthesis and do verification for </a:t>
            </a:r>
            <a:r>
              <a:rPr lang="en-US" altLang="zh-CN" sz="2400" dirty="0" err="1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datapath</a:t>
            </a:r>
            <a:r>
              <a:rPr lang="en-US" altLang="zh-CN" sz="24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 component</a:t>
            </a:r>
            <a:endParaRPr lang="zh-CN" altLang="zh-CN" sz="24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  <a:p>
            <a:pPr eaLnBrk="1" fontAlgn="auto" hangingPunct="1">
              <a:spcBef>
                <a:spcPts val="600"/>
              </a:spcBef>
              <a:spcAft>
                <a:spcPts val="0"/>
              </a:spcAft>
              <a:defRPr/>
            </a:pPr>
            <a:r>
              <a:rPr lang="en-US" altLang="zh-CN" sz="2800" b="1" kern="1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Lab3  Controller Design</a:t>
            </a:r>
          </a:p>
          <a:p>
            <a:pPr marL="1166813" lvl="1" indent="-623888" eaLnBrk="1" hangingPunct="1">
              <a:spcBef>
                <a:spcPts val="400"/>
              </a:spcBef>
              <a:buFont typeface="Arial" charset="0"/>
              <a:buChar char="–"/>
              <a:defRPr/>
            </a:pPr>
            <a:r>
              <a:rPr lang="en-US" altLang="zh-CN" sz="24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Understand the STG for control unit </a:t>
            </a:r>
            <a:endParaRPr lang="zh-CN" altLang="zh-CN" sz="24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  <a:p>
            <a:pPr marL="1166813" lvl="1" indent="-623888" eaLnBrk="1" hangingPunct="1">
              <a:spcBef>
                <a:spcPts val="400"/>
              </a:spcBef>
              <a:buFont typeface="Arial" charset="0"/>
              <a:buChar char="–"/>
              <a:defRPr/>
            </a:pPr>
            <a:r>
              <a:rPr lang="en-US" altLang="zh-CN" sz="24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Design </a:t>
            </a:r>
            <a:r>
              <a:rPr lang="en-US" altLang="zh-CN" sz="2400" dirty="0" err="1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state_transition</a:t>
            </a:r>
            <a:r>
              <a:rPr lang="en-US" altLang="zh-CN" sz="24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 component</a:t>
            </a:r>
            <a:endParaRPr lang="zh-CN" altLang="zh-CN" sz="24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  <a:p>
            <a:pPr marL="1166813" lvl="1" indent="-623888" eaLnBrk="1" hangingPunct="1">
              <a:spcBef>
                <a:spcPts val="400"/>
              </a:spcBef>
              <a:buFont typeface="Arial" charset="0"/>
              <a:buChar char="–"/>
              <a:defRPr/>
            </a:pPr>
            <a:r>
              <a:rPr lang="en-US" altLang="zh-CN" sz="24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Coding, synthesis and do verification for controller component</a:t>
            </a:r>
            <a:r>
              <a:rPr lang="en-US" altLang="zh-CN" sz="24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  <a:sym typeface="+mn-ea"/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文本框 14">
            <a:extLst>
              <a:ext uri="{FF2B5EF4-FFF2-40B4-BE49-F238E27FC236}">
                <a16:creationId xmlns:a16="http://schemas.microsoft.com/office/drawing/2014/main" id="{A1B1843E-BC5F-4E07-9CCE-2C24690000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9488" y="111125"/>
            <a:ext cx="833755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4800" b="1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 验 内 容 介 绍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4822D2D-7864-4F44-941C-37105BE52F49}"/>
              </a:ext>
            </a:extLst>
          </p:cNvPr>
          <p:cNvSpPr/>
          <p:nvPr/>
        </p:nvSpPr>
        <p:spPr>
          <a:xfrm>
            <a:off x="355601" y="1087440"/>
            <a:ext cx="11436350" cy="55839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defRPr/>
            </a:pPr>
            <a:r>
              <a:rPr lang="en-US" altLang="zh-CN" sz="2800" b="1" kern="10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  <a:sym typeface="+mn-ea"/>
              </a:rPr>
              <a:t>Lab4  CPU Integration</a:t>
            </a:r>
          </a:p>
          <a:p>
            <a:pPr marL="1166813" lvl="1" indent="-623888" eaLnBrk="1" hangingPunct="1">
              <a:lnSpc>
                <a:spcPct val="150000"/>
              </a:lnSpc>
              <a:spcBef>
                <a:spcPts val="400"/>
              </a:spcBef>
              <a:buFont typeface="Arial" charset="0"/>
              <a:buChar char="–"/>
              <a:defRPr/>
            </a:pPr>
            <a:r>
              <a:rPr lang="en-US" altLang="zh-CN" sz="24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  <a:sym typeface="+mn-ea"/>
              </a:rPr>
              <a:t>Combine the </a:t>
            </a:r>
            <a:r>
              <a:rPr lang="en-US" altLang="zh-CN" sz="2400" dirty="0" err="1">
                <a:latin typeface="Arial Unicode MS" pitchFamily="34" charset="-122"/>
                <a:ea typeface="Arial Unicode MS" pitchFamily="34" charset="-122"/>
                <a:cs typeface="Arial Unicode MS" pitchFamily="34" charset="-122"/>
                <a:sym typeface="+mn-ea"/>
              </a:rPr>
              <a:t>datapath</a:t>
            </a:r>
            <a:r>
              <a:rPr lang="en-US" altLang="zh-CN" sz="24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  <a:sym typeface="+mn-ea"/>
              </a:rPr>
              <a:t> and the controller</a:t>
            </a:r>
            <a:endParaRPr lang="zh-CN" altLang="zh-CN" sz="24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  <a:p>
            <a:pPr marL="1166813" lvl="1" indent="-623888" eaLnBrk="1" hangingPunct="1">
              <a:lnSpc>
                <a:spcPct val="150000"/>
              </a:lnSpc>
              <a:spcBef>
                <a:spcPts val="400"/>
              </a:spcBef>
              <a:buFont typeface="Arial" charset="0"/>
              <a:buChar char="–"/>
              <a:defRPr/>
            </a:pPr>
            <a:r>
              <a:rPr lang="en-US" altLang="zh-CN" sz="24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Coding, synthesis and </a:t>
            </a:r>
            <a:r>
              <a:rPr lang="en-US" altLang="zh-CN" sz="24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  <a:sym typeface="+mn-ea"/>
              </a:rPr>
              <a:t>do simulation for whole CPU</a:t>
            </a:r>
          </a:p>
          <a:p>
            <a:pPr eaLnBrk="1" fontAlgn="auto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defRPr/>
            </a:pPr>
            <a:r>
              <a:rPr lang="en-US" altLang="zh-CN" sz="2800" b="1" kern="1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Lab5  CPU Verification and Design Improvement</a:t>
            </a:r>
          </a:p>
          <a:p>
            <a:pPr marL="1166813" lvl="1" indent="-623888" eaLnBrk="1" hangingPunct="1">
              <a:lnSpc>
                <a:spcPct val="150000"/>
              </a:lnSpc>
              <a:spcBef>
                <a:spcPts val="400"/>
              </a:spcBef>
              <a:buFont typeface="Arial" charset="0"/>
              <a:buChar char="–"/>
              <a:defRPr/>
            </a:pPr>
            <a:r>
              <a:rPr lang="en-US" altLang="zh-CN" sz="24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Download the bitstream to FPGA &amp; </a:t>
            </a:r>
            <a:r>
              <a:rPr lang="en-US" altLang="zh-CN" sz="24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  <a:sym typeface="+mn-ea"/>
              </a:rPr>
              <a:t>do verification again</a:t>
            </a:r>
            <a:endParaRPr lang="en-US" altLang="zh-CN" sz="24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  <a:p>
            <a:pPr marL="1166813" lvl="1" indent="-623888" eaLnBrk="1" hangingPunct="1">
              <a:lnSpc>
                <a:spcPct val="150000"/>
              </a:lnSpc>
              <a:spcBef>
                <a:spcPts val="400"/>
              </a:spcBef>
              <a:buFont typeface="Arial" charset="0"/>
              <a:buChar char="–"/>
              <a:defRPr/>
            </a:pPr>
            <a:r>
              <a:rPr lang="en-US" altLang="zh-CN" sz="24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Try to add at least one simple instruction(left-shift, nor, </a:t>
            </a:r>
            <a:r>
              <a:rPr lang="en-US" altLang="zh-CN" sz="2400" dirty="0" err="1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etc</a:t>
            </a:r>
            <a:r>
              <a:rPr lang="en-US" altLang="zh-CN" sz="24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) </a:t>
            </a:r>
          </a:p>
          <a:p>
            <a:pPr marL="542925" lvl="1" eaLnBrk="1" hangingPunct="1">
              <a:lnSpc>
                <a:spcPct val="150000"/>
              </a:lnSpc>
              <a:spcBef>
                <a:spcPts val="400"/>
              </a:spcBef>
              <a:defRPr/>
            </a:pPr>
            <a:r>
              <a:rPr lang="en-US" altLang="zh-CN" sz="24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Or, implement accumulator function</a:t>
            </a:r>
            <a:r>
              <a:rPr lang="en-US" altLang="zh-CN" sz="24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  <a:sym typeface="+mn-ea"/>
              </a:rPr>
              <a:t>(add 1 to N)</a:t>
            </a:r>
          </a:p>
          <a:p>
            <a:pPr marL="542925" lvl="1" eaLnBrk="1" hangingPunct="1">
              <a:lnSpc>
                <a:spcPct val="150000"/>
              </a:lnSpc>
              <a:spcBef>
                <a:spcPts val="400"/>
              </a:spcBef>
              <a:defRPr/>
            </a:pPr>
            <a:r>
              <a:rPr lang="en-US" altLang="zh-CN" sz="24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  <a:sym typeface="+mn-ea"/>
              </a:rPr>
              <a:t>Or, </a:t>
            </a:r>
            <a:r>
              <a:rPr lang="en-US" altLang="zh-CN" sz="24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enhanced CPU feature by enlarge the number of registers, the word-length, and so on;</a:t>
            </a:r>
            <a:endParaRPr lang="zh-CN" altLang="zh-CN" sz="24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gradFill rotWithShape="0">
          <a:gsLst>
            <a:gs pos="0">
              <a:srgbClr val="0070C0"/>
            </a:gs>
            <a:gs pos="63293">
              <a:srgbClr val="C3D7EE"/>
            </a:gs>
            <a:gs pos="77000">
              <a:srgbClr val="9DC3E6"/>
            </a:gs>
            <a:gs pos="91000">
              <a:srgbClr val="DAE3F3"/>
            </a:gs>
            <a:gs pos="95000">
              <a:srgbClr val="C2DAEF"/>
            </a:gs>
            <a:gs pos="100000">
              <a:srgbClr val="CEE1F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9E3261-785B-4EC0-81FB-61C5B161D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274" y="2502630"/>
            <a:ext cx="10732168" cy="1776761"/>
          </a:xfrm>
          <a:effectLst>
            <a:glow rad="228600">
              <a:srgbClr val="FFFF00">
                <a:alpha val="40000"/>
              </a:srgbClr>
            </a:glow>
            <a:softEdge rad="127000"/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rtlCol="0"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zh-CN" sz="11500" b="1" dirty="0">
                <a:ln>
                  <a:gradFill>
                    <a:gsLst>
                      <a:gs pos="800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Thanks</a:t>
            </a:r>
            <a:r>
              <a:rPr lang="en-US" altLang="zh-CN" sz="11500" b="1" dirty="0">
                <a:ln>
                  <a:gradFill>
                    <a:gsLst>
                      <a:gs pos="800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</a:rPr>
              <a:t> </a:t>
            </a:r>
            <a:r>
              <a:rPr lang="zh-CN" altLang="en-US" sz="11500" b="1" dirty="0">
                <a:ln>
                  <a:gradFill>
                    <a:gsLst>
                      <a:gs pos="800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</a:rPr>
              <a:t>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441</TotalTime>
  <Words>534</Words>
  <Application>Microsoft Office PowerPoint</Application>
  <PresentationFormat>宽屏</PresentationFormat>
  <Paragraphs>54</Paragraphs>
  <Slides>8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 Unicode MS</vt:lpstr>
      <vt:lpstr>黑体</vt:lpstr>
      <vt:lpstr>Arial</vt:lpstr>
      <vt:lpstr>Calibri</vt:lpstr>
      <vt:lpstr>Calibri Light</vt:lpstr>
      <vt:lpstr>Times New Roman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Thanks 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Efficient FPGA Implementation for odd-even sort based KNN algorithm using OpenCL</dc:title>
  <dc:creator>hgx</dc:creator>
  <cp:lastModifiedBy>覃昊洁</cp:lastModifiedBy>
  <cp:revision>142</cp:revision>
  <dcterms:created xsi:type="dcterms:W3CDTF">2016-10-18T08:46:00Z</dcterms:created>
  <dcterms:modified xsi:type="dcterms:W3CDTF">2024-03-19T03:41:10Z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2052-10.1.0.7400</vt:lpwstr>
  </property>
</Properties>
</file>